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256" r:id="rId2"/>
    <p:sldId id="258" r:id="rId3"/>
    <p:sldId id="259" r:id="rId4"/>
    <p:sldId id="303" r:id="rId5"/>
    <p:sldId id="304" r:id="rId6"/>
    <p:sldId id="305" r:id="rId7"/>
    <p:sldId id="306" r:id="rId8"/>
    <p:sldId id="260" r:id="rId9"/>
    <p:sldId id="261" r:id="rId10"/>
    <p:sldId id="262" r:id="rId11"/>
    <p:sldId id="263" r:id="rId12"/>
    <p:sldId id="264" r:id="rId13"/>
    <p:sldId id="266" r:id="rId14"/>
    <p:sldId id="285" r:id="rId15"/>
    <p:sldId id="265" r:id="rId16"/>
    <p:sldId id="267" r:id="rId17"/>
    <p:sldId id="268" r:id="rId18"/>
    <p:sldId id="269" r:id="rId19"/>
    <p:sldId id="270" r:id="rId20"/>
    <p:sldId id="271" r:id="rId21"/>
    <p:sldId id="273" r:id="rId22"/>
    <p:sldId id="272" r:id="rId23"/>
    <p:sldId id="274" r:id="rId24"/>
    <p:sldId id="275" r:id="rId25"/>
    <p:sldId id="277" r:id="rId26"/>
    <p:sldId id="278" r:id="rId27"/>
    <p:sldId id="279" r:id="rId28"/>
    <p:sldId id="280" r:id="rId29"/>
    <p:sldId id="309" r:id="rId30"/>
    <p:sldId id="281" r:id="rId31"/>
    <p:sldId id="283" r:id="rId32"/>
    <p:sldId id="282" r:id="rId33"/>
    <p:sldId id="284" r:id="rId34"/>
    <p:sldId id="307" r:id="rId35"/>
    <p:sldId id="286" r:id="rId36"/>
    <p:sldId id="287" r:id="rId37"/>
    <p:sldId id="288" r:id="rId38"/>
    <p:sldId id="289" r:id="rId39"/>
    <p:sldId id="290" r:id="rId40"/>
    <p:sldId id="310" r:id="rId41"/>
    <p:sldId id="291" r:id="rId42"/>
    <p:sldId id="300" r:id="rId43"/>
    <p:sldId id="293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/>
    <p:restoredTop sz="94690"/>
  </p:normalViewPr>
  <p:slideViewPr>
    <p:cSldViewPr snapToGrid="0">
      <p:cViewPr varScale="1">
        <p:scale>
          <a:sx n="111" d="100"/>
          <a:sy n="111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A010A-3114-D84D-9C6B-499D723EA456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FFA97-679F-8F4B-81CD-CAE110370F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710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FFA97-679F-8F4B-81CD-CAE110370F4C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8493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4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8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2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0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2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4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0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42768F-95BB-478A-ADFA-24FD8097F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CA2F1-2F4D-77DD-E04F-BDBEFCBB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31" b="1381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2"/>
            <a:ext cx="12191999" cy="4360983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61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A60BDE-818F-53DF-E273-26133D059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952500"/>
            <a:ext cx="9603888" cy="1535114"/>
          </a:xfrm>
        </p:spPr>
        <p:txBody>
          <a:bodyPr>
            <a:noAutofit/>
          </a:bodyPr>
          <a:lstStyle/>
          <a:p>
            <a:b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Shell &amp; Command line</a:t>
            </a:r>
            <a:endParaRPr kumimoji="1" lang="zh-CN" altLang="en-US" sz="6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10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77DD4-02D7-E62E-5B73-3CEFE67B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7FEDC-7BD5-4AD4-31C8-0E1BD5E8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 &amp; Terminal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300EC-C0FC-1B35-7A06-CC928120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6143989" cy="4029074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Shell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系统提供的命令解释器，接收用户命令，交给内核执行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常见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Shell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bash</a:t>
            </a:r>
          </a:p>
          <a:p>
            <a:pPr lvl="2"/>
            <a:r>
              <a:rPr kumimoji="1"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sh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zsh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fish</a:t>
            </a:r>
          </a:p>
        </p:txBody>
      </p:sp>
      <p:pic>
        <p:nvPicPr>
          <p:cNvPr id="7" name="图像" descr="图像">
            <a:extLst>
              <a:ext uri="{FF2B5EF4-FFF2-40B4-BE49-F238E27FC236}">
                <a16:creationId xmlns:a16="http://schemas.microsoft.com/office/drawing/2014/main" id="{20B95FEE-0FCE-B484-9441-805A7564C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604" y="2121817"/>
            <a:ext cx="5435889" cy="384309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2A7FB21-A51D-E41F-B409-1F99045C024E}"/>
              </a:ext>
            </a:extLst>
          </p:cNvPr>
          <p:cNvSpPr/>
          <p:nvPr/>
        </p:nvSpPr>
        <p:spPr>
          <a:xfrm>
            <a:off x="8504210" y="2563309"/>
            <a:ext cx="1653702" cy="4669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710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C460-2228-F0BC-D876-F0D7B035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0E8AA-E5DA-93FD-BDAC-8A7A9BC39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 &amp; Terminal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30CE0E-A093-A309-C428-CF978D32C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949436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Terminal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（终端）：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计算机的</a:t>
            </a:r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输入输出窗口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，输入命令，查询结果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早期：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一种与计算机交互的物理设备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现在：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软件（终端模拟器）</a:t>
            </a:r>
          </a:p>
        </p:txBody>
      </p:sp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4B5DE955-D531-6EE6-B23F-BCD9D0B0F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451" y="1736453"/>
            <a:ext cx="4872908" cy="432144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78832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BD827-1BF4-3262-1B5B-0467BBB98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ACE81-CB3A-0DA2-976D-0402F5BA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 &amp; Terminal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3F3A6-9E3A-8025-5FEF-34EFBBE93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949436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Terminal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（终端）：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计算机的</a:t>
            </a:r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输入输出窗口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，输入命令，查询结果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早期：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一种与计算机交互的物理设备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现在：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软件（终端模拟器）</a:t>
            </a:r>
          </a:p>
        </p:txBody>
      </p:sp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203AE684-DA5D-098B-99E7-7399BACB7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451" y="1736453"/>
            <a:ext cx="4872908" cy="43214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fallout4_Open">
            <a:extLst>
              <a:ext uri="{FF2B5EF4-FFF2-40B4-BE49-F238E27FC236}">
                <a16:creationId xmlns:a16="http://schemas.microsoft.com/office/drawing/2014/main" id="{E45AFD2C-D4DD-F76E-AF04-211A3D005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549" y="950975"/>
            <a:ext cx="9204433" cy="51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08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F61B9-7861-5F70-FB46-4534971C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99FD5-BE36-E826-5F94-B9EB1389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 &amp; Terminal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98E5BF-610B-9BFF-FEEC-0FF571448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949436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Terminal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（终端）：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计算机的</a:t>
            </a:r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输入输出窗口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，输入命令，查询结果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早期：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一种与计算机交互的物理设备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现在：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软件（终端模拟器）</a:t>
            </a:r>
          </a:p>
        </p:txBody>
      </p:sp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B5F0397E-55AB-B651-F41F-597E334F2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451" y="1736453"/>
            <a:ext cx="4872908" cy="43214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fallout4_Open">
            <a:extLst>
              <a:ext uri="{FF2B5EF4-FFF2-40B4-BE49-F238E27FC236}">
                <a16:creationId xmlns:a16="http://schemas.microsoft.com/office/drawing/2014/main" id="{3D2990F6-ECF7-4ECF-1AEF-0CCB048DE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549" y="950975"/>
            <a:ext cx="9204433" cy="51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FD03094-BDC9-028C-CDB3-E8147C0D0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88" y="265027"/>
            <a:ext cx="11643359" cy="6549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364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B9380-55C1-8423-CF72-F1C671DB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16BC2-48E9-A69C-731E-AC768097B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 &amp; Terminal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F032F6-4AC8-F555-902A-A09539476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949436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Terminal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（终端）：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计算机的</a:t>
            </a:r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输入输出窗口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，输入命令，查询结果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早期：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一种与计算机交互的物理设备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现在：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软件（终端模拟器）</a:t>
            </a:r>
          </a:p>
        </p:txBody>
      </p:sp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E45D46FA-DABF-03EA-6189-403694ED8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451" y="1736453"/>
            <a:ext cx="4872908" cy="43214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fallout4_Open">
            <a:extLst>
              <a:ext uri="{FF2B5EF4-FFF2-40B4-BE49-F238E27FC236}">
                <a16:creationId xmlns:a16="http://schemas.microsoft.com/office/drawing/2014/main" id="{AE98A7C0-30B8-2740-3CD8-8236B082F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549" y="950975"/>
            <a:ext cx="9204433" cy="51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5A5CCDA-D3F5-4A25-BEAD-00FD2DF5D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88" y="265027"/>
            <a:ext cx="11643359" cy="6549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A5F99A0-D39D-C0B7-D429-44EBF71D3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540" y="880406"/>
            <a:ext cx="8541608" cy="481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24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EFCA4-CDE8-E9A8-261A-74930DAF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DA58C-0AB3-E067-3363-692D3C2D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 &amp; Terminal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1CC706-AB9D-7A6E-E2A2-F464F6C6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949436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Terminal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（终端）：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计算机的</a:t>
            </a:r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输入输出窗口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，输入命令，查询结果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早期：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一种与计算机交互的物理设备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现在：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软件（终端模拟器）</a:t>
            </a:r>
          </a:p>
        </p:txBody>
      </p:sp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E1876508-9DE2-89CA-96B7-844D553F7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451" y="1736453"/>
            <a:ext cx="4872908" cy="432144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5042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9C3F-D083-4450-F4B1-446D287E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88371-FF54-F5B0-FA9D-191D92B0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 &amp; Terminal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内容占位符 7" descr="文本&#10;&#10;描述已自动生成">
            <a:extLst>
              <a:ext uri="{FF2B5EF4-FFF2-40B4-BE49-F238E27FC236}">
                <a16:creationId xmlns:a16="http://schemas.microsoft.com/office/drawing/2014/main" id="{9DD766E7-2FBA-1EB5-E831-A75580871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39" y="1760003"/>
            <a:ext cx="10995025" cy="3190162"/>
          </a:xfr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BB3DABB-A795-DFA1-2D3D-95AF3E31FDA7}"/>
              </a:ext>
            </a:extLst>
          </p:cNvPr>
          <p:cNvSpPr/>
          <p:nvPr/>
        </p:nvSpPr>
        <p:spPr>
          <a:xfrm>
            <a:off x="3969882" y="1670443"/>
            <a:ext cx="1258610" cy="35838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9DDA39-CEE9-4CBA-4E30-334E2B07AFB3}"/>
              </a:ext>
            </a:extLst>
          </p:cNvPr>
          <p:cNvSpPr txBox="1"/>
          <p:nvPr/>
        </p:nvSpPr>
        <p:spPr>
          <a:xfrm>
            <a:off x="5732584" y="13011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Tele</a:t>
            </a:r>
            <a:r>
              <a:rPr lang="en-US" altLang="zh-CN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ty</a:t>
            </a:r>
            <a:r>
              <a:rPr lang="en" altLang="zh-CN" b="1" i="0" u="none" strike="noStrike" dirty="0" err="1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pewriter</a:t>
            </a:r>
            <a:r>
              <a:rPr lang="zh-CN" altLang="en-US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：电传打字机（终端）</a:t>
            </a:r>
            <a:endParaRPr lang="zh-CN" altLang="en-US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B4BBCC2-4F16-DA58-D56C-834C99F5D76C}"/>
              </a:ext>
            </a:extLst>
          </p:cNvPr>
          <p:cNvCxnSpPr>
            <a:endCxn id="11" idx="1"/>
          </p:cNvCxnSpPr>
          <p:nvPr/>
        </p:nvCxnSpPr>
        <p:spPr>
          <a:xfrm flipV="1">
            <a:off x="5228492" y="1485777"/>
            <a:ext cx="504092" cy="184666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1416A5EE-C0AA-2CCE-D6C0-4D17D15C4BCE}"/>
              </a:ext>
            </a:extLst>
          </p:cNvPr>
          <p:cNvSpPr/>
          <p:nvPr/>
        </p:nvSpPr>
        <p:spPr>
          <a:xfrm>
            <a:off x="1629956" y="1939194"/>
            <a:ext cx="585706" cy="35838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3E41E3-EB49-CA95-C035-A0F9275D7845}"/>
              </a:ext>
            </a:extLst>
          </p:cNvPr>
          <p:cNvSpPr txBox="1"/>
          <p:nvPr/>
        </p:nvSpPr>
        <p:spPr>
          <a:xfrm>
            <a:off x="2684584" y="2468520"/>
            <a:ext cx="86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shell</a:t>
            </a:r>
            <a:endParaRPr lang="zh-CN" altLang="en-US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4629AA8-C98C-A541-97E6-91EF90050CF1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215662" y="2297576"/>
            <a:ext cx="468922" cy="35561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82867A9-F00B-A374-60EA-640C6F2B7435}"/>
              </a:ext>
            </a:extLst>
          </p:cNvPr>
          <p:cNvSpPr/>
          <p:nvPr/>
        </p:nvSpPr>
        <p:spPr>
          <a:xfrm>
            <a:off x="726331" y="2748086"/>
            <a:ext cx="585706" cy="35838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0889D7-402E-B0C4-4899-E6F578879FF6}"/>
              </a:ext>
            </a:extLst>
          </p:cNvPr>
          <p:cNvSpPr txBox="1"/>
          <p:nvPr/>
        </p:nvSpPr>
        <p:spPr>
          <a:xfrm>
            <a:off x="2684584" y="3646879"/>
            <a:ext cx="1582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shell</a:t>
            </a:r>
            <a:r>
              <a:rPr lang="zh-CN" altLang="en-US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命令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0023E7B7-E679-993C-12BC-ABDED9B48128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12037" y="3106468"/>
            <a:ext cx="1372547" cy="725077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757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8BC2-532B-39EC-3E9C-8D2E3606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616C2E-EF9A-01BB-B887-AEB363C7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按键名称约定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CCF23F-4A51-5620-0F1C-07E689632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99" y="1964348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EEDB990-B73A-F640-9218-C687382BF31C}"/>
              </a:ext>
            </a:extLst>
          </p:cNvPr>
          <p:cNvSpPr txBox="1"/>
          <p:nvPr/>
        </p:nvSpPr>
        <p:spPr>
          <a:xfrm>
            <a:off x="2543907" y="2440054"/>
            <a:ext cx="1125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ESC</a:t>
            </a:r>
            <a:endParaRPr lang="zh-CN" altLang="en-US" sz="3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7BDC4FD-5791-CB37-7258-9EC3D01B3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668" y="2028825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80416DC-AFC5-06AB-BD25-FAE817C29A8D}"/>
              </a:ext>
            </a:extLst>
          </p:cNvPr>
          <p:cNvSpPr txBox="1"/>
          <p:nvPr/>
        </p:nvSpPr>
        <p:spPr>
          <a:xfrm>
            <a:off x="7208859" y="2437825"/>
            <a:ext cx="41625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Tab</a:t>
            </a:r>
            <a:r>
              <a:rPr lang="zh-CN" altLang="en-US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（太不）、制表符</a:t>
            </a:r>
            <a:endParaRPr lang="zh-CN" altLang="en-US" sz="3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2DDDB17-5186-757B-E183-88EA39F65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99" y="4016376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BC7B4BC-7AB7-DF1A-62FA-EF4945EB77A7}"/>
              </a:ext>
            </a:extLst>
          </p:cNvPr>
          <p:cNvSpPr txBox="1"/>
          <p:nvPr/>
        </p:nvSpPr>
        <p:spPr>
          <a:xfrm>
            <a:off x="2520460" y="4536788"/>
            <a:ext cx="2286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Alt</a:t>
            </a:r>
            <a:r>
              <a:rPr lang="zh-CN" altLang="en-US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（奥特）</a:t>
            </a:r>
            <a:endParaRPr lang="zh-CN" altLang="en-US" sz="3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40B465F9-4EBF-64B5-BC6B-734260ED5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668" y="4016376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8E7D87B-5A5D-C605-ECF6-216E5F4E4B05}"/>
              </a:ext>
            </a:extLst>
          </p:cNvPr>
          <p:cNvSpPr txBox="1"/>
          <p:nvPr/>
        </p:nvSpPr>
        <p:spPr>
          <a:xfrm>
            <a:off x="7208859" y="4536787"/>
            <a:ext cx="40335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Control</a:t>
            </a:r>
            <a:r>
              <a:rPr lang="zh-CN" altLang="en-US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（抗臭）</a:t>
            </a:r>
            <a:endParaRPr lang="zh-CN" altLang="en-US" sz="3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1085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5DA6A-042D-4908-E70A-D71837ED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FE97D-8E28-FD22-F3F0-8BD36CCF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按键名称约定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E40032-4D1E-5B99-3CB7-0EE4035DC3C9}"/>
              </a:ext>
            </a:extLst>
          </p:cNvPr>
          <p:cNvSpPr txBox="1"/>
          <p:nvPr/>
        </p:nvSpPr>
        <p:spPr>
          <a:xfrm>
            <a:off x="2543907" y="2440054"/>
            <a:ext cx="1125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斜杠</a:t>
            </a:r>
            <a:endParaRPr lang="zh-CN" altLang="en-US" sz="3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893B35-9E36-087D-B323-171E624FDF83}"/>
              </a:ext>
            </a:extLst>
          </p:cNvPr>
          <p:cNvSpPr txBox="1"/>
          <p:nvPr/>
        </p:nvSpPr>
        <p:spPr>
          <a:xfrm>
            <a:off x="7208859" y="2437825"/>
            <a:ext cx="41625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返斜杠</a:t>
            </a:r>
            <a:endParaRPr lang="zh-CN" altLang="en-US" sz="3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FE673F-8273-32A7-368E-D34CF7D91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99" y="2028825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F7E8437-2F3A-49BA-C849-C8DFF5CE7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198" y="2028825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236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D392-35E7-3096-7AE9-01011C6D7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1AC41-A20C-9300-609D-A6C2F294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shell——root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9670DD-168E-2F18-EC2E-D0F64AE0F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949436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root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Linux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系统的最高权限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高于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Windows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的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Administrator</a:t>
            </a:r>
          </a:p>
          <a:p>
            <a:pPr lvl="2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唯一的超级管理员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能够做几乎任何事情</a:t>
            </a:r>
          </a:p>
        </p:txBody>
      </p:sp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3E253864-2D61-C751-F410-B76C6911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357" y="2026000"/>
            <a:ext cx="5598941" cy="349933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4B7D65A-4379-63DF-3F46-4FD37FFF4875}"/>
              </a:ext>
            </a:extLst>
          </p:cNvPr>
          <p:cNvSpPr txBox="1"/>
          <p:nvPr/>
        </p:nvSpPr>
        <p:spPr>
          <a:xfrm>
            <a:off x="6516200" y="5548921"/>
            <a:ext cx="4457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美剧</a:t>
            </a:r>
            <a:r>
              <a:rPr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Person</a:t>
            </a:r>
            <a:r>
              <a:rPr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of Interest(POI)</a:t>
            </a:r>
            <a:r>
              <a:rPr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中的角色</a:t>
            </a:r>
          </a:p>
        </p:txBody>
      </p:sp>
    </p:spTree>
    <p:extLst>
      <p:ext uri="{BB962C8B-B14F-4D97-AF65-F5344CB8AC3E}">
        <p14:creationId xmlns:p14="http://schemas.microsoft.com/office/powerpoint/2010/main" val="3065938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032C-95DA-0A1A-F794-F520E7D5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2FBCA8-E167-C3E5-29E1-062EFB7F0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shell——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普通用户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640E66-C44C-9159-BA22-EDE150404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949436" cy="40290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28E893B-CF55-1B7A-B768-5EDA1978D90D}"/>
              </a:ext>
            </a:extLst>
          </p:cNvPr>
          <p:cNvSpPr txBox="1">
            <a:spLocks/>
          </p:cNvSpPr>
          <p:nvPr/>
        </p:nvSpPr>
        <p:spPr>
          <a:xfrm>
            <a:off x="701041" y="2181226"/>
            <a:ext cx="10354886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直观体验：</a:t>
            </a:r>
            <a:endParaRPr kumimoji="1"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权限低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有些地方去不了，有些文件看不了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可以有很多个普通用户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一些用户可以临时提权到管理员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sudo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4798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99D7-FBFB-6C65-AD59-10558446B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A95F7-2227-3749-5089-B614E2E4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Sudo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梗图</a:t>
            </a:r>
          </a:p>
        </p:txBody>
      </p:sp>
      <p:pic>
        <p:nvPicPr>
          <p:cNvPr id="3" name="IMG_7272.jpeg" descr="IMG_7272.jpeg">
            <a:extLst>
              <a:ext uri="{FF2B5EF4-FFF2-40B4-BE49-F238E27FC236}">
                <a16:creationId xmlns:a16="http://schemas.microsoft.com/office/drawing/2014/main" id="{E7BCC2CF-755B-71AF-E612-D38F4679F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712" y="950976"/>
            <a:ext cx="3793208" cy="505761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7492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F1E24-D7DB-A28C-540D-175E95F10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F9CBE-F171-ECFA-AD47-328EDEFE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sudo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梗图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0CCFD31C-9F86-6C18-49BB-D4B0A43E3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022" y="706345"/>
            <a:ext cx="6585218" cy="544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95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A2CA1-0055-9680-B841-F2913B2E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D7658-E800-10AB-0D00-DF8AAC9E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shell——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提示符</a:t>
            </a:r>
          </a:p>
        </p:txBody>
      </p:sp>
      <p:pic>
        <p:nvPicPr>
          <p:cNvPr id="4" name="图片 3" descr="图形用户界面, 应用程序&#10;&#10;中度可信度描述已自动生成">
            <a:extLst>
              <a:ext uri="{FF2B5EF4-FFF2-40B4-BE49-F238E27FC236}">
                <a16:creationId xmlns:a16="http://schemas.microsoft.com/office/drawing/2014/main" id="{91904E38-4523-D130-B41D-71048B45C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202" y="2445683"/>
            <a:ext cx="7229309" cy="176324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0CF58AA-EBBA-486D-E099-F103B74C93F1}"/>
              </a:ext>
            </a:extLst>
          </p:cNvPr>
          <p:cNvSpPr/>
          <p:nvPr/>
        </p:nvSpPr>
        <p:spPr>
          <a:xfrm>
            <a:off x="5112327" y="2445683"/>
            <a:ext cx="443345" cy="82399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93D4D3-196F-7393-BF3C-6379CC3B61E7}"/>
              </a:ext>
            </a:extLst>
          </p:cNvPr>
          <p:cNvSpPr/>
          <p:nvPr/>
        </p:nvSpPr>
        <p:spPr>
          <a:xfrm>
            <a:off x="4378036" y="3262746"/>
            <a:ext cx="443345" cy="82399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0495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616AE-6A1F-E3A7-02F6-5535960E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4A4CC-F3F5-50CE-0CF5-3BBD42BCE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常用的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DC244E-082B-57EF-1D2E-B28D3BD0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949436" cy="40290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sh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en" altLang="zh-CN" sz="2800" b="1" dirty="0" err="1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Bourne</a:t>
            </a:r>
            <a:r>
              <a:rPr kumimoji="1" lang="en" altLang="zh-CN" sz="28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 Shell</a:t>
            </a:r>
          </a:p>
          <a:p>
            <a:pPr lvl="2"/>
            <a:r>
              <a:rPr kumimoji="1" lang="zh-CN" altLang="en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当时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供职于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AT&amp;T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贝尔实验室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  <a:sym typeface="Wingdings" pitchFamily="2" charset="2"/>
            </a:endParaRPr>
          </a:p>
          <a:p>
            <a:pPr lvl="2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是</a:t>
            </a:r>
            <a:r>
              <a:rPr kumimoji="1" lang="en" altLang="zh-CN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Version 7 Unix</a:t>
            </a:r>
            <a:r>
              <a:rPr kumimoji="1" lang="zh-CN" altLang="en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的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默认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shell</a:t>
            </a:r>
          </a:p>
          <a:p>
            <a:pPr lvl="2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在很多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Unix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和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Linux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中，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是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root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的默认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shell</a:t>
            </a:r>
            <a:endParaRPr kumimoji="1" lang="en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  <a:sym typeface="Wingdings" pitchFamily="2" charset="2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B13A8EE-40D7-ECFC-6590-D0BE2C731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238" y="1018741"/>
            <a:ext cx="3514580" cy="503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 descr="图形用户界面, 应用程序&#10;&#10;中度可信度描述已自动生成">
            <a:extLst>
              <a:ext uri="{FF2B5EF4-FFF2-40B4-BE49-F238E27FC236}">
                <a16:creationId xmlns:a16="http://schemas.microsoft.com/office/drawing/2014/main" id="{8604808B-FA1B-5EDA-D891-DE883A88F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593" y="4874859"/>
            <a:ext cx="4231875" cy="103216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CD938C2-B07D-7221-84D7-4DD35668EA78}"/>
              </a:ext>
            </a:extLst>
          </p:cNvPr>
          <p:cNvSpPr/>
          <p:nvPr/>
        </p:nvSpPr>
        <p:spPr>
          <a:xfrm>
            <a:off x="1717611" y="5233910"/>
            <a:ext cx="2078534" cy="82399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右箭头 5">
            <a:extLst>
              <a:ext uri="{FF2B5EF4-FFF2-40B4-BE49-F238E27FC236}">
                <a16:creationId xmlns:a16="http://schemas.microsoft.com/office/drawing/2014/main" id="{0D839B36-95C0-2609-18C0-F3B358C035DD}"/>
              </a:ext>
            </a:extLst>
          </p:cNvPr>
          <p:cNvSpPr/>
          <p:nvPr/>
        </p:nvSpPr>
        <p:spPr>
          <a:xfrm rot="10800000">
            <a:off x="4059580" y="5313654"/>
            <a:ext cx="861726" cy="53029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089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1C298-01D9-F010-E8CF-51B8AE5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736EF-E5E9-1F6F-832B-3604C17F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常用的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FDA0E5-C861-5CB7-9684-ED43B8753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949436" cy="44481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Bash——</a:t>
            </a:r>
            <a:r>
              <a:rPr kumimoji="1" lang="en" altLang="zh-CN" sz="2800" b="1" dirty="0" err="1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Bourne</a:t>
            </a:r>
            <a:r>
              <a:rPr kumimoji="1" lang="en" altLang="zh-CN" sz="28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 Again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 </a:t>
            </a:r>
            <a:r>
              <a:rPr kumimoji="1" lang="en" altLang="zh-CN" sz="2800" b="1" dirty="0"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Shell</a:t>
            </a:r>
          </a:p>
          <a:p>
            <a:pPr lvl="2"/>
            <a:r>
              <a:rPr lang="zh-CN" altLang="en" sz="24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对</a:t>
            </a:r>
            <a:r>
              <a:rPr lang="en" altLang="zh-CN" sz="2400" b="0" i="0" u="none" strike="noStrike" dirty="0" err="1">
                <a:solidFill>
                  <a:srgbClr val="060607"/>
                </a:solidFill>
                <a:effectLst/>
                <a:latin typeface="-apple-system"/>
              </a:rPr>
              <a:t>Bourne</a:t>
            </a:r>
            <a:r>
              <a:rPr lang="en" altLang="zh-CN" sz="24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 Shell</a:t>
            </a:r>
            <a:r>
              <a:rPr lang="zh-CN" altLang="en-US" sz="24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（</a:t>
            </a:r>
            <a:r>
              <a:rPr lang="en-US" altLang="zh-CN" sz="2400" b="0" i="0" u="none" strike="noStrike" dirty="0" err="1">
                <a:solidFill>
                  <a:srgbClr val="060607"/>
                </a:solidFill>
                <a:effectLst/>
                <a:latin typeface="-apple-system"/>
              </a:rPr>
              <a:t>sh</a:t>
            </a:r>
            <a:r>
              <a:rPr lang="zh-CN" altLang="en-US" sz="24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）的重新实现</a:t>
            </a:r>
            <a:endParaRPr lang="en-US" altLang="zh-CN" sz="2400" b="0" i="0" u="none" strike="noStrike" dirty="0">
              <a:solidFill>
                <a:srgbClr val="060607"/>
              </a:solidFill>
              <a:effectLst/>
              <a:latin typeface="-apple-system"/>
            </a:endParaRPr>
          </a:p>
          <a:p>
            <a:pPr lvl="2"/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增加了一些新功能</a:t>
            </a:r>
            <a:endParaRPr lang="en-US" altLang="zh-CN" sz="2400" dirty="0">
              <a:solidFill>
                <a:srgbClr val="060607"/>
              </a:solidFill>
              <a:latin typeface="-apple-system"/>
            </a:endParaRPr>
          </a:p>
          <a:p>
            <a:pPr lvl="4"/>
            <a:r>
              <a:rPr lang="zh-CN" altLang="en-US" sz="20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历史命令</a:t>
            </a:r>
            <a:endParaRPr lang="en-US" altLang="zh-CN" sz="2000" b="0" i="0" u="none" strike="noStrike" dirty="0">
              <a:solidFill>
                <a:srgbClr val="060607"/>
              </a:solidFill>
              <a:effectLst/>
              <a:latin typeface="-apple-system"/>
            </a:endParaRPr>
          </a:p>
          <a:p>
            <a:pPr lvl="4"/>
            <a:r>
              <a:rPr lang="zh-CN" altLang="en-US" sz="20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命令补全</a:t>
            </a:r>
            <a:endParaRPr lang="en-US" altLang="zh-CN" sz="2000" b="0" i="0" u="none" strike="noStrike" dirty="0">
              <a:solidFill>
                <a:srgbClr val="060607"/>
              </a:solidFill>
              <a:effectLst/>
              <a:latin typeface="-apple-system"/>
            </a:endParaRPr>
          </a:p>
          <a:p>
            <a:pPr lvl="4"/>
            <a:r>
              <a:rPr lang="en-US" altLang="zh-CN" sz="2000" dirty="0">
                <a:solidFill>
                  <a:srgbClr val="060607"/>
                </a:solidFill>
                <a:latin typeface="-apple-system"/>
              </a:rPr>
              <a:t>……</a:t>
            </a:r>
            <a:endParaRPr lang="en-US" altLang="zh-CN" sz="2000" b="0" i="0" u="none" strike="noStrike" dirty="0">
              <a:solidFill>
                <a:srgbClr val="060607"/>
              </a:solidFill>
              <a:effectLst/>
              <a:latin typeface="-apple-system"/>
            </a:endParaRPr>
          </a:p>
          <a:p>
            <a:pPr lvl="2"/>
            <a:r>
              <a:rPr lang="zh-CN" altLang="en-US" sz="24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与</a:t>
            </a:r>
            <a:r>
              <a:rPr lang="en-US" altLang="zh-CN" sz="2400" b="0" i="0" u="none" strike="noStrike" dirty="0" err="1">
                <a:solidFill>
                  <a:srgbClr val="060607"/>
                </a:solidFill>
                <a:effectLst/>
                <a:latin typeface="-apple-system"/>
              </a:rPr>
              <a:t>sh</a:t>
            </a:r>
            <a:r>
              <a:rPr lang="zh-CN" altLang="en-US" sz="2400" b="0" i="0" u="none" strike="noStrike" dirty="0">
                <a:solidFill>
                  <a:srgbClr val="060607"/>
                </a:solidFill>
                <a:effectLst/>
                <a:latin typeface="-apple-system"/>
              </a:rPr>
              <a:t>高度兼容</a:t>
            </a:r>
            <a:endParaRPr lang="en-US" altLang="zh-CN" sz="2400" b="0" i="0" u="none" strike="noStrike" dirty="0">
              <a:solidFill>
                <a:srgbClr val="060607"/>
              </a:solidFill>
              <a:effectLst/>
              <a:latin typeface="-apple-system"/>
            </a:endParaRPr>
          </a:p>
          <a:p>
            <a:pPr lvl="2"/>
            <a:r>
              <a:rPr lang="zh-CN" altLang="en-US" sz="2400" dirty="0">
                <a:solidFill>
                  <a:srgbClr val="FF0000"/>
                </a:solidFill>
                <a:latin typeface="-apple-system"/>
              </a:rPr>
              <a:t>最常用的</a:t>
            </a:r>
            <a:r>
              <a:rPr lang="en-US" altLang="zh-CN" sz="2400" dirty="0">
                <a:solidFill>
                  <a:srgbClr val="FF0000"/>
                </a:solidFill>
                <a:latin typeface="-apple-system"/>
              </a:rPr>
              <a:t>shell</a:t>
            </a:r>
            <a:endParaRPr lang="en-US" altLang="zh-CN" sz="2400" b="0" i="0" u="none" strike="noStrike" dirty="0">
              <a:solidFill>
                <a:srgbClr val="FF0000"/>
              </a:solidFill>
              <a:effectLst/>
              <a:latin typeface="-apple-system"/>
            </a:endParaRPr>
          </a:p>
          <a:p>
            <a:pPr lvl="2"/>
            <a:endParaRPr kumimoji="1" lang="en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  <a:sym typeface="Wingdings" pitchFamily="2" charset="2"/>
            </a:endParaRPr>
          </a:p>
        </p:txBody>
      </p:sp>
      <p:pic>
        <p:nvPicPr>
          <p:cNvPr id="4" name="图片 3" descr="图形用户界面, 应用程序&#10;&#10;中度可信度描述已自动生成">
            <a:extLst>
              <a:ext uri="{FF2B5EF4-FFF2-40B4-BE49-F238E27FC236}">
                <a16:creationId xmlns:a16="http://schemas.microsoft.com/office/drawing/2014/main" id="{73DF77FA-34C5-2205-25B2-9F9C52CD9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484" y="3198459"/>
            <a:ext cx="4231875" cy="103216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308AA2B-E04F-B206-3186-5421D92CF9D2}"/>
              </a:ext>
            </a:extLst>
          </p:cNvPr>
          <p:cNvSpPr/>
          <p:nvPr/>
        </p:nvSpPr>
        <p:spPr>
          <a:xfrm>
            <a:off x="7299960" y="3063239"/>
            <a:ext cx="2026920" cy="6513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5691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F59A2-6BC7-B81B-CE49-49AE640F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2923C-D20B-7E00-48C5-AA21DE1DB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常用的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0DD930-AB15-2DC6-13CB-19847A272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949436" cy="44481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zsh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——Z</a:t>
            </a:r>
            <a:r>
              <a:rPr kumimoji="1"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Shell</a:t>
            </a:r>
            <a:endParaRPr kumimoji="1" lang="en" altLang="zh-CN" sz="2800" b="1" dirty="0">
              <a:latin typeface="SimHei" panose="02010609060101010101" pitchFamily="49" charset="-122"/>
              <a:ea typeface="SimHei" panose="02010609060101010101" pitchFamily="49" charset="-122"/>
              <a:sym typeface="Wingdings" pitchFamily="2" charset="2"/>
            </a:endParaRPr>
          </a:p>
          <a:p>
            <a:pPr lvl="2"/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语法兼容</a:t>
            </a:r>
            <a:r>
              <a:rPr lang="en-US" altLang="zh-CN" sz="2400" dirty="0">
                <a:solidFill>
                  <a:srgbClr val="060607"/>
                </a:solidFill>
                <a:latin typeface="-apple-system"/>
              </a:rPr>
              <a:t>bash</a:t>
            </a:r>
          </a:p>
          <a:p>
            <a:pPr lvl="2"/>
            <a:r>
              <a:rPr lang="en-US" altLang="zh-CN" sz="2400" dirty="0">
                <a:solidFill>
                  <a:srgbClr val="060607"/>
                </a:solidFill>
                <a:latin typeface="-apple-system"/>
              </a:rPr>
              <a:t>MacOS</a:t>
            </a:r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的默认</a:t>
            </a:r>
            <a:r>
              <a:rPr lang="en-US" altLang="zh-CN" sz="2400" dirty="0">
                <a:solidFill>
                  <a:srgbClr val="060607"/>
                </a:solidFill>
                <a:latin typeface="-apple-system"/>
              </a:rPr>
              <a:t>shell</a:t>
            </a:r>
            <a:endParaRPr kumimoji="1" lang="en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  <a:sym typeface="Wingdings" pitchFamily="2" charset="2"/>
            </a:endParaRPr>
          </a:p>
          <a:p>
            <a:pPr lvl="2"/>
            <a:r>
              <a:rPr lang="zh-CN" altLang="en" sz="2400" dirty="0">
                <a:solidFill>
                  <a:srgbClr val="060607"/>
                </a:solidFill>
                <a:latin typeface="-apple-system"/>
                <a:sym typeface="Wingdings" pitchFamily="2" charset="2"/>
              </a:rPr>
              <a:t>拥有</a:t>
            </a:r>
            <a:r>
              <a:rPr lang="zh-CN" altLang="en-US" sz="2400" dirty="0">
                <a:solidFill>
                  <a:srgbClr val="060607"/>
                </a:solidFill>
                <a:latin typeface="-apple-system"/>
                <a:sym typeface="Wingdings" pitchFamily="2" charset="2"/>
              </a:rPr>
              <a:t>插件系统</a:t>
            </a:r>
            <a:endParaRPr lang="en-US" altLang="zh-CN" sz="2400" dirty="0">
              <a:solidFill>
                <a:srgbClr val="060607"/>
              </a:solidFill>
              <a:latin typeface="-apple-system"/>
              <a:sym typeface="Wingdings" pitchFamily="2" charset="2"/>
            </a:endParaRPr>
          </a:p>
          <a:p>
            <a:pPr lvl="2"/>
            <a:r>
              <a:rPr lang="zh-CN" altLang="en-US" sz="2400" dirty="0">
                <a:solidFill>
                  <a:srgbClr val="060607"/>
                </a:solidFill>
                <a:latin typeface="-apple-system"/>
                <a:sym typeface="Wingdings" pitchFamily="2" charset="2"/>
              </a:rPr>
              <a:t>更加注重交互性</a:t>
            </a:r>
            <a:endParaRPr lang="en-US" altLang="zh-CN" sz="2400" dirty="0">
              <a:solidFill>
                <a:srgbClr val="060607"/>
              </a:solidFill>
              <a:latin typeface="-apple-system"/>
            </a:endParaRP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B9E8222C-9630-5B32-9FF7-F4E95DB3E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710" y="1802130"/>
            <a:ext cx="7772400" cy="359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09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1B09E-8912-FAA2-A887-F552496C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6E4D8-EA73-7C62-72DB-FBFFD1914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常用的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571EF3-1DCA-13BC-9D41-F86594805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028826"/>
            <a:ext cx="6827519" cy="4448174"/>
          </a:xfrm>
        </p:spPr>
        <p:txBody>
          <a:bodyPr>
            <a:normAutofit/>
          </a:bodyPr>
          <a:lstStyle/>
          <a:p>
            <a:r>
              <a:rPr kumimoji="1"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fish——friendly interactive shell</a:t>
            </a:r>
            <a:endParaRPr kumimoji="1" lang="en" altLang="zh-CN" sz="2800" b="1" dirty="0">
              <a:latin typeface="SimHei" panose="02010609060101010101" pitchFamily="49" charset="-122"/>
              <a:ea typeface="SimHei" panose="02010609060101010101" pitchFamily="49" charset="-122"/>
              <a:sym typeface="Wingdings" pitchFamily="2" charset="2"/>
            </a:endParaRPr>
          </a:p>
          <a:p>
            <a:pPr lvl="2"/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语法</a:t>
            </a:r>
            <a:r>
              <a:rPr lang="zh-CN" altLang="en-US" sz="2400" dirty="0">
                <a:solidFill>
                  <a:srgbClr val="FF0000"/>
                </a:solidFill>
                <a:latin typeface="-apple-system"/>
              </a:rPr>
              <a:t>不</a:t>
            </a:r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兼容</a:t>
            </a:r>
            <a:r>
              <a:rPr lang="en-US" altLang="zh-CN" sz="2400" dirty="0">
                <a:solidFill>
                  <a:srgbClr val="060607"/>
                </a:solidFill>
                <a:latin typeface="-apple-system"/>
              </a:rPr>
              <a:t>bash</a:t>
            </a:r>
          </a:p>
          <a:p>
            <a:pPr lvl="2"/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主打交互性</a:t>
            </a:r>
            <a:endParaRPr lang="en-US" altLang="zh-CN" sz="2400" dirty="0">
              <a:solidFill>
                <a:srgbClr val="060607"/>
              </a:solidFill>
              <a:latin typeface="-apple-system"/>
            </a:endParaRPr>
          </a:p>
        </p:txBody>
      </p:sp>
      <p:pic>
        <p:nvPicPr>
          <p:cNvPr id="4" name="内容占位符 7" descr="文本&#10;&#10;描述已自动生成">
            <a:extLst>
              <a:ext uri="{FF2B5EF4-FFF2-40B4-BE49-F238E27FC236}">
                <a16:creationId xmlns:a16="http://schemas.microsoft.com/office/drawing/2014/main" id="{CD70285D-D006-4DF2-9508-B39ED6C6E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3" y="3641679"/>
            <a:ext cx="9163053" cy="26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80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018A9-F1CB-2C95-BEC6-893214D8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DAD36-BCEA-D325-630C-F08EAE2D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常用？的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FE3CDD-8C61-CCFA-0887-AE4483264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028826"/>
            <a:ext cx="6827519" cy="4448174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060607"/>
                </a:solidFill>
                <a:latin typeface="-apple-system"/>
              </a:rPr>
              <a:t>PowerShell</a:t>
            </a:r>
          </a:p>
          <a:p>
            <a:pPr lvl="2"/>
            <a:r>
              <a:rPr lang="en-US" altLang="zh-CN" sz="2400" dirty="0">
                <a:solidFill>
                  <a:srgbClr val="060607"/>
                </a:solidFill>
                <a:latin typeface="-apple-system"/>
              </a:rPr>
              <a:t>Windows</a:t>
            </a:r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下的</a:t>
            </a:r>
            <a:r>
              <a:rPr lang="en-US" altLang="zh-CN" sz="2400" dirty="0">
                <a:solidFill>
                  <a:srgbClr val="060607"/>
                </a:solidFill>
                <a:latin typeface="-apple-system"/>
              </a:rPr>
              <a:t>shell</a:t>
            </a:r>
          </a:p>
          <a:p>
            <a:pPr lvl="2"/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与</a:t>
            </a:r>
            <a:r>
              <a:rPr lang="en-US" altLang="zh-CN" sz="2400" dirty="0">
                <a:solidFill>
                  <a:srgbClr val="060607"/>
                </a:solidFill>
                <a:latin typeface="-apple-system"/>
              </a:rPr>
              <a:t>bash</a:t>
            </a:r>
            <a:r>
              <a:rPr lang="zh-CN" altLang="en-US" sz="2400" dirty="0">
                <a:solidFill>
                  <a:srgbClr val="060607"/>
                </a:solidFill>
                <a:latin typeface="-apple-system"/>
              </a:rPr>
              <a:t>语法高度不兼容，命令名称不一致</a:t>
            </a:r>
            <a:endParaRPr lang="en-US" altLang="zh-CN" sz="2400" dirty="0">
              <a:solidFill>
                <a:srgbClr val="060607"/>
              </a:solidFill>
              <a:latin typeface="-apple-system"/>
            </a:endParaRPr>
          </a:p>
        </p:txBody>
      </p:sp>
      <p:pic>
        <p:nvPicPr>
          <p:cNvPr id="1026" name="Picture 2" descr="How to Access Anaconda Command Prompt in Windows 10 (64-bit) | Saturn ...">
            <a:extLst>
              <a:ext uri="{FF2B5EF4-FFF2-40B4-BE49-F238E27FC236}">
                <a16:creationId xmlns:a16="http://schemas.microsoft.com/office/drawing/2014/main" id="{B35C1AB4-9CEC-FB2F-7293-53976777D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855" y="979914"/>
            <a:ext cx="4964747" cy="492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41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7884-D50E-51DC-B132-AB8D4335E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5070B7-0022-3EE7-FC0F-4A7B7B8D7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64FBE5B-3A56-C3A1-4843-BC70516B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6" name="Picture 2" descr="¿Cómo funciona SSH? | UltaHost Blog">
            <a:extLst>
              <a:ext uri="{FF2B5EF4-FFF2-40B4-BE49-F238E27FC236}">
                <a16:creationId xmlns:a16="http://schemas.microsoft.com/office/drawing/2014/main" id="{CE15CC5A-E486-0DEF-D0BF-D9F4ECBE8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8"/>
            <a:ext cx="12192000" cy="6875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277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5AD5-9E41-5729-91BA-9D765C44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0A27F-A63E-935F-360B-982A93D7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Secure Shell</a:t>
            </a:r>
            <a:br>
              <a:rPr kumimoji="1" lang="e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76D1E9-5F6E-7E33-F3BA-EFD2054C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379720" cy="4448174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060607"/>
                </a:solidFill>
                <a:latin typeface="-apple-system"/>
              </a:rPr>
              <a:t>ssh</a:t>
            </a:r>
          </a:p>
          <a:p>
            <a:pPr lvl="2"/>
            <a:r>
              <a:rPr lang="zh-CN" altLang="en-US" sz="2000" dirty="0">
                <a:solidFill>
                  <a:srgbClr val="060607"/>
                </a:solidFill>
                <a:latin typeface="-apple-system"/>
              </a:rPr>
              <a:t>一种（远程）连接</a:t>
            </a:r>
            <a:r>
              <a:rPr lang="en-US" altLang="zh-CN" sz="2000" dirty="0">
                <a:solidFill>
                  <a:srgbClr val="060607"/>
                </a:solidFill>
                <a:latin typeface="-apple-system"/>
              </a:rPr>
              <a:t>Linux</a:t>
            </a:r>
            <a:r>
              <a:rPr lang="zh-CN" altLang="en-US" sz="2000" dirty="0">
                <a:solidFill>
                  <a:srgbClr val="060607"/>
                </a:solidFill>
                <a:latin typeface="-apple-system"/>
              </a:rPr>
              <a:t>机器的方式</a:t>
            </a:r>
            <a:endParaRPr lang="en-US" altLang="zh-CN" sz="2000" dirty="0">
              <a:solidFill>
                <a:srgbClr val="060607"/>
              </a:solidFill>
              <a:latin typeface="-apple-system"/>
            </a:endParaRPr>
          </a:p>
          <a:p>
            <a:pPr lvl="2"/>
            <a:r>
              <a:rPr lang="zh-CN" altLang="en-US" sz="2000" dirty="0">
                <a:solidFill>
                  <a:srgbClr val="060607"/>
                </a:solidFill>
                <a:latin typeface="-apple-system"/>
              </a:rPr>
              <a:t>通常情况下的唯一方式</a:t>
            </a:r>
            <a:endParaRPr lang="en-US" altLang="zh-CN" sz="2000" dirty="0">
              <a:solidFill>
                <a:srgbClr val="060607"/>
              </a:solidFill>
              <a:latin typeface="-apple-system"/>
            </a:endParaRPr>
          </a:p>
          <a:p>
            <a:pPr lvl="4"/>
            <a:r>
              <a:rPr lang="zh-CN" altLang="en-US" sz="1800" dirty="0">
                <a:solidFill>
                  <a:srgbClr val="FF0000"/>
                </a:solidFill>
                <a:latin typeface="-apple-system"/>
              </a:rPr>
              <a:t>服务器没有图形界面</a:t>
            </a:r>
            <a:endParaRPr lang="en-US" altLang="zh-CN" sz="1800" dirty="0">
              <a:solidFill>
                <a:srgbClr val="FF0000"/>
              </a:solidFill>
              <a:latin typeface="-apple-system"/>
            </a:endParaRPr>
          </a:p>
          <a:p>
            <a:pPr lvl="4"/>
            <a:r>
              <a:rPr lang="zh-CN" altLang="en-US" sz="1800" dirty="0">
                <a:solidFill>
                  <a:srgbClr val="FF0000"/>
                </a:solidFill>
                <a:latin typeface="-apple-system"/>
              </a:rPr>
              <a:t>无法物理接触服务器</a:t>
            </a:r>
            <a:endParaRPr lang="en-US" altLang="zh-CN" sz="1800" dirty="0">
              <a:solidFill>
                <a:srgbClr val="FF0000"/>
              </a:solidFill>
              <a:latin typeface="-apple-system"/>
            </a:endParaRPr>
          </a:p>
          <a:p>
            <a:pPr lvl="4"/>
            <a:endParaRPr lang="en-US" altLang="zh-CN" sz="1800" dirty="0">
              <a:solidFill>
                <a:srgbClr val="060607"/>
              </a:solidFill>
              <a:latin typeface="-apple-system"/>
            </a:endParaRPr>
          </a:p>
        </p:txBody>
      </p:sp>
      <p:pic>
        <p:nvPicPr>
          <p:cNvPr id="2052" name="Picture 4" descr="SSH DAN CARA KERJA PADA JARINGAN KOMPUTER">
            <a:extLst>
              <a:ext uri="{FF2B5EF4-FFF2-40B4-BE49-F238E27FC236}">
                <a16:creationId xmlns:a16="http://schemas.microsoft.com/office/drawing/2014/main" id="{9B667680-40D2-C106-3CF0-DB5A15832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006" y="1571625"/>
            <a:ext cx="641420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972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0C6A6-D929-9C7D-83DF-7AEE2795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88E95-1B6D-6FA7-02C7-8745D708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</a:t>
            </a:r>
            <a:br>
              <a:rPr kumimoji="1" lang="e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7F1436-660A-EEF6-FFC5-DBD99FCB4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333999" cy="444817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ssh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Secure Shell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）是一种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加密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的网络协议，用于在不安全的网络中为网络服务提供安全的传输通道，主要用于远程登录服务器进行管理操作，如执行命令、传输文件等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Picture 4" descr="SSH DAN CARA KERJA PADA JARINGAN KOMPUTER">
            <a:extLst>
              <a:ext uri="{FF2B5EF4-FFF2-40B4-BE49-F238E27FC236}">
                <a16:creationId xmlns:a16="http://schemas.microsoft.com/office/drawing/2014/main" id="{9339D886-D4DF-9193-3F4C-F70972A1D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800115"/>
            <a:ext cx="5851029" cy="3640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78A5ACA-5B6B-2FF2-9400-5DE254FA818E}"/>
              </a:ext>
            </a:extLst>
          </p:cNvPr>
          <p:cNvSpPr txBox="1"/>
          <p:nvPr/>
        </p:nvSpPr>
        <p:spPr>
          <a:xfrm>
            <a:off x="6409520" y="4567566"/>
            <a:ext cx="1378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客户端</a:t>
            </a:r>
            <a:endParaRPr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24B7B9-558D-7241-A785-7105755CB0BC}"/>
              </a:ext>
            </a:extLst>
          </p:cNvPr>
          <p:cNvSpPr txBox="1"/>
          <p:nvPr/>
        </p:nvSpPr>
        <p:spPr>
          <a:xfrm>
            <a:off x="10568909" y="4567566"/>
            <a:ext cx="1378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服务器</a:t>
            </a:r>
            <a:endParaRPr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2611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EC07-4A49-0A9F-C886-9DE6F854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70D93-9757-ED23-F9BD-11D6E34A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客户端</a:t>
            </a:r>
            <a:br>
              <a:rPr kumimoji="1" lang="e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C850D0-0E1D-9D0F-323E-E75EC23C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333999" cy="444817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ssh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工具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密码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密钥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Picture 4" descr="SSH DAN CARA KERJA PADA JARINGAN KOMPUTER">
            <a:extLst>
              <a:ext uri="{FF2B5EF4-FFF2-40B4-BE49-F238E27FC236}">
                <a16:creationId xmlns:a16="http://schemas.microsoft.com/office/drawing/2014/main" id="{E15E2B30-BB88-45E1-8D10-AA3D42CB2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079" y="950975"/>
            <a:ext cx="8538388" cy="531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9810768-5204-4B25-7C10-25DF0198262F}"/>
              </a:ext>
            </a:extLst>
          </p:cNvPr>
          <p:cNvSpPr txBox="1"/>
          <p:nvPr/>
        </p:nvSpPr>
        <p:spPr>
          <a:xfrm>
            <a:off x="3971120" y="5090026"/>
            <a:ext cx="1378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客户端</a:t>
            </a:r>
            <a:endParaRPr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84DEC2-3F86-53AC-DEA9-0D3F54E91102}"/>
              </a:ext>
            </a:extLst>
          </p:cNvPr>
          <p:cNvSpPr txBox="1"/>
          <p:nvPr/>
        </p:nvSpPr>
        <p:spPr>
          <a:xfrm>
            <a:off x="10172669" y="5090026"/>
            <a:ext cx="1378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服务器</a:t>
            </a:r>
            <a:endParaRPr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6230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6135C-3DCE-8360-286D-5133CE05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53EC0-3F47-5A0C-02B4-28BF8F70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工具</a:t>
            </a:r>
            <a:br>
              <a:rPr kumimoji="1" lang="e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5E60F2-DD2E-F51B-7408-66DC82A4B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333999" cy="444817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PuTTY</a:t>
            </a: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MobaXterm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Termius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终端模拟器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FF60941B-CF55-6E7C-8F47-71FC54425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081" y="1113474"/>
            <a:ext cx="7772400" cy="479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28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883C-C58B-3C13-E433-7232C96A2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FBAFD-F9DA-D4EA-9C92-C898AC622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服务端</a:t>
            </a:r>
            <a:br>
              <a:rPr kumimoji="1" lang="e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38203E-42FD-BA79-DEC7-DB9836A9D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333999" cy="4448174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服务器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在机房里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没有图形界面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可能是虚拟机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26" name="Picture 2" descr="机房工程-云南华广新技术开发有限公司">
            <a:extLst>
              <a:ext uri="{FF2B5EF4-FFF2-40B4-BE49-F238E27FC236}">
                <a16:creationId xmlns:a16="http://schemas.microsoft.com/office/drawing/2014/main" id="{4C0E9874-4743-2B3C-442A-807EA50EA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260" y="909320"/>
            <a:ext cx="7559038" cy="503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915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369C-7ED5-58C5-CADA-3704FB359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6EBAF-75F0-0439-14C7-282C548D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的特点</a:t>
            </a:r>
            <a:br>
              <a:rPr kumimoji="1" lang="e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85A5BC-777B-95AB-BE53-13FBB380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9845039" cy="4448174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一个用户可以同时启动多个连接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连接中断，则任务中断（有解决办法）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基于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TCP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连接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BEF62D-8A5A-EB3E-7E8E-078F6FCD3D64}"/>
              </a:ext>
            </a:extLst>
          </p:cNvPr>
          <p:cNvSpPr/>
          <p:nvPr/>
        </p:nvSpPr>
        <p:spPr>
          <a:xfrm>
            <a:off x="808383" y="3273287"/>
            <a:ext cx="2213113" cy="6228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0279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C4556-5E63-3687-230C-6364E8A2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0C991-D9F5-DB9A-CC2C-90F3059A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连接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4FADC8-EC87-4627-3E1A-029DE554A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9845039" cy="4448174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三次握手，四次挥手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可靠（确认、重传）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有序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无上限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慢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3074" name="Picture 2" descr="TCP三次握手和四次挥手 | 天赋创新的blog">
            <a:extLst>
              <a:ext uri="{FF2B5EF4-FFF2-40B4-BE49-F238E27FC236}">
                <a16:creationId xmlns:a16="http://schemas.microsoft.com/office/drawing/2014/main" id="{C9D993C9-0EEA-BC31-E330-5C7F51CC7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013" y="865542"/>
            <a:ext cx="7213285" cy="512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645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AB2D9-B6D5-430C-0781-67CB9F38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42D3C-25F2-4453-5B06-E75344DC4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连接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096F4B-5EF9-D511-EAD5-F93BBF206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9845039" cy="4448174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三次握手，四次挥手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可靠（确认、重传）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有序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无上限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慢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3074" name="Picture 2" descr="TCP三次握手和四次挥手 | 天赋创新的blog">
            <a:extLst>
              <a:ext uri="{FF2B5EF4-FFF2-40B4-BE49-F238E27FC236}">
                <a16:creationId xmlns:a16="http://schemas.microsoft.com/office/drawing/2014/main" id="{4C8A4A97-15EC-E5F1-EFF5-725B0D882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013" y="865542"/>
            <a:ext cx="7213285" cy="512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F55C043-7B08-28B4-31E6-5E3CDF090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072" y="1420598"/>
            <a:ext cx="6558792" cy="436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236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D991-A912-9A34-5F13-6C6FE160D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C9A0B-D555-400B-9CBA-96BD6D53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TCP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连接与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UDP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连接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1055DB-BA4F-B504-130C-771AEE96B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2745106"/>
            <a:ext cx="3992879" cy="3161918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三次握手，四次挥手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可靠（确认、重传）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有序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无上限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慢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AF9DDAB-5DA0-014D-2416-1721255143B1}"/>
              </a:ext>
            </a:extLst>
          </p:cNvPr>
          <p:cNvSpPr txBox="1">
            <a:spLocks/>
          </p:cNvSpPr>
          <p:nvPr/>
        </p:nvSpPr>
        <p:spPr>
          <a:xfrm>
            <a:off x="6690359" y="2745106"/>
            <a:ext cx="3992879" cy="316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无需建立连接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不可靠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无序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有上限（单次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64K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快，飞快，非常快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1C1E6C-62AC-36D5-68EB-56474AA213E0}"/>
              </a:ext>
            </a:extLst>
          </p:cNvPr>
          <p:cNvSpPr txBox="1"/>
          <p:nvPr/>
        </p:nvSpPr>
        <p:spPr>
          <a:xfrm>
            <a:off x="1982370" y="2028825"/>
            <a:ext cx="1125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TCP</a:t>
            </a:r>
            <a:endParaRPr lang="zh-CN" altLang="en-US" sz="3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0FB72E-44DA-1898-C107-8D7B6ED0669B}"/>
              </a:ext>
            </a:extLst>
          </p:cNvPr>
          <p:cNvSpPr txBox="1"/>
          <p:nvPr/>
        </p:nvSpPr>
        <p:spPr>
          <a:xfrm>
            <a:off x="8124090" y="2028824"/>
            <a:ext cx="1125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UDP</a:t>
            </a:r>
            <a:endParaRPr lang="zh-CN" altLang="en-US" sz="3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3BDC19-D772-9ED3-4EB0-88F3B702DA92}"/>
              </a:ext>
            </a:extLst>
          </p:cNvPr>
          <p:cNvSpPr txBox="1"/>
          <p:nvPr/>
        </p:nvSpPr>
        <p:spPr>
          <a:xfrm>
            <a:off x="4518935" y="4992624"/>
            <a:ext cx="17294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用谁？</a:t>
            </a:r>
            <a:endParaRPr lang="zh-CN" altLang="en-US" sz="4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700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72374-2F33-9D50-DA65-FBDFF7E7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72E22-8848-C920-7BD9-8918C8C4A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UDP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片 10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E5F4888D-FAAE-DDCD-CCED-9E8E7A180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345" y="1474660"/>
            <a:ext cx="9291309" cy="463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08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D27DC-8235-90A5-C3A1-8AF705B0E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C77AC288-2EC1-F198-802E-2F034AE495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842"/>
          <a:stretch/>
        </p:blipFill>
        <p:spPr>
          <a:xfrm>
            <a:off x="1639468" y="1189780"/>
            <a:ext cx="7717892" cy="4896457"/>
          </a:xfrm>
          <a:prstGeom prst="rect">
            <a:avLst/>
          </a:prstGeom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543E5441-BD84-3FA2-FB3A-D20DF6F2A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</p:spPr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UDP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梗图</a:t>
            </a:r>
          </a:p>
        </p:txBody>
      </p:sp>
    </p:spTree>
    <p:extLst>
      <p:ext uri="{BB962C8B-B14F-4D97-AF65-F5344CB8AC3E}">
        <p14:creationId xmlns:p14="http://schemas.microsoft.com/office/powerpoint/2010/main" val="2555402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7BDF-91FE-F025-6D27-54BE826BE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33E2299F-77AB-67A6-5904-ACD5868C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</p:spPr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梗图</a:t>
            </a:r>
          </a:p>
        </p:txBody>
      </p:sp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DDF4B9D-B18F-4486-A380-887D541E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04" b="44553"/>
          <a:stretch/>
        </p:blipFill>
        <p:spPr>
          <a:xfrm>
            <a:off x="2818025" y="732120"/>
            <a:ext cx="6555949" cy="599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18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EBCA5-F1A9-2945-6022-13D3B777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形用户界面, 文本&#10;&#10;AI 生成的内容可能不正确。">
            <a:extLst>
              <a:ext uri="{FF2B5EF4-FFF2-40B4-BE49-F238E27FC236}">
                <a16:creationId xmlns:a16="http://schemas.microsoft.com/office/drawing/2014/main" id="{279608C9-7CC1-9055-F81F-A7EE6752F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88" y="1536771"/>
            <a:ext cx="11567024" cy="356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055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75CE5-BF4C-6329-FCF1-CC62895E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F7D7BC6E-EB60-5747-E7B2-F0A012F8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</p:spPr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身份验证的主要方式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C70D9FB-4F72-AA0A-8E29-C28DD8BBF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9845039" cy="444817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密码验证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用户名 </a:t>
            </a:r>
            <a:r>
              <a:rPr lang="en-US" altLang="zh-CN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  <a:sym typeface="Wingdings" pitchFamily="2" charset="2"/>
              </a:rPr>
              <a:t>&lt;--&gt;</a:t>
            </a:r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密码  </a:t>
            </a:r>
            <a:r>
              <a:rPr lang="en-US" altLang="zh-CN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&lt;--</a:t>
            </a:r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对应</a:t>
            </a:r>
            <a:endParaRPr lang="en-US" altLang="zh-CN" sz="24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最常见、默认支持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安全性低，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可以被爆破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9994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B8891-3847-E243-EC1B-D0966AE8F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48327683-9CEE-B6DA-E2AB-5C4E325E3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</p:spPr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身份验证的主要方式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B05B1D7-1800-B745-BFF5-089DCB9F3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9845039" cy="444817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公钥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私钥验证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私钥：自己持有</a:t>
            </a:r>
            <a:r>
              <a:rPr lang="en-US" altLang="zh-CN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钥匙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公钥：放置在自己要去的地方</a:t>
            </a:r>
            <a:r>
              <a:rPr lang="en-US" altLang="zh-CN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锁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是一种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非对称</a:t>
            </a:r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加密方式</a:t>
            </a:r>
            <a:endParaRPr lang="en-US" altLang="zh-CN" sz="24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1493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F5241-7120-546A-224E-6DB2B090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F0D9A058-86E2-9936-4D48-6FF87138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</p:spPr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对称加密 与 非对称加密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F3B91E0-2F56-C2F1-686C-CBEA8A1E3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9845039" cy="4448174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对称加密：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两端持有相同密钥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速度快、算法简单</a:t>
            </a:r>
            <a:endParaRPr lang="en-US" altLang="zh-CN" sz="24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扩展性差，需要传输密钥</a:t>
            </a:r>
            <a:endParaRPr lang="en-US" altLang="zh-CN" sz="24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非对称加密：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分公钥</a:t>
            </a:r>
            <a:r>
              <a:rPr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私钥，公钥可以给任何人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优缺点与对称加密相反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5D8084-0936-9BA7-4854-4E6B9AEC0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840" y="1933214"/>
            <a:ext cx="6189458" cy="299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6427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885E9-354A-FF3B-C358-94548E92D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C0A0DB73-F380-B1BD-83CD-FAD6BC2D8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</p:spPr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对称加密 与 非对称加密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284CC3C-16EC-1082-3FDA-DF6F29F28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9845039" cy="4448174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对称加密：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两端持有相同密钥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速度快、算法简单</a:t>
            </a:r>
            <a:endParaRPr lang="en-US" altLang="zh-CN" sz="24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扩展性差，需要传输密钥</a:t>
            </a:r>
            <a:endParaRPr lang="en-US" altLang="zh-CN" sz="24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非对称加密：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分公钥</a:t>
            </a:r>
            <a:r>
              <a:rPr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私钥，公钥可以给任何人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优缺点与对称加密相反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F77C354-C2D0-2902-86B0-157005F5B1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09"/>
          <a:stretch/>
        </p:blipFill>
        <p:spPr bwMode="auto">
          <a:xfrm>
            <a:off x="6079834" y="1994189"/>
            <a:ext cx="5464464" cy="433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DDB41-7565-0D05-C224-F817E7E3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FA103-20FA-0837-7898-0257A2D6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用哪种登录方式？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8F1164-21C2-0746-A5AE-1B01CFDF2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2745106"/>
            <a:ext cx="3992879" cy="3161918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初学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临时访问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懒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公用设备（设备受限）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83D834F-CEAD-FCC7-05CE-687A98A20E61}"/>
              </a:ext>
            </a:extLst>
          </p:cNvPr>
          <p:cNvSpPr txBox="1">
            <a:spLocks/>
          </p:cNvSpPr>
          <p:nvPr/>
        </p:nvSpPr>
        <p:spPr>
          <a:xfrm>
            <a:off x="6690359" y="2745106"/>
            <a:ext cx="4853939" cy="316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自用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不用输入密码（无感登录）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自动化流程（脚本）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多设备工作场景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E47987-0A1A-4589-B5E2-6B5945D6C27F}"/>
              </a:ext>
            </a:extLst>
          </p:cNvPr>
          <p:cNvSpPr txBox="1"/>
          <p:nvPr/>
        </p:nvSpPr>
        <p:spPr>
          <a:xfrm>
            <a:off x="1617408" y="2028823"/>
            <a:ext cx="18553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密码登录</a:t>
            </a:r>
            <a:endParaRPr lang="zh-CN" altLang="en-US" sz="3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B5425F-379A-3B04-6C1D-D253ACB071DE}"/>
              </a:ext>
            </a:extLst>
          </p:cNvPr>
          <p:cNvSpPr txBox="1"/>
          <p:nvPr/>
        </p:nvSpPr>
        <p:spPr>
          <a:xfrm>
            <a:off x="7567243" y="2048737"/>
            <a:ext cx="2239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公钥</a:t>
            </a:r>
            <a:r>
              <a:rPr lang="en-US" altLang="zh-CN" sz="32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私钥</a:t>
            </a:r>
          </a:p>
        </p:txBody>
      </p:sp>
    </p:spTree>
    <p:extLst>
      <p:ext uri="{BB962C8B-B14F-4D97-AF65-F5344CB8AC3E}">
        <p14:creationId xmlns:p14="http://schemas.microsoft.com/office/powerpoint/2010/main" val="99668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7FA19-90B3-B345-9C72-3D2B414DC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04B34-6476-B596-E6EA-43281A26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注意事项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A3B26E8-B988-D0DF-E757-FB31A6423091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需要连接校园网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推荐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BUAA-WIFI</a:t>
            </a:r>
          </a:p>
          <a:p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不推荐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BUAA-mobile</a:t>
            </a:r>
          </a:p>
        </p:txBody>
      </p:sp>
    </p:spTree>
    <p:extLst>
      <p:ext uri="{BB962C8B-B14F-4D97-AF65-F5344CB8AC3E}">
        <p14:creationId xmlns:p14="http://schemas.microsoft.com/office/powerpoint/2010/main" val="38182373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D6A6D-EBD8-1310-EFEF-C759D59AB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F6DED-0090-4FB4-D0B3-DF089E2B3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特殊功能指令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7061852-D1A4-FDC8-454C-DD606AE3A31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终止命令（与复制粘贴冲突）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退出终端（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exit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清屏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光标跳到行首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 e 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光标跳到行尾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z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暂停任务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删除整行，可用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替代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删除一个词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08820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E0BA2-DDCF-A9B9-E68C-D055C3CB0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F1005-D3C3-DF91-1F8E-2323E9003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命令行的输入方式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299921C-8908-9D01-DBC5-EB8D87FE10F2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空格分隔指令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多个空格效果与一个空格相同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大小写敏感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单双引号有区别（遇到时再讲）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5.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#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后内容为注释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6. Tab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键补全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7.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效果直接，很少有提示和后悔药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72537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D3040-CBE0-B45D-4B9A-6BA08DA26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E26C9-1A95-0302-085F-C995F385F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光标现在在哪里？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315741-442C-4777-DBC2-E9AC17485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968" y="2028825"/>
            <a:ext cx="8728064" cy="30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83212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2"/>
      </a:lt2>
      <a:accent1>
        <a:srgbClr val="D73864"/>
      </a:accent1>
      <a:accent2>
        <a:srgbClr val="C62794"/>
      </a:accent2>
      <a:accent3>
        <a:srgbClr val="C738D7"/>
      </a:accent3>
      <a:accent4>
        <a:srgbClr val="7327C6"/>
      </a:accent4>
      <a:accent5>
        <a:srgbClr val="4238D7"/>
      </a:accent5>
      <a:accent6>
        <a:srgbClr val="275FC6"/>
      </a:accent6>
      <a:hlink>
        <a:srgbClr val="7158C7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1029</Words>
  <Application>Microsoft Macintosh PowerPoint</Application>
  <PresentationFormat>宽屏</PresentationFormat>
  <Paragraphs>226</Paragraphs>
  <Slides>43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-apple-system</vt:lpstr>
      <vt:lpstr>等线</vt:lpstr>
      <vt:lpstr>SimHei</vt:lpstr>
      <vt:lpstr>Microsoft YaHei</vt:lpstr>
      <vt:lpstr>Amasis MT Pro Medium</vt:lpstr>
      <vt:lpstr>Arial</vt:lpstr>
      <vt:lpstr>Univers Light</vt:lpstr>
      <vt:lpstr>TribuneVTI</vt:lpstr>
      <vt:lpstr> Shell &amp; Command line</vt:lpstr>
      <vt:lpstr>Shell &amp; Terminal</vt:lpstr>
      <vt:lpstr>Shell &amp; Terminal</vt:lpstr>
      <vt:lpstr>Shell &amp; Terminal</vt:lpstr>
      <vt:lpstr>Shell &amp; Terminal</vt:lpstr>
      <vt:lpstr>Shell &amp; Terminal</vt:lpstr>
      <vt:lpstr>Shell &amp; Terminal</vt:lpstr>
      <vt:lpstr>Shell &amp; Terminal</vt:lpstr>
      <vt:lpstr>按键名称约定</vt:lpstr>
      <vt:lpstr>按键名称约定</vt:lpstr>
      <vt:lpstr>shell——root</vt:lpstr>
      <vt:lpstr>shell——普通用户</vt:lpstr>
      <vt:lpstr>Sudo梗图</vt:lpstr>
      <vt:lpstr>sudo梗图</vt:lpstr>
      <vt:lpstr>shell——提示符</vt:lpstr>
      <vt:lpstr>常用的shell</vt:lpstr>
      <vt:lpstr>常用的shell</vt:lpstr>
      <vt:lpstr>常用的shell</vt:lpstr>
      <vt:lpstr>常用的shell</vt:lpstr>
      <vt:lpstr>常用？的shell</vt:lpstr>
      <vt:lpstr>PowerPoint 演示文稿</vt:lpstr>
      <vt:lpstr>ssh —— Secure Shell </vt:lpstr>
      <vt:lpstr>ssh </vt:lpstr>
      <vt:lpstr>ssh客户端 </vt:lpstr>
      <vt:lpstr>ssh工具 </vt:lpstr>
      <vt:lpstr>ssh服务端 </vt:lpstr>
      <vt:lpstr>ssh的特点 </vt:lpstr>
      <vt:lpstr>TCP连接</vt:lpstr>
      <vt:lpstr>TCP连接</vt:lpstr>
      <vt:lpstr>TCP连接与UDP连接</vt:lpstr>
      <vt:lpstr>基于UDP的ssh</vt:lpstr>
      <vt:lpstr>UDP梗图</vt:lpstr>
      <vt:lpstr>梗图</vt:lpstr>
      <vt:lpstr>PowerPoint 演示文稿</vt:lpstr>
      <vt:lpstr>ssh身份验证的主要方式</vt:lpstr>
      <vt:lpstr>ssh身份验证的主要方式</vt:lpstr>
      <vt:lpstr>对称加密 与 非对称加密</vt:lpstr>
      <vt:lpstr>对称加密 与 非对称加密</vt:lpstr>
      <vt:lpstr>用哪种登录方式？</vt:lpstr>
      <vt:lpstr>注意事项</vt:lpstr>
      <vt:lpstr>特殊功能指令</vt:lpstr>
      <vt:lpstr>linux命令行的输入方式</vt:lpstr>
      <vt:lpstr>光标现在在哪里？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禺 刘</dc:creator>
  <cp:lastModifiedBy>禺 刘</cp:lastModifiedBy>
  <cp:revision>15</cp:revision>
  <dcterms:created xsi:type="dcterms:W3CDTF">2024-12-04T03:09:23Z</dcterms:created>
  <dcterms:modified xsi:type="dcterms:W3CDTF">2026-04-30T03:03:42Z</dcterms:modified>
</cp:coreProperties>
</file>