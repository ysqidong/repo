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379" r:id="rId3"/>
    <p:sldId id="382" r:id="rId4"/>
    <p:sldId id="381" r:id="rId5"/>
    <p:sldId id="383" r:id="rId6"/>
    <p:sldId id="384" r:id="rId7"/>
    <p:sldId id="385" r:id="rId8"/>
    <p:sldId id="386" r:id="rId9"/>
    <p:sldId id="395" r:id="rId10"/>
    <p:sldId id="394" r:id="rId11"/>
    <p:sldId id="396" r:id="rId12"/>
    <p:sldId id="391" r:id="rId13"/>
    <p:sldId id="392" r:id="rId14"/>
    <p:sldId id="393" r:id="rId15"/>
    <p:sldId id="387" r:id="rId16"/>
    <p:sldId id="388" r:id="rId17"/>
    <p:sldId id="38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5424"/>
  </p:normalViewPr>
  <p:slideViewPr>
    <p:cSldViewPr snapToGrid="0">
      <p:cViewPr varScale="1">
        <p:scale>
          <a:sx n="84" d="100"/>
          <a:sy n="84" d="100"/>
        </p:scale>
        <p:origin x="18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A010A-3114-D84D-9C6B-499D723EA456}" type="datetimeFigureOut">
              <a:rPr kumimoji="1" lang="zh-CN" altLang="en-US" smtClean="0"/>
              <a:t>2026/4/30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FFA97-679F-8F4B-81CD-CAE110370F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710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4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8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2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0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2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4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4/30/26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0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youtu.be/c6vjFQBlxv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42768F-95BB-478A-ADFA-24FD8097F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CA2F1-2F4D-77DD-E04F-BDBEFCBB8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931" b="1381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2"/>
            <a:ext cx="12191999" cy="4360983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61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Ligh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A60BDE-818F-53DF-E273-26133D059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952499"/>
            <a:ext cx="9603888" cy="2596605"/>
          </a:xfrm>
        </p:spPr>
        <p:txBody>
          <a:bodyPr>
            <a:noAutofit/>
          </a:bodyPr>
          <a:lstStyle/>
          <a:p>
            <a: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b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zh-CN" altLang="en-US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一种编辑器</a:t>
            </a:r>
            <a:br>
              <a:rPr kumimoji="1" lang="en-US" altLang="zh-CN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zh-CN" altLang="en-US" sz="60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或者一种生活方式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105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DC22C-5254-A3ED-6705-029FD1C0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A544D-9E53-23B5-F5FD-7998E7A2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DC3C6DA-54CB-64DB-6CB9-2A7F61BCA2E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5DD5AF6-AB4D-5925-25DB-49199E8A52E0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E938D-159F-870F-4A60-CB3A5DDDD4D7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  <a:hlinkClick r:id="rId2"/>
              </a:rPr>
              <a:t>https://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  <a:hlinkClick r:id="rId2"/>
              </a:rPr>
              <a:t>youtu.be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  <a:hlinkClick r:id="rId2"/>
              </a:rPr>
              <a:t>/c6vjFQBlxvY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373F97-ADED-36F3-827E-31B1583FF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075" y="2743200"/>
            <a:ext cx="610504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61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7A8F-42ED-9C4D-0551-CC03A0EA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658DE-3697-4B85-7EBB-88DFBC12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的操作逻辑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231F795-5E9A-2F85-4470-761D3B14676F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EE05A80-83A6-08C1-D982-4C1D61BBFD86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B5A032-E718-89F1-E83F-4195AF1AD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496" y="710015"/>
            <a:ext cx="4101008" cy="547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810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2DB92-A1AC-C066-4F79-7BF1F427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510AC-C2F0-27D3-9DEB-56473061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退出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EEBDE89-DF49-7183-23DE-18C33F929F07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DC9717C-EB4C-1ADB-9E99-55170E915689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片 5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6A163292-0230-BF00-D8AB-67CC503C2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18" y="1000850"/>
            <a:ext cx="7772400" cy="390684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5541DBC-B55A-AAA9-9C0B-FE7092E29ADC}"/>
              </a:ext>
            </a:extLst>
          </p:cNvPr>
          <p:cNvSpPr txBox="1"/>
          <p:nvPr/>
        </p:nvSpPr>
        <p:spPr>
          <a:xfrm>
            <a:off x="789292" y="5060099"/>
            <a:ext cx="8881650" cy="169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i="0" u="none" strike="noStrike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每</a:t>
            </a:r>
            <a:r>
              <a:rPr lang="en-US" altLang="zh-CN" sz="2400" b="1" i="0" u="none" strike="noStrike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20000</a:t>
            </a:r>
            <a:r>
              <a:rPr lang="zh-CN" altLang="en-US" sz="2400" b="1" i="0" u="none" strike="noStrike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次访问就有一次是查看这个问题</a:t>
            </a:r>
            <a:endParaRPr lang="en-US" altLang="zh-CN" sz="2400" b="1" i="0" u="none" strike="noStrike" dirty="0">
              <a:solidFill>
                <a:srgbClr val="FF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i="0" u="none" strike="noStrike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工作日流量高峰时间，每小时就有</a:t>
            </a:r>
            <a:r>
              <a:rPr lang="en-US" altLang="zh-CN" sz="2400" b="1" i="0" u="none" strike="noStrike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80</a:t>
            </a:r>
            <a:r>
              <a:rPr lang="zh-CN" altLang="en-US" sz="2400" b="1" i="0" u="none" strike="noStrike" dirty="0">
                <a:solidFill>
                  <a:srgbClr val="FF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个人遇到了这个问题</a:t>
            </a:r>
            <a:endParaRPr lang="en-US" altLang="zh-CN" sz="2400" b="1" i="0" u="none" strike="noStrike" dirty="0">
              <a:solidFill>
                <a:srgbClr val="FF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i="0" u="none" strike="noStrike" dirty="0">
                <a:solidFill>
                  <a:srgbClr val="FF0000"/>
                </a:solidFill>
                <a:effectLst/>
                <a:latin typeface="-webkit-standard"/>
              </a:rPr>
              <a:t>这个提问被浏览了超过</a:t>
            </a:r>
            <a:r>
              <a:rPr lang="en-US" altLang="zh-CN" sz="2400" b="1" i="0" u="none" strike="noStrike" dirty="0">
                <a:solidFill>
                  <a:srgbClr val="FF0000"/>
                </a:solidFill>
                <a:effectLst/>
                <a:latin typeface="-webkit-standard"/>
              </a:rPr>
              <a:t>100</a:t>
            </a:r>
            <a:r>
              <a:rPr lang="zh-CN" altLang="en-US" sz="2400" b="1" i="0" u="none" strike="noStrike" dirty="0">
                <a:solidFill>
                  <a:srgbClr val="FF0000"/>
                </a:solidFill>
                <a:effectLst/>
                <a:latin typeface="-webkit-standard"/>
              </a:rPr>
              <a:t>万次</a:t>
            </a:r>
            <a:endParaRPr lang="en-US" altLang="zh-CN" sz="2400" b="1" i="0" u="none" strike="noStrike" dirty="0">
              <a:solidFill>
                <a:srgbClr val="FF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9671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29285-1A45-30E0-37D9-579BC9AA8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160DF-D826-CA7F-5110-244B552E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的几种模式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DF6B399-5758-F990-C150-5273A7DE811A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0AC0BB3D-E907-04A1-67FA-621C82CE8379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904D41-48E1-7559-063F-CD4FE2C66E38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普通模式（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NORMAL MODE)</a:t>
            </a: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不可输入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能够执行命令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默认模式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4635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D2E9A-1170-C14D-ECEE-05D1E0D1F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FE6A3-DC47-B792-5C84-B6DA6F4AE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的几种模式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0966968-4426-C5E8-B78D-1CC9AB2EA06E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81B4A95-BB8E-C5F8-2066-4857E940FA21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1CC192-6BC3-153C-433F-7A3A773D4173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普通模式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插入模式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(INSERT MODE)</a:t>
            </a:r>
          </a:p>
          <a:p>
            <a:pPr lvl="2"/>
            <a:r>
              <a:rPr lang="zh-CN" altLang="en-US" sz="24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用于输入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使用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i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o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s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等指令进入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esc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返回普通模式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48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C462-F069-0B64-09CE-38D638F6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A7D08-270F-4127-7D04-215F144C4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的几种模式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5975860-9C60-62D9-E29B-664BFA43F30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7A7C5BB-3529-C7A9-2924-5A9BE7A234FD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F15EEB-0CB0-429D-857D-0C53A52365D0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普通模式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插入模式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命令模式（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COMMAND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MODE)</a:t>
            </a: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普通模式下，使用：进入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执行一次性命令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:q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:set number …</a:t>
            </a:r>
          </a:p>
        </p:txBody>
      </p:sp>
    </p:spTree>
    <p:extLst>
      <p:ext uri="{BB962C8B-B14F-4D97-AF65-F5344CB8AC3E}">
        <p14:creationId xmlns:p14="http://schemas.microsoft.com/office/powerpoint/2010/main" val="2382001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108B8-BE8A-3986-3080-58BF9657D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E6AB3-AB75-724B-3CC2-6A490C1F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的几种模式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7F731D9-DA6B-180C-E516-C00954C3DB41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667F9DF-0238-97AF-C817-1A62984CB8D5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57EDC6-F61E-155D-5413-2EF922B82D60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普通模式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2.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插入模式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3.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命令模式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4.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可视模式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普通模式下使用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v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shift+v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、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ctrl+v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进入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批量选中，类似于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word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的鼠标涂蓝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1999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545F-1182-8459-0265-821786E4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06CFDC-F008-127D-2F53-861677C2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的常规操作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0515347-6AFA-40A3-C001-0098E97A101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397B177-15BF-834B-DBB8-76DD56EE1475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2052DE-2378-DA8D-4D4D-58DBBFB9CA42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0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行首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$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行尾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8612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43DE-8352-52FB-0B7A-FC25C7AC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61B03-E389-0F0D-BCCB-6C6733E1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的常规操作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620509F-5B1B-4032-1B2C-C8692FFBC6C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D099072-3BA0-5B23-925B-51CF9C4247C9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10702-0CEE-93EB-025E-E39CA51FD69F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后插入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行尾插入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i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前插入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I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行首插入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o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下插入一行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O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上插入一行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0493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549F-0E09-03A0-A213-95F245D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ACDEC-E8E8-49D4-563F-48805FA12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的常规操作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CE1467D-C0AB-F91D-3211-B4C7B5DCD268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B73F737-326F-F77A-8630-91BB08AD0C20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4082F0-BB7C-9492-44D4-503421C2D36A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:q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退出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:w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保存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: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wq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保存退出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:q!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不保存强制退出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1362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2605-3C3B-8D6D-A3C7-D1ECEB91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BD8C9-AC39-C29A-CE34-D952F32EA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的常规操作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410ABAF-91D8-8A4D-2799-04409681CF98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F8316FC-43CB-F969-AE67-D2F2544CE678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B6308B-BB97-4BDD-BD17-B5C0732DC69B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10802619" cy="4448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w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一个单词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d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删除 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D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删除此行后续所有内容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c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删除后进入插入模式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 /  C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删除此行后续所有内容后进入插入模式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s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删除当前字符进入插入模式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f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向后搜索并移动光标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. 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重做上一个动作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数字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命令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3147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9C4DA-F99A-2494-1C81-7C386164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4C029-4B30-B842-BEB6-DC52E468B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的常规操作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F9C401B-80BB-7442-5051-1BFAF1D0BD76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71F6C50-C049-0264-D1A0-99914864F368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91A4B6-6ADD-D90D-7752-F16152A780E4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y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复制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粘贴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P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向前（向上）粘贴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yyp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4594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752E-EDD3-6F12-B1E0-6CC8B66D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AFB59-FD23-4729-555C-A15B2E0D1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的常规操作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DCEB349-F9C0-082B-F71B-E9B8A46303C8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08F7108-F002-F7F8-37DF-0BF5F965A5A9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C58587-B7BA-54F5-295B-507A2540B39D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数字加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x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数字减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1</a:t>
            </a: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数字 </a:t>
            </a:r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 命令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8580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0A5BD-B81E-D142-61D1-9578A9F7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8BAB5-03E9-AB1B-ACC3-D7918C8B7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的配置文件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0845E06-1F6C-D980-D651-A989BF889B4D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E5E298A-0A40-2B8D-96E4-ACB1C40FF70B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766B32-2E61-1A4A-7F43-223E642B99FA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.</a:t>
            </a:r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vimrc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2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command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 err="1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vimL</a:t>
            </a:r>
            <a:endParaRPr lang="en-US" altLang="zh-CN" sz="24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vimL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vim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的编程配置语言，也叫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vimscript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lvl="1"/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能够书写插件，配置复杂的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vim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能力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724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53B3D-F968-DCF3-A544-5EF45C98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FFFC5-A2E2-EA08-5276-308C9D07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的查找和替换功能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A49D8DC-E041-DF18-ED74-BD84709E469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20B215F-C66C-6A3B-D598-8714640F3E2E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7064A5-E929-D959-1FE5-4853EE7F93C9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en-US" altLang="zh-CN" sz="2400" b="1" dirty="0" err="1">
                <a:latin typeface="SimHei" panose="02010609060101010101" pitchFamily="49" charset="-122"/>
                <a:ea typeface="SimHei" panose="02010609060101010101" pitchFamily="49" charset="-122"/>
              </a:rPr>
              <a:t>text_to_search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:s/old/new/g</a:t>
            </a:r>
          </a:p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配合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V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模式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4834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FEDAB-B5E0-BCE2-8192-E69A678A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71E900-BF16-576A-5633-95E349526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vim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的宏功能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0422259-5FE2-5503-4AAD-764D3F36F065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FA0DB07-2877-0847-13F8-0D5F37105527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3B414C-4FB0-B8FD-95E8-3EF4B1A5687D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q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（小写）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寄存器名称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		-&gt; 	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开启录制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再次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q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（小写）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			-&gt; 	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结束录制</a:t>
            </a:r>
            <a:endParaRPr lang="en-US" altLang="zh-CN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7205143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2"/>
      </a:lt2>
      <a:accent1>
        <a:srgbClr val="D73864"/>
      </a:accent1>
      <a:accent2>
        <a:srgbClr val="C62794"/>
      </a:accent2>
      <a:accent3>
        <a:srgbClr val="C738D7"/>
      </a:accent3>
      <a:accent4>
        <a:srgbClr val="7327C6"/>
      </a:accent4>
      <a:accent5>
        <a:srgbClr val="4238D7"/>
      </a:accent5>
      <a:accent6>
        <a:srgbClr val="275FC6"/>
      </a:accent6>
      <a:hlink>
        <a:srgbClr val="7158C7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4522</TotalTime>
  <Words>431</Words>
  <Application>Microsoft Macintosh PowerPoint</Application>
  <PresentationFormat>宽屏</PresentationFormat>
  <Paragraphs>83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-webkit-standard</vt:lpstr>
      <vt:lpstr>等线</vt:lpstr>
      <vt:lpstr>SimHei</vt:lpstr>
      <vt:lpstr>Microsoft YaHei</vt:lpstr>
      <vt:lpstr>Amasis MT Pro Medium</vt:lpstr>
      <vt:lpstr>Arial</vt:lpstr>
      <vt:lpstr>Univers Light</vt:lpstr>
      <vt:lpstr>TribuneVTI</vt:lpstr>
      <vt:lpstr>Vim 一种编辑器 或者一种生活方式</vt:lpstr>
      <vt:lpstr>vim &amp; vi</vt:lpstr>
      <vt:lpstr>vim的操作逻辑</vt:lpstr>
      <vt:lpstr>退出vim</vt:lpstr>
      <vt:lpstr>vim的几种模式</vt:lpstr>
      <vt:lpstr>vim的几种模式</vt:lpstr>
      <vt:lpstr>vim的几种模式</vt:lpstr>
      <vt:lpstr>vim的几种模式</vt:lpstr>
      <vt:lpstr>vim的常规操作</vt:lpstr>
      <vt:lpstr>vim的常规操作</vt:lpstr>
      <vt:lpstr>vim的常规操作</vt:lpstr>
      <vt:lpstr>vim的常规操作</vt:lpstr>
      <vt:lpstr>vim的常规操作</vt:lpstr>
      <vt:lpstr>vim的常规操作</vt:lpstr>
      <vt:lpstr>vim的配置文件</vt:lpstr>
      <vt:lpstr>vim的查找和替换功能</vt:lpstr>
      <vt:lpstr>vim的宏功能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禺 刘</dc:creator>
  <cp:lastModifiedBy>禺 刘</cp:lastModifiedBy>
  <cp:revision>46</cp:revision>
  <dcterms:created xsi:type="dcterms:W3CDTF">2024-12-04T03:09:23Z</dcterms:created>
  <dcterms:modified xsi:type="dcterms:W3CDTF">2026-04-30T03:04:52Z</dcterms:modified>
</cp:coreProperties>
</file>