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1"/>
  </p:notesMasterIdLst>
  <p:sldIdLst>
    <p:sldId id="256" r:id="rId2"/>
    <p:sldId id="379" r:id="rId3"/>
    <p:sldId id="258" r:id="rId4"/>
    <p:sldId id="259" r:id="rId5"/>
    <p:sldId id="261" r:id="rId6"/>
    <p:sldId id="267" r:id="rId7"/>
    <p:sldId id="268" r:id="rId8"/>
    <p:sldId id="269" r:id="rId9"/>
    <p:sldId id="270" r:id="rId10"/>
    <p:sldId id="283" r:id="rId11"/>
    <p:sldId id="271" r:id="rId12"/>
    <p:sldId id="272" r:id="rId13"/>
    <p:sldId id="282" r:id="rId14"/>
    <p:sldId id="273" r:id="rId15"/>
    <p:sldId id="279" r:id="rId16"/>
    <p:sldId id="275" r:id="rId17"/>
    <p:sldId id="281" r:id="rId18"/>
    <p:sldId id="274" r:id="rId19"/>
    <p:sldId id="280" r:id="rId20"/>
    <p:sldId id="260" r:id="rId21"/>
    <p:sldId id="284" r:id="rId22"/>
    <p:sldId id="407" r:id="rId23"/>
    <p:sldId id="406" r:id="rId24"/>
    <p:sldId id="380" r:id="rId25"/>
    <p:sldId id="382" r:id="rId26"/>
    <p:sldId id="383" r:id="rId27"/>
    <p:sldId id="381" r:id="rId28"/>
    <p:sldId id="408" r:id="rId29"/>
    <p:sldId id="384" r:id="rId30"/>
    <p:sldId id="394" r:id="rId31"/>
    <p:sldId id="386" r:id="rId32"/>
    <p:sldId id="388" r:id="rId33"/>
    <p:sldId id="387" r:id="rId34"/>
    <p:sldId id="389" r:id="rId35"/>
    <p:sldId id="385" r:id="rId36"/>
    <p:sldId id="390" r:id="rId37"/>
    <p:sldId id="391" r:id="rId38"/>
    <p:sldId id="392" r:id="rId39"/>
    <p:sldId id="395" r:id="rId40"/>
    <p:sldId id="396" r:id="rId41"/>
    <p:sldId id="397" r:id="rId42"/>
    <p:sldId id="398" r:id="rId43"/>
    <p:sldId id="399" r:id="rId44"/>
    <p:sldId id="400" r:id="rId45"/>
    <p:sldId id="401" r:id="rId46"/>
    <p:sldId id="402" r:id="rId47"/>
    <p:sldId id="403" r:id="rId48"/>
    <p:sldId id="404" r:id="rId49"/>
    <p:sldId id="405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7230"/>
    <p:restoredTop sz="95424"/>
  </p:normalViewPr>
  <p:slideViewPr>
    <p:cSldViewPr snapToGrid="0">
      <p:cViewPr varScale="1">
        <p:scale>
          <a:sx n="42" d="100"/>
          <a:sy n="42" d="100"/>
        </p:scale>
        <p:origin x="176" y="2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A010A-3114-D84D-9C6B-499D723EA456}" type="datetimeFigureOut">
              <a:rPr kumimoji="1" lang="zh-CN" altLang="en-US" smtClean="0"/>
              <a:t>2025/4/14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FFA97-679F-8F4B-81CD-CAE110370F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7107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5666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F467-91E0-E137-05AC-6E42E84D9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B3EAB0-4EB4-2550-1918-F9DA08C27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609E4D-29C1-8983-6DA9-1883E0D68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A02F6A-E90F-8EA7-6ACD-BA092759C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5461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AAB78-2807-C331-5BE7-E925B8677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BF401C-1CDA-3DB4-17A2-889020382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B7F6BE-3C6B-AC5E-166A-0671DC494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910472-B14E-6ED9-B486-5E848261A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6131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596F4-7A91-EF21-6333-B10D464C4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E5FD76-4B64-F3EE-4019-B464568CF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6688CF-16EE-32B7-C4E4-ECE222E69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E4F6EB-B302-0C05-F561-B48208656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670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A8C88-63F0-2ABF-7FB2-94023DA8A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EC74CA-2766-8E50-7566-546BAA061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D29879-DB00-8BB4-3F0C-D19717EEB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3510BE-40F7-1425-3136-ECD2B26AC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3287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41BB9-FC58-7E19-37A2-CB20177C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68BDE6-82E5-3FB6-C9FE-E7FF58FFA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831015-8F7E-4D86-BCE9-F48E153D5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E723AB-C572-8A8F-20C3-69702B330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2561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EB3E2-CEBB-53DD-16B5-E84E96A9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94E43D-F04F-153C-5ECC-02DB8482A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E16AEB-2432-9949-F459-9B7B40323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9D1B45-CDAD-6369-06CC-6A53D2BD2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8503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A289A-0D81-465D-376D-39A4AA56C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B8C8F0-FDBB-005A-3B1C-0027BDA93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4909CC-92C3-7F79-396D-33B270A0C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F9FB19-DA96-33CE-4087-F9BE70A7E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7149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3DB86-3DF8-6040-2E07-DAD6A09F3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A04FBB-D7E1-4E78-19C8-0BA5973BB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665156-2DAE-F434-F1A6-FA55141A2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C4F8E6-AB70-928D-2D1A-F86AEB987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080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D96A-9B6A-7D3B-01A9-0CEEEC7A1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49A172-60AF-11DD-A5B8-52945C61B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B52934-75B8-B1FA-9CA5-24FC9AF42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8C7E5C-4A7C-2E4B-6565-794AFAF6C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3570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61767-B291-FF8F-696B-D077F1928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5EB413-0B2D-16DD-DB52-8562EE612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F23B77-C1ED-9D70-0588-FAE930142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D6D349-C281-9E23-25B6-B5F26980B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7684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25DDF-DAF4-B80B-51C7-1807ECA13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A9E727-FAE6-157F-D0FB-2F6F32F4D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A38A4C-F02E-5B92-0527-87853FE94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88A9BA-83A3-D13D-B094-F43E70A8E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26022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80183-0276-A9F5-1626-2526E3C03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EF2EA2-C7F7-0E54-8476-B8471F3F6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79F395-552C-9922-3379-74E0AE860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AFEEA4-A8E1-E330-28C9-79FCDC52D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9978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0B1FE-6950-6E3B-9077-8B5B3B629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1F3EDA-69D4-D845-F29E-043A99482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E221EA-404E-C8CB-0DDE-DFB9980A5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118579-FF0A-1325-2A4F-F5365DE9F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2042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4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8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2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0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6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7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52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2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5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4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4/14/25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90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42768F-95BB-478A-ADFA-24FD8097F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CA2F1-2F4D-77DD-E04F-BDBEFCBB80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31" b="13819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2"/>
            <a:ext cx="12191999" cy="4360983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61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A60BDE-818F-53DF-E273-26133D059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1" y="952500"/>
            <a:ext cx="9603888" cy="1535114"/>
          </a:xfrm>
        </p:spPr>
        <p:txBody>
          <a:bodyPr>
            <a:noAutofit/>
          </a:bodyPr>
          <a:lstStyle/>
          <a:p>
            <a:br>
              <a:rPr kumimoji="1" lang="en-US" altLang="zh-CN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1" lang="zh-CN" altLang="en-US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工具，好用的工具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105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DC22C-5254-A3ED-6705-029FD1C0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A544D-9E53-23B5-F5FD-7998E7A2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其他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DC3C6DA-54CB-64DB-6CB9-2A7F61BCA2EC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5DD5AF6-AB4D-5925-25DB-49199E8A52E0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CE938D-159F-870F-4A60-CB3A5DDDD4D7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apt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install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fish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zsh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9461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77DD4-02D7-E62E-5B73-3CEFE67BB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7FEDC-7BD5-4AD4-31C8-0E1BD5E8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trash-cli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300EC-C0FC-1B35-7A06-CC928120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57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kumimoji="1"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的命令行里，没有回收站</a:t>
            </a:r>
            <a:endParaRPr kumimoji="1"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没有，我们就造一个</a:t>
            </a:r>
            <a:endParaRPr kumimoji="1"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trash-put</a:t>
            </a:r>
          </a:p>
          <a:p>
            <a:r>
              <a:rPr kumimoji="1"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trash-empty</a:t>
            </a:r>
          </a:p>
          <a:p>
            <a:r>
              <a:rPr kumimoji="1"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trash-restore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997A5B-B2D5-798D-BF59-C7406586ABC0}"/>
              </a:ext>
            </a:extLst>
          </p:cNvPr>
          <p:cNvSpPr txBox="1"/>
          <p:nvPr/>
        </p:nvSpPr>
        <p:spPr>
          <a:xfrm>
            <a:off x="5393410" y="5383804"/>
            <a:ext cx="5660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NOTE</a:t>
            </a:r>
            <a:r>
              <a:rPr kumimoji="1" lang="zh-CN" alt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：不要</a:t>
            </a:r>
            <a:r>
              <a:rPr kumimoji="1" lang="en-US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alias</a:t>
            </a:r>
            <a:r>
              <a:rPr kumimoji="1" lang="zh-CN" alt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rm=trash-put</a:t>
            </a:r>
            <a:endParaRPr kumimoji="1" lang="zh-CN" altLang="en-US" sz="28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710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F8B04-8973-14B6-A9A0-671C3FC9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DB491D-07FF-E6DD-99D1-5B6300806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htop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 descr="图形用户界面&#10;&#10;AI 生成的内容可能不正确。">
            <a:extLst>
              <a:ext uri="{FF2B5EF4-FFF2-40B4-BE49-F238E27FC236}">
                <a16:creationId xmlns:a16="http://schemas.microsoft.com/office/drawing/2014/main" id="{8733FE39-31D6-8C83-031A-2AAB3A960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380" y="1548384"/>
            <a:ext cx="9711239" cy="46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96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77DD4-02D7-E62E-5B73-3CEFE67BB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7FEDC-7BD5-4AD4-31C8-0E1BD5E8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git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300EC-C0FC-1B35-7A06-CC928120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6557553" cy="4029074"/>
          </a:xfrm>
        </p:spPr>
        <p:txBody>
          <a:bodyPr>
            <a:normAutofit/>
          </a:bodyPr>
          <a:lstStyle/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一个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分布式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版本控制系统，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made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by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Linus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C28FDE-0F8D-8AAE-5450-07E1116EA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194" y="1783976"/>
            <a:ext cx="4386730" cy="3290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9B56547-2EFC-86CA-E3A5-688D0B38F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76" y="2528824"/>
            <a:ext cx="49403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125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CFA9B-F747-1AFE-7DE3-623572C71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0BC3F-D53D-01DB-5EF4-7EF10A0B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git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3557A5-7A3D-CB12-B7D9-C082E94EF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6143989" cy="4029074"/>
          </a:xfrm>
        </p:spPr>
        <p:txBody>
          <a:bodyPr>
            <a:norm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分支</a:t>
            </a:r>
            <a:r>
              <a:rPr kumimoji="1"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(branch)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代码可以被拆分成多个版本流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主分支：一般称为</a:t>
            </a:r>
            <a:r>
              <a:rPr kumimoji="1"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master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或</a:t>
            </a:r>
            <a:r>
              <a:rPr kumimoji="1"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main</a:t>
            </a: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其他分支：一般会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合并回主分支</a:t>
            </a:r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dev</a:t>
            </a:r>
          </a:p>
          <a:p>
            <a:pPr lvl="2"/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fix</a:t>
            </a:r>
          </a:p>
          <a:p>
            <a:pPr lvl="2"/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……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BCE34F4-2832-2A3B-E1E1-0E5C69BDD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973" y="1658577"/>
            <a:ext cx="4386730" cy="3290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880BAE0-7130-FB09-8101-6F86087326D1}"/>
              </a:ext>
            </a:extLst>
          </p:cNvPr>
          <p:cNvSpPr/>
          <p:nvPr/>
        </p:nvSpPr>
        <p:spPr>
          <a:xfrm>
            <a:off x="7010400" y="2496457"/>
            <a:ext cx="1654628" cy="161108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7D1671C-EF56-4CF5-AB8E-9823BC65B9E2}"/>
              </a:ext>
            </a:extLst>
          </p:cNvPr>
          <p:cNvGrpSpPr/>
          <p:nvPr/>
        </p:nvGrpSpPr>
        <p:grpSpPr>
          <a:xfrm>
            <a:off x="6289992" y="1844160"/>
            <a:ext cx="3618614" cy="3322585"/>
            <a:chOff x="6289992" y="1844160"/>
            <a:chExt cx="3618614" cy="332258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03D4F7E-B99A-F501-C766-4047717E6CD3}"/>
                </a:ext>
              </a:extLst>
            </p:cNvPr>
            <p:cNvSpPr/>
            <p:nvPr/>
          </p:nvSpPr>
          <p:spPr>
            <a:xfrm rot="19682456">
              <a:off x="8231621" y="3350138"/>
              <a:ext cx="77134" cy="4691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4961042-60AA-DEA8-C129-88667B545460}"/>
                </a:ext>
              </a:extLst>
            </p:cNvPr>
            <p:cNvSpPr/>
            <p:nvPr/>
          </p:nvSpPr>
          <p:spPr>
            <a:xfrm>
              <a:off x="8312771" y="3721372"/>
              <a:ext cx="181304" cy="18130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4210B5D-8627-1FCE-007D-A56068662C6D}"/>
                </a:ext>
              </a:extLst>
            </p:cNvPr>
            <p:cNvSpPr/>
            <p:nvPr/>
          </p:nvSpPr>
          <p:spPr>
            <a:xfrm rot="19682456">
              <a:off x="8545387" y="3818542"/>
              <a:ext cx="77134" cy="4691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04E70CC3-F1F4-500D-6C08-73735C0C4873}"/>
                </a:ext>
              </a:extLst>
            </p:cNvPr>
            <p:cNvSpPr/>
            <p:nvPr/>
          </p:nvSpPr>
          <p:spPr>
            <a:xfrm>
              <a:off x="8626537" y="4189776"/>
              <a:ext cx="181304" cy="18130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32D2472-7ABC-4FFC-4669-93B3F3C011DC}"/>
                </a:ext>
              </a:extLst>
            </p:cNvPr>
            <p:cNvSpPr/>
            <p:nvPr/>
          </p:nvSpPr>
          <p:spPr>
            <a:xfrm rot="19682456">
              <a:off x="8816571" y="4250147"/>
              <a:ext cx="77134" cy="4691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DF133-EA1D-7F7C-9A7A-64DB24FAD732}"/>
                </a:ext>
              </a:extLst>
            </p:cNvPr>
            <p:cNvSpPr/>
            <p:nvPr/>
          </p:nvSpPr>
          <p:spPr>
            <a:xfrm>
              <a:off x="8897721" y="4621381"/>
              <a:ext cx="181304" cy="18130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A0FFF06-9E74-DC52-99D7-917A6CDD5428}"/>
                </a:ext>
              </a:extLst>
            </p:cNvPr>
            <p:cNvSpPr/>
            <p:nvPr/>
          </p:nvSpPr>
          <p:spPr>
            <a:xfrm rot="19682456">
              <a:off x="7941986" y="3645388"/>
              <a:ext cx="77134" cy="4691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2365F1E-9197-0F8F-E5A4-E6A838BFC42B}"/>
                </a:ext>
              </a:extLst>
            </p:cNvPr>
            <p:cNvSpPr/>
            <p:nvPr/>
          </p:nvSpPr>
          <p:spPr>
            <a:xfrm>
              <a:off x="8023136" y="4016622"/>
              <a:ext cx="181304" cy="18130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D2A89E2-9112-E245-534E-E409AC3D34BD}"/>
                </a:ext>
              </a:extLst>
            </p:cNvPr>
            <p:cNvSpPr/>
            <p:nvPr/>
          </p:nvSpPr>
          <p:spPr>
            <a:xfrm rot="17082147">
              <a:off x="8387350" y="3912681"/>
              <a:ext cx="70978" cy="57150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281101E-FBD2-EAAC-5912-2A47F1FC85A9}"/>
                </a:ext>
              </a:extLst>
            </p:cNvPr>
            <p:cNvSpPr txBox="1"/>
            <p:nvPr/>
          </p:nvSpPr>
          <p:spPr>
            <a:xfrm>
              <a:off x="8403423" y="1844160"/>
              <a:ext cx="15051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highlight>
                    <a:srgbClr val="FFFF00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master</a:t>
              </a:r>
              <a:r>
                <a:rPr lang="zh-CN" altLang="en-US" b="1" dirty="0">
                  <a:solidFill>
                    <a:srgbClr val="FF0000"/>
                  </a:solidFill>
                  <a:highlight>
                    <a:srgbClr val="FFFF00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分支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4646906-817A-4673-2498-E0545314EE27}"/>
                </a:ext>
              </a:extLst>
            </p:cNvPr>
            <p:cNvSpPr txBox="1"/>
            <p:nvPr/>
          </p:nvSpPr>
          <p:spPr>
            <a:xfrm>
              <a:off x="6289992" y="4797413"/>
              <a:ext cx="10687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highlight>
                    <a:srgbClr val="FFFF00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dev</a:t>
              </a:r>
              <a:r>
                <a:rPr lang="zh-CN" altLang="en-US" b="1" dirty="0">
                  <a:solidFill>
                    <a:srgbClr val="FF0000"/>
                  </a:solidFill>
                  <a:highlight>
                    <a:srgbClr val="FFFF00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分支</a:t>
              </a:r>
            </a:p>
          </p:txBody>
        </p:sp>
        <p:sp>
          <p:nvSpPr>
            <p:cNvPr id="20" name="右箭头 19">
              <a:extLst>
                <a:ext uri="{FF2B5EF4-FFF2-40B4-BE49-F238E27FC236}">
                  <a16:creationId xmlns:a16="http://schemas.microsoft.com/office/drawing/2014/main" id="{5316E5C2-9118-FD8E-7E75-0E85396B23E1}"/>
                </a:ext>
              </a:extLst>
            </p:cNvPr>
            <p:cNvSpPr/>
            <p:nvPr/>
          </p:nvSpPr>
          <p:spPr>
            <a:xfrm rot="7902490">
              <a:off x="7880256" y="2514539"/>
              <a:ext cx="1036807" cy="41296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右箭头 20">
              <a:extLst>
                <a:ext uri="{FF2B5EF4-FFF2-40B4-BE49-F238E27FC236}">
                  <a16:creationId xmlns:a16="http://schemas.microsoft.com/office/drawing/2014/main" id="{69E39169-FDF1-7B7F-9251-B313E3BE87A9}"/>
                </a:ext>
              </a:extLst>
            </p:cNvPr>
            <p:cNvSpPr/>
            <p:nvPr/>
          </p:nvSpPr>
          <p:spPr>
            <a:xfrm rot="18693471">
              <a:off x="6923398" y="4037299"/>
              <a:ext cx="1036807" cy="41296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875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D8795-EA26-808A-838A-8F53FE595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F897D-38A2-4FF5-6CF9-0A28B31B3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git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2FD1D3-B3E5-9035-2FF7-6ACF86A83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6143989" cy="4029074"/>
          </a:xfrm>
        </p:spPr>
        <p:txBody>
          <a:bodyPr>
            <a:norm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代码合并（</a:t>
            </a:r>
            <a:r>
              <a:rPr kumimoji="1"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merge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不同分支合到一起，让接下来的节点拥有两个分支的所有代码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BD2358-E846-87A8-4E2B-92D58B1D2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973" y="1658577"/>
            <a:ext cx="4386730" cy="3290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DC64CD1-C41E-1301-071A-65FCE219EFE6}"/>
              </a:ext>
            </a:extLst>
          </p:cNvPr>
          <p:cNvSpPr/>
          <p:nvPr/>
        </p:nvSpPr>
        <p:spPr>
          <a:xfrm>
            <a:off x="7010400" y="2496457"/>
            <a:ext cx="1654628" cy="161108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CAC2FB0-0440-6BC2-2D4A-3B25EBCF96A5}"/>
              </a:ext>
            </a:extLst>
          </p:cNvPr>
          <p:cNvGrpSpPr/>
          <p:nvPr/>
        </p:nvGrpSpPr>
        <p:grpSpPr>
          <a:xfrm>
            <a:off x="6289992" y="1844160"/>
            <a:ext cx="3618614" cy="3322585"/>
            <a:chOff x="6289992" y="1844160"/>
            <a:chExt cx="3618614" cy="332258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54A2696-444F-2690-9D33-21C61788A543}"/>
                </a:ext>
              </a:extLst>
            </p:cNvPr>
            <p:cNvSpPr/>
            <p:nvPr/>
          </p:nvSpPr>
          <p:spPr>
            <a:xfrm rot="19682456">
              <a:off x="8231621" y="3350138"/>
              <a:ext cx="77134" cy="4691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D69AF3E-3501-3BDC-B967-B0FC59AB106B}"/>
                </a:ext>
              </a:extLst>
            </p:cNvPr>
            <p:cNvSpPr/>
            <p:nvPr/>
          </p:nvSpPr>
          <p:spPr>
            <a:xfrm>
              <a:off x="8312771" y="3721372"/>
              <a:ext cx="181304" cy="18130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60F3446-0B47-6686-35B6-D2F2F1919A44}"/>
                </a:ext>
              </a:extLst>
            </p:cNvPr>
            <p:cNvSpPr/>
            <p:nvPr/>
          </p:nvSpPr>
          <p:spPr>
            <a:xfrm rot="19682456">
              <a:off x="8545387" y="3818542"/>
              <a:ext cx="77134" cy="4691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F24B2EA2-3BB0-6330-0B84-7566D83F3A06}"/>
                </a:ext>
              </a:extLst>
            </p:cNvPr>
            <p:cNvSpPr/>
            <p:nvPr/>
          </p:nvSpPr>
          <p:spPr>
            <a:xfrm>
              <a:off x="8626537" y="4189776"/>
              <a:ext cx="181304" cy="18130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22E0CBF-1FF7-93A3-29D5-79EDB3E8898A}"/>
                </a:ext>
              </a:extLst>
            </p:cNvPr>
            <p:cNvSpPr/>
            <p:nvPr/>
          </p:nvSpPr>
          <p:spPr>
            <a:xfrm rot="19682456">
              <a:off x="8816571" y="4250147"/>
              <a:ext cx="77134" cy="4691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E7C1D8DB-C8B4-E62D-F957-68BED0F707A7}"/>
                </a:ext>
              </a:extLst>
            </p:cNvPr>
            <p:cNvSpPr/>
            <p:nvPr/>
          </p:nvSpPr>
          <p:spPr>
            <a:xfrm>
              <a:off x="8897721" y="4621381"/>
              <a:ext cx="181304" cy="18130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3CFAD6E-EBCE-C4A0-1826-2DC567C798D6}"/>
                </a:ext>
              </a:extLst>
            </p:cNvPr>
            <p:cNvSpPr/>
            <p:nvPr/>
          </p:nvSpPr>
          <p:spPr>
            <a:xfrm rot="19682456">
              <a:off x="7941986" y="3645388"/>
              <a:ext cx="77134" cy="4691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F8B4259D-E8A2-69BF-F69A-BC343C87DB0F}"/>
                </a:ext>
              </a:extLst>
            </p:cNvPr>
            <p:cNvSpPr/>
            <p:nvPr/>
          </p:nvSpPr>
          <p:spPr>
            <a:xfrm>
              <a:off x="8023136" y="4016622"/>
              <a:ext cx="181304" cy="18130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C91EC1E-2B94-6296-58CF-06548D4EA3AE}"/>
                </a:ext>
              </a:extLst>
            </p:cNvPr>
            <p:cNvSpPr/>
            <p:nvPr/>
          </p:nvSpPr>
          <p:spPr>
            <a:xfrm rot="17082147">
              <a:off x="8387350" y="3912681"/>
              <a:ext cx="70978" cy="57150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3B221EA-84FE-D476-ABC7-FA236AD3AB96}"/>
                </a:ext>
              </a:extLst>
            </p:cNvPr>
            <p:cNvSpPr txBox="1"/>
            <p:nvPr/>
          </p:nvSpPr>
          <p:spPr>
            <a:xfrm>
              <a:off x="8403423" y="1844160"/>
              <a:ext cx="15051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highlight>
                    <a:srgbClr val="FFFF00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master</a:t>
              </a:r>
              <a:r>
                <a:rPr lang="zh-CN" altLang="en-US" b="1" dirty="0">
                  <a:solidFill>
                    <a:srgbClr val="FF0000"/>
                  </a:solidFill>
                  <a:highlight>
                    <a:srgbClr val="FFFF00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分支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4968DDD-8274-1AB6-189A-92F29A0CB130}"/>
                </a:ext>
              </a:extLst>
            </p:cNvPr>
            <p:cNvSpPr txBox="1"/>
            <p:nvPr/>
          </p:nvSpPr>
          <p:spPr>
            <a:xfrm>
              <a:off x="6289992" y="4797413"/>
              <a:ext cx="10687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highlight>
                    <a:srgbClr val="FFFF00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dev</a:t>
              </a:r>
              <a:r>
                <a:rPr lang="zh-CN" altLang="en-US" b="1" dirty="0">
                  <a:solidFill>
                    <a:srgbClr val="FF0000"/>
                  </a:solidFill>
                  <a:highlight>
                    <a:srgbClr val="FFFF00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分支</a:t>
              </a:r>
            </a:p>
          </p:txBody>
        </p:sp>
        <p:sp>
          <p:nvSpPr>
            <p:cNvPr id="20" name="右箭头 19">
              <a:extLst>
                <a:ext uri="{FF2B5EF4-FFF2-40B4-BE49-F238E27FC236}">
                  <a16:creationId xmlns:a16="http://schemas.microsoft.com/office/drawing/2014/main" id="{A5B06AAE-C469-65D4-5E5F-5F9726625225}"/>
                </a:ext>
              </a:extLst>
            </p:cNvPr>
            <p:cNvSpPr/>
            <p:nvPr/>
          </p:nvSpPr>
          <p:spPr>
            <a:xfrm rot="7902490">
              <a:off x="7880256" y="2514539"/>
              <a:ext cx="1036807" cy="41296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右箭头 20">
              <a:extLst>
                <a:ext uri="{FF2B5EF4-FFF2-40B4-BE49-F238E27FC236}">
                  <a16:creationId xmlns:a16="http://schemas.microsoft.com/office/drawing/2014/main" id="{EE2029D5-05BE-0B10-8598-528A9AF8AA86}"/>
                </a:ext>
              </a:extLst>
            </p:cNvPr>
            <p:cNvSpPr/>
            <p:nvPr/>
          </p:nvSpPr>
          <p:spPr>
            <a:xfrm rot="18693471">
              <a:off x="6923398" y="4037299"/>
              <a:ext cx="1036807" cy="41296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" name="右箭头 6">
            <a:extLst>
              <a:ext uri="{FF2B5EF4-FFF2-40B4-BE49-F238E27FC236}">
                <a16:creationId xmlns:a16="http://schemas.microsoft.com/office/drawing/2014/main" id="{E644CD2B-084C-83B2-903B-ECC1C291AA90}"/>
              </a:ext>
            </a:extLst>
          </p:cNvPr>
          <p:cNvSpPr/>
          <p:nvPr/>
        </p:nvSpPr>
        <p:spPr>
          <a:xfrm rot="16200000">
            <a:off x="8133806" y="4775486"/>
            <a:ext cx="1128896" cy="4285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4570C6F-A9E9-052E-98B7-5683F799F342}"/>
              </a:ext>
            </a:extLst>
          </p:cNvPr>
          <p:cNvSpPr txBox="1"/>
          <p:nvPr/>
        </p:nvSpPr>
        <p:spPr>
          <a:xfrm>
            <a:off x="8151027" y="5688568"/>
            <a:ext cx="111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代码合并</a:t>
            </a:r>
          </a:p>
        </p:txBody>
      </p:sp>
    </p:spTree>
    <p:extLst>
      <p:ext uri="{BB962C8B-B14F-4D97-AF65-F5344CB8AC3E}">
        <p14:creationId xmlns:p14="http://schemas.microsoft.com/office/powerpoint/2010/main" val="57310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8A649-222D-7FCF-67D3-7F3A78679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E088F-DC7C-5745-2390-019C742B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git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0FCB8D-76BA-776E-DDD0-D21B007D0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6143989" cy="4029074"/>
          </a:xfrm>
        </p:spPr>
        <p:txBody>
          <a:bodyPr>
            <a:norm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合并冲突（</a:t>
            </a:r>
            <a:r>
              <a:rPr kumimoji="1"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conflict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两个分支对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同一个文件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进行了不可合并的修改，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git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不知道该采用哪一个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系统会检测到，触发合并失败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解决后再次提交就能成功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0BE34D1-2F7B-F906-B62B-DE09ECC0F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973" y="1658577"/>
            <a:ext cx="4386730" cy="3290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0D6FA6-2B46-90AB-EF7A-A02ED64DC00D}"/>
              </a:ext>
            </a:extLst>
          </p:cNvPr>
          <p:cNvSpPr/>
          <p:nvPr/>
        </p:nvSpPr>
        <p:spPr>
          <a:xfrm>
            <a:off x="7010400" y="2496457"/>
            <a:ext cx="1654628" cy="161108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BD78EFB-F6FA-1215-A95F-2EEC6F4B0C81}"/>
              </a:ext>
            </a:extLst>
          </p:cNvPr>
          <p:cNvGrpSpPr/>
          <p:nvPr/>
        </p:nvGrpSpPr>
        <p:grpSpPr>
          <a:xfrm>
            <a:off x="6289992" y="1844160"/>
            <a:ext cx="3618614" cy="3322585"/>
            <a:chOff x="6289992" y="1844160"/>
            <a:chExt cx="3618614" cy="332258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DEFA0F4-E31D-FEDD-1C1B-738CDEC49C5C}"/>
                </a:ext>
              </a:extLst>
            </p:cNvPr>
            <p:cNvSpPr/>
            <p:nvPr/>
          </p:nvSpPr>
          <p:spPr>
            <a:xfrm rot="19682456">
              <a:off x="8231621" y="3350138"/>
              <a:ext cx="77134" cy="4691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7B583C4-5437-06AB-8B57-AC3F42FAAC5D}"/>
                </a:ext>
              </a:extLst>
            </p:cNvPr>
            <p:cNvSpPr/>
            <p:nvPr/>
          </p:nvSpPr>
          <p:spPr>
            <a:xfrm>
              <a:off x="8312771" y="3721372"/>
              <a:ext cx="181304" cy="18130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FD0094E-9E29-27FC-34E4-25B6A1B86CE9}"/>
                </a:ext>
              </a:extLst>
            </p:cNvPr>
            <p:cNvSpPr/>
            <p:nvPr/>
          </p:nvSpPr>
          <p:spPr>
            <a:xfrm rot="19682456">
              <a:off x="8545387" y="3818542"/>
              <a:ext cx="77134" cy="4691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3930BA6-7CD1-459A-959F-DDA7CEC930F0}"/>
                </a:ext>
              </a:extLst>
            </p:cNvPr>
            <p:cNvSpPr/>
            <p:nvPr/>
          </p:nvSpPr>
          <p:spPr>
            <a:xfrm>
              <a:off x="8626537" y="4189776"/>
              <a:ext cx="181304" cy="18130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EF16BCF-4110-1B2A-734C-6641AAF923DB}"/>
                </a:ext>
              </a:extLst>
            </p:cNvPr>
            <p:cNvSpPr/>
            <p:nvPr/>
          </p:nvSpPr>
          <p:spPr>
            <a:xfrm rot="19682456">
              <a:off x="8816571" y="4250147"/>
              <a:ext cx="77134" cy="4691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43C99FA-C0BE-84BE-D105-FB18B1BF2AB8}"/>
                </a:ext>
              </a:extLst>
            </p:cNvPr>
            <p:cNvSpPr/>
            <p:nvPr/>
          </p:nvSpPr>
          <p:spPr>
            <a:xfrm>
              <a:off x="8897721" y="4621381"/>
              <a:ext cx="181304" cy="18130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4BC29F9-23A2-D3CC-6CE7-32D1FBBA8562}"/>
                </a:ext>
              </a:extLst>
            </p:cNvPr>
            <p:cNvSpPr/>
            <p:nvPr/>
          </p:nvSpPr>
          <p:spPr>
            <a:xfrm rot="19682456">
              <a:off x="7941986" y="3645388"/>
              <a:ext cx="77134" cy="4691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20271EB1-DF1C-67EF-8184-5BD240A61B6B}"/>
                </a:ext>
              </a:extLst>
            </p:cNvPr>
            <p:cNvSpPr/>
            <p:nvPr/>
          </p:nvSpPr>
          <p:spPr>
            <a:xfrm>
              <a:off x="8023136" y="4016622"/>
              <a:ext cx="181304" cy="18130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E1413C4-E4E0-A664-4842-0543875D3016}"/>
                </a:ext>
              </a:extLst>
            </p:cNvPr>
            <p:cNvSpPr/>
            <p:nvPr/>
          </p:nvSpPr>
          <p:spPr>
            <a:xfrm rot="17082147">
              <a:off x="8387350" y="3912681"/>
              <a:ext cx="70978" cy="57150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71485DD-C4AA-33AB-9901-1BE29964721D}"/>
                </a:ext>
              </a:extLst>
            </p:cNvPr>
            <p:cNvSpPr txBox="1"/>
            <p:nvPr/>
          </p:nvSpPr>
          <p:spPr>
            <a:xfrm>
              <a:off x="8403423" y="1844160"/>
              <a:ext cx="15051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highlight>
                    <a:srgbClr val="FFFF00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master</a:t>
              </a:r>
              <a:r>
                <a:rPr lang="zh-CN" altLang="en-US" b="1" dirty="0">
                  <a:solidFill>
                    <a:srgbClr val="FF0000"/>
                  </a:solidFill>
                  <a:highlight>
                    <a:srgbClr val="FFFF00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分支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60DB6F9-BF17-09A7-DA18-5B1833B7D517}"/>
                </a:ext>
              </a:extLst>
            </p:cNvPr>
            <p:cNvSpPr txBox="1"/>
            <p:nvPr/>
          </p:nvSpPr>
          <p:spPr>
            <a:xfrm>
              <a:off x="6289992" y="4797413"/>
              <a:ext cx="10687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highlight>
                    <a:srgbClr val="FFFF00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dev</a:t>
              </a:r>
              <a:r>
                <a:rPr lang="zh-CN" altLang="en-US" b="1" dirty="0">
                  <a:solidFill>
                    <a:srgbClr val="FF0000"/>
                  </a:solidFill>
                  <a:highlight>
                    <a:srgbClr val="FFFF00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分支</a:t>
              </a:r>
            </a:p>
          </p:txBody>
        </p:sp>
        <p:sp>
          <p:nvSpPr>
            <p:cNvPr id="20" name="右箭头 19">
              <a:extLst>
                <a:ext uri="{FF2B5EF4-FFF2-40B4-BE49-F238E27FC236}">
                  <a16:creationId xmlns:a16="http://schemas.microsoft.com/office/drawing/2014/main" id="{49B4874B-3C39-E511-B33B-E39A573FC0A3}"/>
                </a:ext>
              </a:extLst>
            </p:cNvPr>
            <p:cNvSpPr/>
            <p:nvPr/>
          </p:nvSpPr>
          <p:spPr>
            <a:xfrm rot="7902490">
              <a:off x="7880256" y="2514539"/>
              <a:ext cx="1036807" cy="41296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右箭头 20">
              <a:extLst>
                <a:ext uri="{FF2B5EF4-FFF2-40B4-BE49-F238E27FC236}">
                  <a16:creationId xmlns:a16="http://schemas.microsoft.com/office/drawing/2014/main" id="{84102489-CF90-A1A7-3A9C-6398740FEDB1}"/>
                </a:ext>
              </a:extLst>
            </p:cNvPr>
            <p:cNvSpPr/>
            <p:nvPr/>
          </p:nvSpPr>
          <p:spPr>
            <a:xfrm rot="18693471">
              <a:off x="6923398" y="4037299"/>
              <a:ext cx="1036807" cy="41296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" name="右箭头 6">
            <a:extLst>
              <a:ext uri="{FF2B5EF4-FFF2-40B4-BE49-F238E27FC236}">
                <a16:creationId xmlns:a16="http://schemas.microsoft.com/office/drawing/2014/main" id="{8A558625-9010-6AB5-515B-D9247DF3EA09}"/>
              </a:ext>
            </a:extLst>
          </p:cNvPr>
          <p:cNvSpPr/>
          <p:nvPr/>
        </p:nvSpPr>
        <p:spPr>
          <a:xfrm rot="16200000">
            <a:off x="7819394" y="4640252"/>
            <a:ext cx="1128896" cy="4285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7AC59EC-64A3-8F42-B8F9-71C907901EEE}"/>
              </a:ext>
            </a:extLst>
          </p:cNvPr>
          <p:cNvSpPr txBox="1"/>
          <p:nvPr/>
        </p:nvSpPr>
        <p:spPr>
          <a:xfrm>
            <a:off x="7783044" y="5494207"/>
            <a:ext cx="111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合并冲突</a:t>
            </a:r>
          </a:p>
        </p:txBody>
      </p:sp>
      <p:sp>
        <p:nvSpPr>
          <p:cNvPr id="6" name="乘 5">
            <a:extLst>
              <a:ext uri="{FF2B5EF4-FFF2-40B4-BE49-F238E27FC236}">
                <a16:creationId xmlns:a16="http://schemas.microsoft.com/office/drawing/2014/main" id="{7CDB8B47-61E9-AFBC-871B-9292A3B7027F}"/>
              </a:ext>
            </a:extLst>
          </p:cNvPr>
          <p:cNvSpPr/>
          <p:nvPr/>
        </p:nvSpPr>
        <p:spPr>
          <a:xfrm>
            <a:off x="8109257" y="3902676"/>
            <a:ext cx="554168" cy="554168"/>
          </a:xfrm>
          <a:prstGeom prst="mathMultiply">
            <a:avLst>
              <a:gd name="adj1" fmla="val 97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6300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878E1-C83A-FD82-9136-2DB0314A1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FF3CD-7017-5044-B70E-10AE94599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git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ED38B9-AE53-2002-F391-05EF1611A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6143989" cy="4029074"/>
          </a:xfrm>
        </p:spPr>
        <p:txBody>
          <a:bodyPr>
            <a:norm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工作区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电脑中的目录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暂存区（索引）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——.git/index</a:t>
            </a:r>
          </a:p>
          <a:p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版本库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——.git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目录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(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指定分支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版本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)</a:t>
            </a: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24" name="图片 23" descr="图示&#10;&#10;描述已自动生成">
            <a:extLst>
              <a:ext uri="{FF2B5EF4-FFF2-40B4-BE49-F238E27FC236}">
                <a16:creationId xmlns:a16="http://schemas.microsoft.com/office/drawing/2014/main" id="{EFD1732B-F88F-9D87-D06B-DF6F775B9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350" y="2028825"/>
            <a:ext cx="6716183" cy="3292641"/>
          </a:xfrm>
          <a:prstGeom prst="rect">
            <a:avLst/>
          </a:prstGeom>
        </p:spPr>
      </p:pic>
      <p:sp>
        <p:nvSpPr>
          <p:cNvPr id="25" name="下箭头 24">
            <a:extLst>
              <a:ext uri="{FF2B5EF4-FFF2-40B4-BE49-F238E27FC236}">
                <a16:creationId xmlns:a16="http://schemas.microsoft.com/office/drawing/2014/main" id="{D4AC7087-1B3A-2627-51F1-23EEF2823E63}"/>
              </a:ext>
            </a:extLst>
          </p:cNvPr>
          <p:cNvSpPr/>
          <p:nvPr/>
        </p:nvSpPr>
        <p:spPr>
          <a:xfrm>
            <a:off x="2413000" y="2531533"/>
            <a:ext cx="406400" cy="11599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D0BE08E-A411-C177-1E19-0F968769861D}"/>
              </a:ext>
            </a:extLst>
          </p:cNvPr>
          <p:cNvSpPr txBox="1"/>
          <p:nvPr/>
        </p:nvSpPr>
        <p:spPr>
          <a:xfrm>
            <a:off x="2819400" y="2842709"/>
            <a:ext cx="1007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git add</a:t>
            </a:r>
            <a:endParaRPr lang="zh-CN" altLang="en-US" b="1" dirty="0">
              <a:solidFill>
                <a:srgbClr val="FF0000"/>
              </a:solidFill>
              <a:highlight>
                <a:srgbClr val="FFFF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BB0495B-1651-8274-7D27-7003362EFE71}"/>
              </a:ext>
            </a:extLst>
          </p:cNvPr>
          <p:cNvSpPr txBox="1"/>
          <p:nvPr/>
        </p:nvSpPr>
        <p:spPr>
          <a:xfrm>
            <a:off x="2878666" y="4722309"/>
            <a:ext cx="1515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git commit</a:t>
            </a:r>
            <a:endParaRPr lang="zh-CN" altLang="en-US" b="1" dirty="0">
              <a:solidFill>
                <a:srgbClr val="FF0000"/>
              </a:solidFill>
              <a:highlight>
                <a:srgbClr val="FFFF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下箭头 27">
            <a:extLst>
              <a:ext uri="{FF2B5EF4-FFF2-40B4-BE49-F238E27FC236}">
                <a16:creationId xmlns:a16="http://schemas.microsoft.com/office/drawing/2014/main" id="{DDB0160D-A643-1057-00BF-CA9D0BE3E775}"/>
              </a:ext>
            </a:extLst>
          </p:cNvPr>
          <p:cNvSpPr/>
          <p:nvPr/>
        </p:nvSpPr>
        <p:spPr>
          <a:xfrm>
            <a:off x="2402628" y="4294716"/>
            <a:ext cx="406400" cy="11599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6995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9AC6B-77A6-C87C-C950-5D90EA0FE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1FE01-FCD8-43BD-8C16-2C109D149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git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61816F-D065-6322-3B06-A4CB17B78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6143989" cy="4029074"/>
          </a:xfrm>
        </p:spPr>
        <p:txBody>
          <a:bodyPr>
            <a:norm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工作区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电脑中的目录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暂存区（索引）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——.git/index</a:t>
            </a:r>
          </a:p>
          <a:p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版本库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——.git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目录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(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指定分支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版本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)</a:t>
            </a: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24" name="图片 23" descr="图示&#10;&#10;描述已自动生成">
            <a:extLst>
              <a:ext uri="{FF2B5EF4-FFF2-40B4-BE49-F238E27FC236}">
                <a16:creationId xmlns:a16="http://schemas.microsoft.com/office/drawing/2014/main" id="{BC3A2A3A-04BE-5D48-E273-3CC8A17E0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350" y="2028825"/>
            <a:ext cx="6716183" cy="3292641"/>
          </a:xfrm>
          <a:prstGeom prst="rect">
            <a:avLst/>
          </a:prstGeom>
        </p:spPr>
      </p:pic>
      <p:sp>
        <p:nvSpPr>
          <p:cNvPr id="25" name="下箭头 24">
            <a:extLst>
              <a:ext uri="{FF2B5EF4-FFF2-40B4-BE49-F238E27FC236}">
                <a16:creationId xmlns:a16="http://schemas.microsoft.com/office/drawing/2014/main" id="{37F17FF1-3EFB-8061-6DF9-00B1DB85DE25}"/>
              </a:ext>
            </a:extLst>
          </p:cNvPr>
          <p:cNvSpPr/>
          <p:nvPr/>
        </p:nvSpPr>
        <p:spPr>
          <a:xfrm>
            <a:off x="2413000" y="2531533"/>
            <a:ext cx="406400" cy="11599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F1C4806-92D0-99FF-3CF1-E2245D5294CE}"/>
              </a:ext>
            </a:extLst>
          </p:cNvPr>
          <p:cNvSpPr txBox="1"/>
          <p:nvPr/>
        </p:nvSpPr>
        <p:spPr>
          <a:xfrm>
            <a:off x="2819400" y="2842709"/>
            <a:ext cx="1007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git add</a:t>
            </a:r>
            <a:endParaRPr lang="zh-CN" altLang="en-US" b="1" dirty="0">
              <a:solidFill>
                <a:srgbClr val="FF0000"/>
              </a:solidFill>
              <a:highlight>
                <a:srgbClr val="FFFF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D7702B4-E053-0E51-D2C2-1B0FAF7640F7}"/>
              </a:ext>
            </a:extLst>
          </p:cNvPr>
          <p:cNvSpPr txBox="1"/>
          <p:nvPr/>
        </p:nvSpPr>
        <p:spPr>
          <a:xfrm>
            <a:off x="2878666" y="4722309"/>
            <a:ext cx="1515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git commit</a:t>
            </a:r>
            <a:endParaRPr lang="zh-CN" altLang="en-US" b="1" dirty="0">
              <a:solidFill>
                <a:srgbClr val="FF0000"/>
              </a:solidFill>
              <a:highlight>
                <a:srgbClr val="FFFF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下箭头 27">
            <a:extLst>
              <a:ext uri="{FF2B5EF4-FFF2-40B4-BE49-F238E27FC236}">
                <a16:creationId xmlns:a16="http://schemas.microsoft.com/office/drawing/2014/main" id="{ADE6A42D-D56C-5824-86F0-A90953062EAD}"/>
              </a:ext>
            </a:extLst>
          </p:cNvPr>
          <p:cNvSpPr/>
          <p:nvPr/>
        </p:nvSpPr>
        <p:spPr>
          <a:xfrm>
            <a:off x="2402628" y="4294716"/>
            <a:ext cx="406400" cy="11599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 descr="文字图案&#10;&#10;AI 生成的内容可能不正确。">
            <a:extLst>
              <a:ext uri="{FF2B5EF4-FFF2-40B4-BE49-F238E27FC236}">
                <a16:creationId xmlns:a16="http://schemas.microsoft.com/office/drawing/2014/main" id="{E0126FE2-7D49-E36A-6E0D-1AA940E61D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220" t="27117" r="21725"/>
          <a:stretch/>
        </p:blipFill>
        <p:spPr>
          <a:xfrm>
            <a:off x="4609560" y="2864949"/>
            <a:ext cx="3029220" cy="353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83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62288-E345-9E35-4E07-838E091E7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9B0301-8797-E4F9-4B8F-708EED4EB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git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591EBE-5814-D924-AD5E-1B4150D13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6143989" cy="4029074"/>
          </a:xfrm>
        </p:spPr>
        <p:txBody>
          <a:bodyPr>
            <a:norm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远程仓库</a:t>
            </a:r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en-US" altLang="zh-CN" sz="22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Github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Gitlab</a:t>
            </a:r>
          </a:p>
          <a:p>
            <a:pPr lvl="1"/>
            <a:r>
              <a:rPr kumimoji="1" lang="en-US" altLang="zh-CN" sz="22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Gitee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Coding</a:t>
            </a: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云效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……</a:t>
            </a:r>
          </a:p>
          <a:p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 descr="手机屏幕的截图&#10;&#10;中度可信度描述已自动生成">
            <a:extLst>
              <a:ext uri="{FF2B5EF4-FFF2-40B4-BE49-F238E27FC236}">
                <a16:creationId xmlns:a16="http://schemas.microsoft.com/office/drawing/2014/main" id="{92A7B55A-2136-1B2F-DEB3-DED6D87FA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937" y="2028825"/>
            <a:ext cx="6858000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796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21B5D-A103-973D-6C96-849DC9F40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B84C4A-D6F9-4574-63A3-56DB61949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git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C3247D-5C27-0F03-815A-F349E440A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6143989" cy="4029074"/>
          </a:xfrm>
        </p:spPr>
        <p:txBody>
          <a:bodyPr>
            <a:normAutofit lnSpcReduction="10000"/>
          </a:bodyPr>
          <a:lstStyle/>
          <a:p>
            <a:r>
              <a:rPr kumimoji="1" lang="en-US" altLang="zh-CN" sz="2400" b="1" dirty="0" err="1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Github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优势：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全世界程序员都爱用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en-US" altLang="zh-CN" sz="22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CodeSpace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劣势：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科学上网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历史事件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7170" name="Picture 2" descr="GitHub Logo, symbol, meaning, history, PNG, brand">
            <a:extLst>
              <a:ext uri="{FF2B5EF4-FFF2-40B4-BE49-F238E27FC236}">
                <a16:creationId xmlns:a16="http://schemas.microsoft.com/office/drawing/2014/main" id="{7A0B358C-FD19-DA06-91E6-7C4E50385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154" y="2183129"/>
            <a:ext cx="5408023" cy="3042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6891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4CBB-E764-A53F-46DB-A6E00693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E59E2-9DB1-B22D-AF56-267C33E9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梗图时间</a:t>
            </a:r>
          </a:p>
        </p:txBody>
      </p:sp>
      <p:pic>
        <p:nvPicPr>
          <p:cNvPr id="4" name="内容占位符 3" descr="文本&#10;&#10;描述已自动生成">
            <a:extLst>
              <a:ext uri="{FF2B5EF4-FFF2-40B4-BE49-F238E27FC236}">
                <a16:creationId xmlns:a16="http://schemas.microsoft.com/office/drawing/2014/main" id="{737A5447-BA0F-7EAB-84EB-7B0D137A5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17787" y="885862"/>
            <a:ext cx="9371013" cy="5271194"/>
          </a:xfrm>
        </p:spPr>
      </p:pic>
    </p:spTree>
    <p:extLst>
      <p:ext uri="{BB962C8B-B14F-4D97-AF65-F5344CB8AC3E}">
        <p14:creationId xmlns:p14="http://schemas.microsoft.com/office/powerpoint/2010/main" val="444963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A2477-9AE5-98F1-4514-D5ACA8032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ED043A-0744-4237-9F91-471121BDD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git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B96893-A5CF-E3AB-0B7E-E6D0761F1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6143989" cy="4029074"/>
          </a:xfrm>
        </p:spPr>
        <p:txBody>
          <a:bodyPr>
            <a:normAutofit/>
          </a:bodyPr>
          <a:lstStyle/>
          <a:p>
            <a:r>
              <a:rPr kumimoji="1" lang="en-US" altLang="zh-CN" sz="2400" b="1" dirty="0" err="1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Gitee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优势：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网速快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劣势：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有审查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 descr="图形用户界面, 徽标&#10;&#10;描述已自动生成">
            <a:extLst>
              <a:ext uri="{FF2B5EF4-FFF2-40B4-BE49-F238E27FC236}">
                <a16:creationId xmlns:a16="http://schemas.microsoft.com/office/drawing/2014/main" id="{84997090-CA4D-AC2C-9607-A691ED93C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419" y="2490107"/>
            <a:ext cx="5250846" cy="187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164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17AE4-11DE-424C-6771-41EDFEA7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AB125-4582-D7F2-528E-7F10060BD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git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6FF9AA-C1AA-7E11-E92C-02B1F0F17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5"/>
            <a:ext cx="6143989" cy="4319723"/>
          </a:xfrm>
        </p:spPr>
        <p:txBody>
          <a:bodyPr>
            <a:norm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向远程仓库推送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——git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push</a:t>
            </a:r>
          </a:p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从远程仓库拉取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——git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pull</a:t>
            </a:r>
          </a:p>
          <a:p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从远程仓库下载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——git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clone</a:t>
            </a:r>
          </a:p>
          <a:p>
            <a:pPr lvl="1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仓库的状态：</a:t>
            </a: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1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公开</a:t>
            </a:r>
            <a:endParaRPr kumimoji="1" lang="en-US" altLang="zh-CN" sz="1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1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私有</a:t>
            </a:r>
            <a:endParaRPr kumimoji="1" lang="en-US" altLang="zh-CN" sz="1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1800" b="1" dirty="0">
                <a:latin typeface="SimHei" panose="02010609060101010101" pitchFamily="49" charset="-122"/>
                <a:ea typeface="SimHei" panose="02010609060101010101" pitchFamily="49" charset="-122"/>
              </a:rPr>
              <a:t>暂停</a:t>
            </a:r>
            <a:endParaRPr kumimoji="1" lang="en-US" altLang="zh-CN" sz="1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1800" b="1" dirty="0">
                <a:latin typeface="SimHei" panose="02010609060101010101" pitchFamily="49" charset="-122"/>
                <a:ea typeface="SimHei" panose="02010609060101010101" pitchFamily="49" charset="-122"/>
              </a:rPr>
              <a:t>关闭</a:t>
            </a:r>
            <a:endParaRPr kumimoji="1" lang="en-US" altLang="zh-CN" sz="1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 descr="手机屏幕的截图&#10;&#10;中度可信度描述已自动生成">
            <a:extLst>
              <a:ext uri="{FF2B5EF4-FFF2-40B4-BE49-F238E27FC236}">
                <a16:creationId xmlns:a16="http://schemas.microsoft.com/office/drawing/2014/main" id="{929FB1C7-C72A-8CC7-CEAD-1AF44485C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703" y="2028825"/>
            <a:ext cx="6267459" cy="314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558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2EB3F-F751-279E-44F8-79A160F48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C8410-951E-0B94-76E0-E94A681E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git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15850F-E643-2D9C-74ED-6245ED980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5"/>
            <a:ext cx="6143989" cy="4319723"/>
          </a:xfrm>
        </p:spPr>
        <p:txBody>
          <a:bodyPr>
            <a:normAutofit/>
          </a:bodyPr>
          <a:lstStyle/>
          <a:p>
            <a:r>
              <a:rPr kumimoji="1" lang="en-US" altLang="zh-CN" sz="2400" b="1" dirty="0" err="1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Github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更多的能力：</a:t>
            </a:r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endParaRPr kumimoji="1" lang="en-US" altLang="zh-CN" sz="2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Pull</a:t>
            </a:r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request——</a:t>
            </a:r>
            <a:r>
              <a:rPr kumimoji="1" lang="zh-CN" altLang="en-US" sz="22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可以写进简历</a:t>
            </a:r>
            <a:endParaRPr kumimoji="1" lang="en-US" altLang="zh-CN" sz="2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Issue</a:t>
            </a:r>
          </a:p>
          <a:p>
            <a:pPr lvl="1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Discuss</a:t>
            </a:r>
          </a:p>
          <a:p>
            <a:pPr lvl="1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Wiki</a:t>
            </a:r>
          </a:p>
          <a:p>
            <a:pPr lvl="1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CI/CD</a:t>
            </a:r>
          </a:p>
        </p:txBody>
      </p:sp>
      <p:pic>
        <p:nvPicPr>
          <p:cNvPr id="6" name="图片 5" descr="图表&#10;&#10;描述已自动生成">
            <a:extLst>
              <a:ext uri="{FF2B5EF4-FFF2-40B4-BE49-F238E27FC236}">
                <a16:creationId xmlns:a16="http://schemas.microsoft.com/office/drawing/2014/main" id="{A80D824B-E51A-1FDB-DCBD-C81C6CE06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959" y="3880840"/>
            <a:ext cx="7772400" cy="202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437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84EC2-6D14-006B-25F9-0023E942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26DDB6-57E4-D351-B5A9-BC92BE172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梗图时间</a:t>
            </a:r>
          </a:p>
        </p:txBody>
      </p:sp>
      <p:pic>
        <p:nvPicPr>
          <p:cNvPr id="4" name="内容占位符 3" descr="图片包含 电路, 电子, 游戏机&#10;&#10;描述已自动生成">
            <a:extLst>
              <a:ext uri="{FF2B5EF4-FFF2-40B4-BE49-F238E27FC236}">
                <a16:creationId xmlns:a16="http://schemas.microsoft.com/office/drawing/2014/main" id="{56220B63-81EA-FA2B-3DEB-C19689999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67808" y="1165225"/>
            <a:ext cx="5555492" cy="4962907"/>
          </a:xfrm>
        </p:spPr>
      </p:pic>
    </p:spTree>
    <p:extLst>
      <p:ext uri="{BB962C8B-B14F-4D97-AF65-F5344CB8AC3E}">
        <p14:creationId xmlns:p14="http://schemas.microsoft.com/office/powerpoint/2010/main" val="801594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10FF7-463E-A21A-BC6C-5512933F5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7AB5C-EA33-7A3A-F7D3-B9D7A172A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梗图时间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0A8514D-7813-698D-F80E-086B386D7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https___img1.gamersky.com_image2022_09_20220914_ls_red_141_3_1951.jpeg" descr="https___img1.gamersky.com_image2022_09_20220914_ls_red_141_3_1951.jpeg">
            <a:extLst>
              <a:ext uri="{FF2B5EF4-FFF2-40B4-BE49-F238E27FC236}">
                <a16:creationId xmlns:a16="http://schemas.microsoft.com/office/drawing/2014/main" id="{7E9E4ED5-7D39-71C2-8597-29DAEE2D5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135" y="1640813"/>
            <a:ext cx="4805099" cy="480509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343887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3CE66-7182-548C-0185-EEC911766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0017B-ADFC-DCFB-1C88-FAB69C527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梗图时间</a:t>
            </a:r>
          </a:p>
        </p:txBody>
      </p:sp>
      <p:pic>
        <p:nvPicPr>
          <p:cNvPr id="4" name="内容占位符 3" descr="飞机在飞行&#10;&#10;中度可信度描述已自动生成">
            <a:extLst>
              <a:ext uri="{FF2B5EF4-FFF2-40B4-BE49-F238E27FC236}">
                <a16:creationId xmlns:a16="http://schemas.microsoft.com/office/drawing/2014/main" id="{11749BB4-A761-23E2-759C-ABC4563081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74845" y="730795"/>
            <a:ext cx="3908655" cy="5396410"/>
          </a:xfrm>
        </p:spPr>
      </p:pic>
    </p:spTree>
    <p:extLst>
      <p:ext uri="{BB962C8B-B14F-4D97-AF65-F5344CB8AC3E}">
        <p14:creationId xmlns:p14="http://schemas.microsoft.com/office/powerpoint/2010/main" val="2493011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C0674-C2CA-7928-63A9-EAE94CDCE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F1F2C-5146-DCDC-273F-4766EB2EE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lazy-git/lazy-docker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图片 3" descr="图形用户界面, 文本&#10;&#10;AI 生成的内容可能不正确。">
            <a:extLst>
              <a:ext uri="{FF2B5EF4-FFF2-40B4-BE49-F238E27FC236}">
                <a16:creationId xmlns:a16="http://schemas.microsoft.com/office/drawing/2014/main" id="{8B0F4047-7B95-ACB7-BB6F-0341A3827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68" y="1489900"/>
            <a:ext cx="7772400" cy="505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440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AA538-C42D-CF1A-960C-0CFB298B5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F7285-6063-647A-3A4D-036149A3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的替代品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FAEF4F-8717-907A-EA83-A8B2FDBB978F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eza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9432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717EC-1DC1-6D28-8ED9-E37D362AB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7D4BC-115D-347B-AC8A-E09BCF1D1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find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的替代品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25AE51-1E09-F425-F044-20B34E6B1CF2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fd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+ 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fzf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5442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D7E0F-94B8-7D2D-FEDE-B8A74BEE7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D593E-8A7D-0EEE-0D49-C355A916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bg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4E7D23-FC0F-1835-776E-CE3187A8EE22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bg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		——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把任务放到后台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fg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	——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把后台任务放到前台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Ctrl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z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暂停任务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jobs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——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查看前台、暂停任务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ps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	——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查询任务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kill 	——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杀死任务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8208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C8485-9EF2-FADE-B6A5-806368F39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913DF-B988-B43C-CC23-F4C422A6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tmux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4CAF06-8922-BAED-0AF1-BCB98E84CEE4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bg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的替代品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终端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复用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工具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能够保证任务不终止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289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E1A30-0114-AF70-F095-F9BFED313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5800DB-2BA7-5212-73EB-23ED344E2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crontab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7AEEC0-5672-0DA3-887F-150D04FEE445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定时任务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9" name="图片 8" descr="文本, 表格&#10;&#10;AI 生成的内容可能不正确。">
            <a:extLst>
              <a:ext uri="{FF2B5EF4-FFF2-40B4-BE49-F238E27FC236}">
                <a16:creationId xmlns:a16="http://schemas.microsoft.com/office/drawing/2014/main" id="{F8C37EC7-ADEB-C2FD-A1B5-96F5DB12B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39"/>
          <a:stretch/>
        </p:blipFill>
        <p:spPr>
          <a:xfrm>
            <a:off x="3287813" y="717578"/>
            <a:ext cx="8010108" cy="584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372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00950-E481-5689-BBD6-1BE49C98E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D534C-5B3A-22DE-A7BB-A13A9B01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crontab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1E2964-D0B0-EA55-D4F7-73A9EE43F3DD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定时任务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4049C83A-BD39-376F-26A7-BFA007A6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38" y="2649806"/>
            <a:ext cx="9845038" cy="363989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E72E60E-8A52-74EB-51AE-05AF9B1036BB}"/>
              </a:ext>
            </a:extLst>
          </p:cNvPr>
          <p:cNvSpPr/>
          <p:nvPr/>
        </p:nvSpPr>
        <p:spPr>
          <a:xfrm>
            <a:off x="3494414" y="4580211"/>
            <a:ext cx="816244" cy="57657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583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3B5DC-C263-37D4-0A60-5BECC829E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EE2C76-F0B7-078E-E692-71887CCC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tar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DF5CFE-8ADA-CB2D-A2E6-0947FAE68938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压缩工具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使用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man</a:t>
            </a: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-c</a:t>
            </a: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-x</a:t>
            </a: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-v</a:t>
            </a: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-f</a:t>
            </a: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-z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ECDFB5-6985-5CDB-B550-4EF870676214}"/>
              </a:ext>
            </a:extLst>
          </p:cNvPr>
          <p:cNvSpPr txBox="1"/>
          <p:nvPr/>
        </p:nvSpPr>
        <p:spPr>
          <a:xfrm>
            <a:off x="5594888" y="3714194"/>
            <a:ext cx="2109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归档 </a:t>
            </a:r>
            <a:r>
              <a:rPr kumimoji="1" lang="en-US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kumimoji="1" lang="zh-CN" alt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压缩</a:t>
            </a:r>
          </a:p>
        </p:txBody>
      </p:sp>
    </p:spTree>
    <p:extLst>
      <p:ext uri="{BB962C8B-B14F-4D97-AF65-F5344CB8AC3E}">
        <p14:creationId xmlns:p14="http://schemas.microsoft.com/office/powerpoint/2010/main" val="771588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0DA52-6191-7A1C-EC5A-344D64C2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3D1E4C-F466-FDA8-B0B8-E6281448F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E4A939-E5F6-7867-0400-D18DBF69ACA5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选择一个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的工具（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不限于课上的内容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），依据其功能设计一个有趣的场景。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设计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实现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效果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发给我的邮箱。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3424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348CE-AEB3-F3A6-2CB3-C4547FC7B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2F1B5-49E5-06BC-9CA3-8071F382C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编码与解码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A32F90-9197-9BAB-5FAF-BDFEB51EFEF5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计算机是如何显示英文的？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计算机是如何显示中文的？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117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8C7E3-6DF2-30F5-5CC0-AB0D1D3A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FFCC2-FB95-A84B-55B2-05AE8F10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编码与解码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D277E3-C591-77D2-7555-C6384CB372A4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计算机是如何显示英文的？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计算机是如何显示中文的？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1F3761D-7A58-831A-D9EB-F3930A696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238" y="1376102"/>
            <a:ext cx="7764651" cy="435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440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31699-AF96-7B82-239E-4799BBFE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1A699-C037-927F-141A-57492EF1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位与字节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5B9229-EA4F-352B-E9B2-A811FFDE7307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B73CA5-3CAA-5C66-6A51-48E3DC4B1639}"/>
              </a:ext>
            </a:extLst>
          </p:cNvPr>
          <p:cNvSpPr txBox="1"/>
          <p:nvPr/>
        </p:nvSpPr>
        <p:spPr>
          <a:xfrm>
            <a:off x="2914841" y="2028825"/>
            <a:ext cx="62632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11000100</a:t>
            </a:r>
            <a:endParaRPr kumimoji="1" lang="zh-CN" altLang="en-US" sz="9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42985D-518B-12C1-EB6C-59AA0A12FC8C}"/>
              </a:ext>
            </a:extLst>
          </p:cNvPr>
          <p:cNvSpPr/>
          <p:nvPr/>
        </p:nvSpPr>
        <p:spPr>
          <a:xfrm>
            <a:off x="8260596" y="2154265"/>
            <a:ext cx="774915" cy="1274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CBE93B-6D6B-A9B2-9175-1A401BCE7645}"/>
              </a:ext>
            </a:extLst>
          </p:cNvPr>
          <p:cNvSpPr txBox="1"/>
          <p:nvPr/>
        </p:nvSpPr>
        <p:spPr>
          <a:xfrm>
            <a:off x="8299239" y="3723924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</a:p>
        </p:txBody>
      </p:sp>
    </p:spTree>
    <p:extLst>
      <p:ext uri="{BB962C8B-B14F-4D97-AF65-F5344CB8AC3E}">
        <p14:creationId xmlns:p14="http://schemas.microsoft.com/office/powerpoint/2010/main" val="13275020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DEA25-5C3B-9124-8D77-E85247D83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CC731-4D10-F5FC-4996-B397160E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位与字节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62AB07-A453-3CEE-0F5D-D4B253CE7316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73D61D-DEF6-2278-8680-DF340B1F7132}"/>
              </a:ext>
            </a:extLst>
          </p:cNvPr>
          <p:cNvSpPr txBox="1"/>
          <p:nvPr/>
        </p:nvSpPr>
        <p:spPr>
          <a:xfrm>
            <a:off x="2914841" y="2028825"/>
            <a:ext cx="62632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11000100</a:t>
            </a:r>
            <a:endParaRPr kumimoji="1" lang="zh-CN" altLang="en-US" sz="9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E19AF1-1BE7-9083-16C0-57CBAF112276}"/>
              </a:ext>
            </a:extLst>
          </p:cNvPr>
          <p:cNvSpPr/>
          <p:nvPr/>
        </p:nvSpPr>
        <p:spPr>
          <a:xfrm>
            <a:off x="3013906" y="2154265"/>
            <a:ext cx="6021605" cy="1274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75BD19-67B7-1AA5-078C-8FDF5B8ADE66}"/>
              </a:ext>
            </a:extLst>
          </p:cNvPr>
          <p:cNvSpPr txBox="1"/>
          <p:nvPr/>
        </p:nvSpPr>
        <p:spPr>
          <a:xfrm>
            <a:off x="4499290" y="3898970"/>
            <a:ext cx="326602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字节 </a:t>
            </a:r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  <a:endParaRPr kumimoji="1" lang="en-US" altLang="zh-CN" sz="40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Byte</a:t>
            </a:r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bit</a:t>
            </a:r>
            <a:endParaRPr kumimoji="1" lang="zh-CN" altLang="en-US" sz="40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9820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DA785-1BA5-4F23-8CDF-7CA6945E6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6C9A6-35DD-F98F-18C0-BF526365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位与字节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9E48F3-2230-20D0-5F5E-A2758C0D9213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CCDB40-6E75-059C-5BD6-C6E963A9A6D4}"/>
              </a:ext>
            </a:extLst>
          </p:cNvPr>
          <p:cNvSpPr txBox="1"/>
          <p:nvPr/>
        </p:nvSpPr>
        <p:spPr>
          <a:xfrm>
            <a:off x="2914841" y="2028825"/>
            <a:ext cx="62632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11000100</a:t>
            </a:r>
            <a:endParaRPr kumimoji="1" lang="zh-CN" altLang="en-US" sz="9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CCE8C2-C056-AF48-3815-D80243BC2DE1}"/>
              </a:ext>
            </a:extLst>
          </p:cNvPr>
          <p:cNvSpPr/>
          <p:nvPr/>
        </p:nvSpPr>
        <p:spPr>
          <a:xfrm>
            <a:off x="3013906" y="2154265"/>
            <a:ext cx="6021605" cy="1274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8639EB-36D2-06B1-7643-26C5BEE4E959}"/>
              </a:ext>
            </a:extLst>
          </p:cNvPr>
          <p:cNvSpPr txBox="1"/>
          <p:nvPr/>
        </p:nvSpPr>
        <p:spPr>
          <a:xfrm>
            <a:off x="4499290" y="3898970"/>
            <a:ext cx="30508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字节 </a:t>
            </a:r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DA761E5-5136-133A-C0D7-90E4FF672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05" y="1843356"/>
            <a:ext cx="10380603" cy="351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688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84059-4F19-0BD9-E591-FBBFCA26C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731C5-5810-CC6C-8270-09CF134C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位与字节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831EF1-A320-B8AE-CE79-2F822F48B090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EF4F6B-2B0B-B178-54C1-4714089FB53C}"/>
              </a:ext>
            </a:extLst>
          </p:cNvPr>
          <p:cNvSpPr txBox="1"/>
          <p:nvPr/>
        </p:nvSpPr>
        <p:spPr>
          <a:xfrm>
            <a:off x="2914841" y="2028825"/>
            <a:ext cx="62632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11000100</a:t>
            </a:r>
            <a:endParaRPr kumimoji="1" lang="zh-CN" altLang="en-US" sz="9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171EA4-84ED-CD0E-98C1-4411ED7EA02C}"/>
              </a:ext>
            </a:extLst>
          </p:cNvPr>
          <p:cNvSpPr/>
          <p:nvPr/>
        </p:nvSpPr>
        <p:spPr>
          <a:xfrm>
            <a:off x="3013906" y="2154265"/>
            <a:ext cx="6021605" cy="1274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338CAB-C331-1C7D-8E0B-3FA00C608181}"/>
              </a:ext>
            </a:extLst>
          </p:cNvPr>
          <p:cNvSpPr txBox="1"/>
          <p:nvPr/>
        </p:nvSpPr>
        <p:spPr>
          <a:xfrm>
            <a:off x="4499290" y="3898970"/>
            <a:ext cx="30508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字节 </a:t>
            </a:r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</a:p>
        </p:txBody>
      </p:sp>
      <p:sp>
        <p:nvSpPr>
          <p:cNvPr id="7" name="下箭头 6">
            <a:extLst>
              <a:ext uri="{FF2B5EF4-FFF2-40B4-BE49-F238E27FC236}">
                <a16:creationId xmlns:a16="http://schemas.microsoft.com/office/drawing/2014/main" id="{B59C4473-A961-951D-07A4-BF4F200E4F26}"/>
              </a:ext>
            </a:extLst>
          </p:cNvPr>
          <p:cNvSpPr/>
          <p:nvPr/>
        </p:nvSpPr>
        <p:spPr>
          <a:xfrm>
            <a:off x="5575256" y="4797518"/>
            <a:ext cx="898902" cy="4804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E49AA7-BB0A-313C-A9BD-AC2634834987}"/>
              </a:ext>
            </a:extLst>
          </p:cNvPr>
          <p:cNvSpPr txBox="1"/>
          <p:nvPr/>
        </p:nvSpPr>
        <p:spPr>
          <a:xfrm>
            <a:off x="4973778" y="5306109"/>
            <a:ext cx="21018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0xC4</a:t>
            </a:r>
            <a:endParaRPr kumimoji="1" lang="zh-CN" altLang="en-US" sz="6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9865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23CF3-16A5-B14E-89DB-51A6CBF5D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DD53FD-CA22-E99F-6217-1D42A4809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72506F-59FB-DA07-1756-DC4948A27E71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C4E9E4-EDED-10F8-52C6-FF8BFC5FD453}"/>
              </a:ext>
            </a:extLst>
          </p:cNvPr>
          <p:cNvSpPr txBox="1"/>
          <p:nvPr/>
        </p:nvSpPr>
        <p:spPr>
          <a:xfrm>
            <a:off x="3421391" y="1010969"/>
            <a:ext cx="525015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00000000</a:t>
            </a:r>
            <a:endParaRPr kumimoji="1" lang="zh-CN" altLang="en-US" sz="8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38F017-6F56-2E2A-AA2D-293069666A41}"/>
              </a:ext>
            </a:extLst>
          </p:cNvPr>
          <p:cNvSpPr txBox="1"/>
          <p:nvPr/>
        </p:nvSpPr>
        <p:spPr>
          <a:xfrm>
            <a:off x="3421390" y="2139763"/>
            <a:ext cx="525015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00000001</a:t>
            </a:r>
            <a:endParaRPr kumimoji="1" lang="zh-CN" altLang="en-US" sz="8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BC739C-59DE-396C-0E9E-45B3B67F3007}"/>
              </a:ext>
            </a:extLst>
          </p:cNvPr>
          <p:cNvSpPr txBox="1"/>
          <p:nvPr/>
        </p:nvSpPr>
        <p:spPr>
          <a:xfrm>
            <a:off x="3421390" y="4745398"/>
            <a:ext cx="525015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01111111</a:t>
            </a:r>
            <a:endParaRPr kumimoji="1" lang="zh-CN" altLang="en-US" sz="8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95C967-67D1-C500-34A3-B72D8A609E7A}"/>
              </a:ext>
            </a:extLst>
          </p:cNvPr>
          <p:cNvSpPr txBox="1"/>
          <p:nvPr/>
        </p:nvSpPr>
        <p:spPr>
          <a:xfrm>
            <a:off x="5692973" y="3538773"/>
            <a:ext cx="738664" cy="98039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……</a:t>
            </a:r>
            <a:endParaRPr kumimoji="1" lang="zh-CN" altLang="en-US" sz="3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BB88D1-D412-E2BA-109A-EB1F55CD6625}"/>
              </a:ext>
            </a:extLst>
          </p:cNvPr>
          <p:cNvSpPr txBox="1"/>
          <p:nvPr/>
        </p:nvSpPr>
        <p:spPr>
          <a:xfrm>
            <a:off x="9247360" y="4037512"/>
            <a:ext cx="259398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en-US" altLang="zh-CN" sz="4000" b="1" baseline="30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=128</a:t>
            </a:r>
          </a:p>
          <a:p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</a:t>
            </a:r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endParaRPr kumimoji="1" lang="zh-CN" altLang="en-US" sz="40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91406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BB5CA-38AE-4ADB-2B22-80945F74C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6A585-B1C6-202B-5EA3-E9F979C7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6C7207-9828-2174-5FF3-695E0BA38B06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BDAAE7-B020-3EB5-1511-6E29C3B27557}"/>
              </a:ext>
            </a:extLst>
          </p:cNvPr>
          <p:cNvSpPr txBox="1"/>
          <p:nvPr/>
        </p:nvSpPr>
        <p:spPr>
          <a:xfrm>
            <a:off x="3421391" y="1010969"/>
            <a:ext cx="525015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10000000</a:t>
            </a:r>
            <a:endParaRPr kumimoji="1" lang="zh-CN" altLang="en-US" sz="8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6973A6-E0F2-312F-440F-AF75343B1813}"/>
              </a:ext>
            </a:extLst>
          </p:cNvPr>
          <p:cNvSpPr txBox="1"/>
          <p:nvPr/>
        </p:nvSpPr>
        <p:spPr>
          <a:xfrm>
            <a:off x="3421390" y="2139763"/>
            <a:ext cx="525015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10000001</a:t>
            </a:r>
            <a:endParaRPr kumimoji="1" lang="zh-CN" altLang="en-US" sz="8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544871-08A5-A653-DF7B-F4860A4C4E32}"/>
              </a:ext>
            </a:extLst>
          </p:cNvPr>
          <p:cNvSpPr txBox="1"/>
          <p:nvPr/>
        </p:nvSpPr>
        <p:spPr>
          <a:xfrm>
            <a:off x="3421390" y="4745398"/>
            <a:ext cx="525015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11111111</a:t>
            </a:r>
            <a:endParaRPr kumimoji="1" lang="zh-CN" altLang="en-US" sz="8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50AE00-0913-DCCB-AB08-3135164BB88F}"/>
              </a:ext>
            </a:extLst>
          </p:cNvPr>
          <p:cNvSpPr txBox="1"/>
          <p:nvPr/>
        </p:nvSpPr>
        <p:spPr>
          <a:xfrm>
            <a:off x="5692973" y="3538773"/>
            <a:ext cx="738664" cy="98039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……</a:t>
            </a:r>
            <a:endParaRPr kumimoji="1" lang="zh-CN" altLang="en-US" sz="3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2A8DDB-D6D9-38DE-DC99-D7C4BE3A64BC}"/>
              </a:ext>
            </a:extLst>
          </p:cNvPr>
          <p:cNvSpPr txBox="1"/>
          <p:nvPr/>
        </p:nvSpPr>
        <p:spPr>
          <a:xfrm>
            <a:off x="9247360" y="4037512"/>
            <a:ext cx="27751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128</a:t>
            </a:r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128</a:t>
            </a:r>
          </a:p>
          <a:p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扩展</a:t>
            </a:r>
            <a:r>
              <a:rPr kumimoji="1" lang="en-US" altLang="zh-CN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endParaRPr kumimoji="1" lang="zh-CN" altLang="en-US" sz="40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00119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5088-8311-D7BA-C2A1-D89DE7D96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F2D30-716E-0D85-2AE5-D23997369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9F7E8-1F16-3630-A6C5-6D109E469F0C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5EB9DD8-8BFB-F780-DF96-9A37B7898A39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标准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ASCII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包含内容：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英文字母（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a-z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，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A-Z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阿拉伯数字（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1234567890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标点符号及特殊符号（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,.!@#$%^&amp;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等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)</a:t>
            </a:r>
          </a:p>
          <a:p>
            <a:pPr lvl="1"/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特殊功能字符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56107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3899D-18DC-AED1-B1BA-4DA29ED9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631C3-D836-A0A1-B2ED-B110835D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3AD302-FDB9-995F-F802-456A1EACABBA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6FE6BC3-E25F-1B08-9EE8-11283B6771A4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标准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ASCII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包含内容：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英文字母（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a-z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，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A-Z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阿拉伯数字（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1234567890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标点符号及特殊符号（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,.!@#$%^&amp;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等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)</a:t>
            </a:r>
          </a:p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1" name="图片 10" descr="表格&#10;&#10;AI 生成的内容可能不正确。">
            <a:extLst>
              <a:ext uri="{FF2B5EF4-FFF2-40B4-BE49-F238E27FC236}">
                <a16:creationId xmlns:a16="http://schemas.microsoft.com/office/drawing/2014/main" id="{7B907F71-0C1F-28C0-77C4-8E04B727C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898" y="1149027"/>
            <a:ext cx="7772400" cy="501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50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2662-BED8-5144-A2F4-33445FE95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65BF2B-B81E-A701-DE48-043126548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BE0A47-26D1-3DCC-675A-DDDD8B44E379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17E2F9E-BD44-15CE-7DE0-9E025D4A0C60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标准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ASCII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包含内容：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英文字母（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a-z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，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A-Z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阿拉伯数字（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1234567890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标点符号及特殊符号（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,.!@#$%^&amp;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等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)</a:t>
            </a:r>
          </a:p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扩展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ASCII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内容：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没有统一标准，一般是西欧语言（</a:t>
            </a:r>
            <a:r>
              <a:rPr lang="en" altLang="zh-CN" sz="2800" b="0" i="0" u="none" strike="noStrike" dirty="0" err="1">
                <a:solidFill>
                  <a:srgbClr val="444444"/>
                </a:solidFill>
                <a:effectLst/>
                <a:latin typeface="Helvetica Neue" panose="02000503000000020004" pitchFamily="2" charset="0"/>
              </a:rPr>
              <a:t>è</a:t>
            </a:r>
            <a:r>
              <a:rPr lang="zh-CN" altLang="en-US" sz="2800" b="0" i="0" u="none" strike="noStrike" dirty="0">
                <a:solidFill>
                  <a:srgbClr val="444444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2800" b="0" i="0" u="none" strike="noStrike" dirty="0">
                <a:solidFill>
                  <a:srgbClr val="444444"/>
                </a:solidFill>
                <a:effectLst/>
                <a:latin typeface="Helvetica Neue" panose="02000503000000020004" pitchFamily="2" charset="0"/>
              </a:rPr>
              <a:t>¡</a:t>
            </a:r>
            <a:r>
              <a:rPr lang="zh-CN" altLang="en-US" sz="2800" b="0" i="0" u="none" strike="noStrike" dirty="0">
                <a:solidFill>
                  <a:srgbClr val="444444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2800" b="0" i="0" u="none" strike="noStrike" dirty="0">
                <a:solidFill>
                  <a:srgbClr val="444444"/>
                </a:solidFill>
                <a:effectLst/>
                <a:latin typeface="Helvetica Neue" panose="02000503000000020004" pitchFamily="2" charset="0"/>
              </a:rPr>
              <a:t>†</a:t>
            </a:r>
            <a:r>
              <a:rPr lang="zh-CN" altLang="en-US" sz="2800" b="0" i="0" u="none" strike="noStrike" dirty="0">
                <a:solidFill>
                  <a:srgbClr val="444444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2800" b="0" i="0" u="none" strike="noStrike" dirty="0">
                <a:solidFill>
                  <a:srgbClr val="444444"/>
                </a:solidFill>
                <a:effectLst/>
                <a:latin typeface="Helvetica Neue" panose="02000503000000020004" pitchFamily="2" charset="0"/>
              </a:rPr>
              <a:t>…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22696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52FB7-A3EE-410B-0D35-084E6959C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6367E-43B0-17CA-318F-6240ADB1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utf-8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EDDB1A-45E9-3E1D-B9CA-DA1702FCD7D2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A6C8775-29FA-45B1-8EFE-AA7E1C8848D5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utf-8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特点：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前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128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字符与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ASCII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兼容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可变长：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字节、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字节、</a:t>
            </a:r>
            <a:r>
              <a:rPr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3</a:t>
            </a:r>
            <a:r>
              <a:rPr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字节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4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字节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全球语言覆盖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自同步性</a:t>
            </a:r>
            <a:r>
              <a:rPr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通过高位判断字符起始位</a:t>
            </a:r>
            <a:endParaRPr lang="en-US" altLang="zh-CN" sz="26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1565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C8703-EA4C-7A43-2700-C31F0A250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8DCF7A-6167-EE9D-A9F7-518A02877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utf-8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2466FC-367E-8DB8-E9D6-DACDF337B609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506C6F5-76DD-32D8-347F-90C93FF2D237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字节：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0xxxxxxx</a:t>
            </a: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字节：  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110xxxxx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10xxxxxx</a:t>
            </a: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3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字节：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1110xxxx 10xxxxxx 10xxxxxx</a:t>
            </a: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4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字节：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11110xxx 10xxxxxx 10xxxxxx 10xxxxxx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70735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1A762-DCB7-D947-DA56-A8A50B7B9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6C7DC-0469-C24E-BA4B-0181EAA15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utf-8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FDC6EE-688B-1FDB-BDBA-1202CD7A2F39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961292A-00BE-BC24-CE30-FC2829EB3D94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字节：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 0xxxxxxx</a:t>
            </a: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字节： 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110xxxxx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10xxxxxx</a:t>
            </a: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3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字节： 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1110xxxx 10xxxxxx 10xxxxxx</a:t>
            </a: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4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字节： 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11110xxx 10xxxxxx 10xxxxxx 10xxxxxx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5E3F60-25E9-6C8E-7635-7B31275A151C}"/>
              </a:ext>
            </a:extLst>
          </p:cNvPr>
          <p:cNvSpPr txBox="1"/>
          <p:nvPr/>
        </p:nvSpPr>
        <p:spPr>
          <a:xfrm>
            <a:off x="4989928" y="2181225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</a:t>
            </a:r>
            <a:r>
              <a:rPr kumimoji="1" lang="en-US" altLang="zh-CN" sz="3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endParaRPr kumimoji="1" lang="zh-CN" altLang="en-US" sz="32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0078C2-D077-9FE8-8C74-FB0FA28201A5}"/>
              </a:ext>
            </a:extLst>
          </p:cNvPr>
          <p:cNvSpPr txBox="1"/>
          <p:nvPr/>
        </p:nvSpPr>
        <p:spPr>
          <a:xfrm>
            <a:off x="6449058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西里尔文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491B88-A097-01EF-ACB7-FBEFCF9401C5}"/>
              </a:ext>
            </a:extLst>
          </p:cNvPr>
          <p:cNvSpPr txBox="1"/>
          <p:nvPr/>
        </p:nvSpPr>
        <p:spPr>
          <a:xfrm>
            <a:off x="8076107" y="3430292"/>
            <a:ext cx="10326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汉字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EE9774-D0A6-854E-FFC8-415F0E3622A6}"/>
              </a:ext>
            </a:extLst>
          </p:cNvPr>
          <p:cNvSpPr txBox="1"/>
          <p:nvPr/>
        </p:nvSpPr>
        <p:spPr>
          <a:xfrm>
            <a:off x="9706463" y="4112925"/>
            <a:ext cx="6030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😂</a:t>
            </a:r>
            <a:endParaRPr kumimoji="1" lang="zh-CN" altLang="en-US" sz="32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39736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C00E8-110D-DDDF-BAA1-F22E22015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D67D2-F0C0-A2DA-BF03-487A8CE20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utf-8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6C576A-6FD5-C475-A139-56EB5332AFCC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30E75D-7B8B-0C3A-F642-98B29AE2425E}"/>
              </a:ext>
            </a:extLst>
          </p:cNvPr>
          <p:cNvSpPr txBox="1"/>
          <p:nvPr/>
        </p:nvSpPr>
        <p:spPr>
          <a:xfrm>
            <a:off x="4056179" y="2646907"/>
            <a:ext cx="39805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10110110</a:t>
            </a:r>
            <a:endParaRPr kumimoji="1" lang="zh-CN" altLang="en-US" sz="60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70671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3FB09-3BA5-BC4F-2BEF-05EBD1836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5F6CE-ACBD-C3FF-F69E-FE4F046A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utf-8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7CFE8E-2F15-FD40-FE62-A5591394B89A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74CCBF-374F-ABAF-570F-24229B55D6B7}"/>
              </a:ext>
            </a:extLst>
          </p:cNvPr>
          <p:cNvSpPr txBox="1"/>
          <p:nvPr/>
        </p:nvSpPr>
        <p:spPr>
          <a:xfrm>
            <a:off x="4056179" y="2646907"/>
            <a:ext cx="39805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10110110</a:t>
            </a:r>
            <a:endParaRPr kumimoji="1" lang="zh-CN" altLang="en-US" sz="60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下箭头 4">
            <a:extLst>
              <a:ext uri="{FF2B5EF4-FFF2-40B4-BE49-F238E27FC236}">
                <a16:creationId xmlns:a16="http://schemas.microsoft.com/office/drawing/2014/main" id="{5BB70DF7-C827-FB45-B419-D97D300BF292}"/>
              </a:ext>
            </a:extLst>
          </p:cNvPr>
          <p:cNvSpPr/>
          <p:nvPr/>
        </p:nvSpPr>
        <p:spPr>
          <a:xfrm>
            <a:off x="5597016" y="3662570"/>
            <a:ext cx="898902" cy="4804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DA1231-A4A5-945B-AC9C-CA8C41A71A1B}"/>
              </a:ext>
            </a:extLst>
          </p:cNvPr>
          <p:cNvSpPr txBox="1"/>
          <p:nvPr/>
        </p:nvSpPr>
        <p:spPr>
          <a:xfrm>
            <a:off x="3233678" y="4340512"/>
            <a:ext cx="5724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字符的起始位不在这个字节</a:t>
            </a:r>
            <a:endParaRPr kumimoji="1" lang="en-US" altLang="zh-CN" sz="36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sz="3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（自同步性）</a:t>
            </a:r>
          </a:p>
        </p:txBody>
      </p:sp>
    </p:spTree>
    <p:extLst>
      <p:ext uri="{BB962C8B-B14F-4D97-AF65-F5344CB8AC3E}">
        <p14:creationId xmlns:p14="http://schemas.microsoft.com/office/powerpoint/2010/main" val="99002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F4965-A5E8-DBD8-D1B8-B2749E2B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FFAF60-443F-6EBD-5B50-FDF8F32A1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utf-16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utf-32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E342AF-11B9-80D5-D54C-0C708DC927BB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7254B11-C534-D91C-30EE-9171344D1323}"/>
              </a:ext>
            </a:extLst>
          </p:cNvPr>
          <p:cNvSpPr txBox="1">
            <a:spLocks/>
          </p:cNvSpPr>
          <p:nvPr/>
        </p:nvSpPr>
        <p:spPr>
          <a:xfrm>
            <a:off x="1123948" y="2028825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utf-16</a:t>
            </a:r>
          </a:p>
          <a:p>
            <a:pPr lvl="1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变长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存储效率高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不兼容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ASCII</a:t>
            </a:r>
          </a:p>
          <a:p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utf-32</a:t>
            </a:r>
          </a:p>
          <a:p>
            <a:pPr lvl="1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定长，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4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字节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非常费空间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04244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35093-DA0A-D5B8-4D53-BDC0CE364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19A2E-66E8-7572-D7B3-F1E4753AE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GBK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64BEE5-8451-C66B-B572-147AA347C4F0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7AD9726-45B3-432E-DED6-5C254A7283AE}"/>
              </a:ext>
            </a:extLst>
          </p:cNvPr>
          <p:cNvSpPr txBox="1">
            <a:spLocks/>
          </p:cNvSpPr>
          <p:nvPr/>
        </p:nvSpPr>
        <p:spPr>
          <a:xfrm>
            <a:off x="1123948" y="2028825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定长，双字节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21886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个汉字和图形符号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包括拉丁字母、希腊字母、日文平假名及片假名字母、俄语西里尔字母在内的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682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个字符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20870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2582D-CC49-ED42-EB31-B8C07A6D3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0C96E-7DF2-7B92-8B85-95F39669D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GBK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3F2A65-2AAF-ACDD-45C5-6F0837CDB78E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0ED4221-B7DD-4BE4-C6FA-B50EA3BD22C8}"/>
              </a:ext>
            </a:extLst>
          </p:cNvPr>
          <p:cNvSpPr txBox="1">
            <a:spLocks/>
          </p:cNvSpPr>
          <p:nvPr/>
        </p:nvSpPr>
        <p:spPr>
          <a:xfrm>
            <a:off x="1123948" y="2028825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定长，双字节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21886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个汉字和图形符号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包括拉丁字母、希腊字母、日文平假名及片假名字母、俄语西里尔字母在内的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682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个字符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CAD3608-EBC2-97F9-2960-7188B93C2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238" y="1376102"/>
            <a:ext cx="7764651" cy="435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9603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54870-592D-2CB0-85E1-19F790E2D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26818-B398-5216-C022-3401CB51E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GBK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565588-DAAC-6498-82E7-57C9C01FE682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ED166C5-3A8F-82EB-5D60-26934F209DDC}"/>
              </a:ext>
            </a:extLst>
          </p:cNvPr>
          <p:cNvSpPr txBox="1">
            <a:spLocks/>
          </p:cNvSpPr>
          <p:nvPr/>
        </p:nvSpPr>
        <p:spPr>
          <a:xfrm>
            <a:off x="1123948" y="2028825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定长，双字节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21886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个汉字和图形符号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包括拉丁字母、希腊字母、日文平假名及片假名字母、俄语西里尔字母在内的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682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个字符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09468F5-58D9-B3C2-3708-09D6F8145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238" y="1376102"/>
            <a:ext cx="7764651" cy="435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2A6DA5C-27CD-126F-075B-3D05B900B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84302"/>
            <a:ext cx="7772400" cy="588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031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29879-229C-D420-BEF9-6A6E12798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11205-5F9B-BB9F-22A6-C5701793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编码（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encode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）和解码（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decode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B16B53-7F38-1B92-06BB-9C3C45EBD2D7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01E34A7-7269-9D3A-11F4-529AB8C1DABD}"/>
              </a:ext>
            </a:extLst>
          </p:cNvPr>
          <p:cNvSpPr txBox="1">
            <a:spLocks/>
          </p:cNvSpPr>
          <p:nvPr/>
        </p:nvSpPr>
        <p:spPr>
          <a:xfrm>
            <a:off x="1123948" y="2028825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编码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人类语言  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二进制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解码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二进制  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人类语言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8" name="图片 7" descr="图形用户界面, 文本&#10;&#10;AI 生成的内容可能不正确。">
            <a:extLst>
              <a:ext uri="{FF2B5EF4-FFF2-40B4-BE49-F238E27FC236}">
                <a16:creationId xmlns:a16="http://schemas.microsoft.com/office/drawing/2014/main" id="{E050C6ED-4A6A-1871-CA45-6F02BB50C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655" y="2169259"/>
            <a:ext cx="6146800" cy="1003300"/>
          </a:xfrm>
          <a:prstGeom prst="rect">
            <a:avLst/>
          </a:prstGeom>
        </p:spPr>
      </p:pic>
      <p:pic>
        <p:nvPicPr>
          <p:cNvPr id="10" name="图片 9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D4FE27EA-45C0-66C2-7097-C9F119F42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680" y="4688741"/>
            <a:ext cx="6896100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89780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DarkSeedLeftStep">
      <a:dk1>
        <a:srgbClr val="000000"/>
      </a:dk1>
      <a:lt1>
        <a:srgbClr val="FFFFFF"/>
      </a:lt1>
      <a:dk2>
        <a:srgbClr val="1B2130"/>
      </a:dk2>
      <a:lt2>
        <a:srgbClr val="F0F3F2"/>
      </a:lt2>
      <a:accent1>
        <a:srgbClr val="D73864"/>
      </a:accent1>
      <a:accent2>
        <a:srgbClr val="C62794"/>
      </a:accent2>
      <a:accent3>
        <a:srgbClr val="C738D7"/>
      </a:accent3>
      <a:accent4>
        <a:srgbClr val="7327C6"/>
      </a:accent4>
      <a:accent5>
        <a:srgbClr val="4238D7"/>
      </a:accent5>
      <a:accent6>
        <a:srgbClr val="275FC6"/>
      </a:accent6>
      <a:hlink>
        <a:srgbClr val="7158C7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5393</TotalTime>
  <Words>948</Words>
  <Application>Microsoft Macintosh PowerPoint</Application>
  <PresentationFormat>宽屏</PresentationFormat>
  <Paragraphs>257</Paragraphs>
  <Slides>49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7" baseType="lpstr">
      <vt:lpstr>等线</vt:lpstr>
      <vt:lpstr>SimHei</vt:lpstr>
      <vt:lpstr>Microsoft YaHei</vt:lpstr>
      <vt:lpstr>Amasis MT Pro Medium</vt:lpstr>
      <vt:lpstr>Arial</vt:lpstr>
      <vt:lpstr>Helvetica Neue</vt:lpstr>
      <vt:lpstr>Univers Light</vt:lpstr>
      <vt:lpstr>TribuneVTI</vt:lpstr>
      <vt:lpstr> 工具，好用的工具</vt:lpstr>
      <vt:lpstr>其他shell</vt:lpstr>
      <vt:lpstr>trash-cli</vt:lpstr>
      <vt:lpstr>htop</vt:lpstr>
      <vt:lpstr>git</vt:lpstr>
      <vt:lpstr>git的核心概念</vt:lpstr>
      <vt:lpstr>git的核心概念</vt:lpstr>
      <vt:lpstr>git的核心概念</vt:lpstr>
      <vt:lpstr>git的核心概念</vt:lpstr>
      <vt:lpstr>git的核心概念</vt:lpstr>
      <vt:lpstr>git的核心概念</vt:lpstr>
      <vt:lpstr>git的核心概念</vt:lpstr>
      <vt:lpstr>梗图时间</vt:lpstr>
      <vt:lpstr>git的核心概念</vt:lpstr>
      <vt:lpstr>git的核心概念</vt:lpstr>
      <vt:lpstr>git的核心概念</vt:lpstr>
      <vt:lpstr>梗图时间</vt:lpstr>
      <vt:lpstr>梗图时间</vt:lpstr>
      <vt:lpstr>梗图时间</vt:lpstr>
      <vt:lpstr>lazy-git/lazy-docker</vt:lpstr>
      <vt:lpstr>ls的替代品</vt:lpstr>
      <vt:lpstr>find的替代品</vt:lpstr>
      <vt:lpstr>bg</vt:lpstr>
      <vt:lpstr>tmux</vt:lpstr>
      <vt:lpstr>crontab</vt:lpstr>
      <vt:lpstr>crontab</vt:lpstr>
      <vt:lpstr>tar</vt:lpstr>
      <vt:lpstr>作业</vt:lpstr>
      <vt:lpstr>编码与解码</vt:lpstr>
      <vt:lpstr>编码与解码</vt:lpstr>
      <vt:lpstr>位与字节</vt:lpstr>
      <vt:lpstr>位与字节</vt:lpstr>
      <vt:lpstr>位与字节</vt:lpstr>
      <vt:lpstr>位与字节</vt:lpstr>
      <vt:lpstr>ASCII</vt:lpstr>
      <vt:lpstr>ASCII</vt:lpstr>
      <vt:lpstr>ASCII</vt:lpstr>
      <vt:lpstr>ASCII</vt:lpstr>
      <vt:lpstr>ASCII</vt:lpstr>
      <vt:lpstr>utf-8</vt:lpstr>
      <vt:lpstr>utf-8</vt:lpstr>
      <vt:lpstr>utf-8</vt:lpstr>
      <vt:lpstr>utf-8</vt:lpstr>
      <vt:lpstr>utf-8</vt:lpstr>
      <vt:lpstr>utf-16、utf-32</vt:lpstr>
      <vt:lpstr>GBK</vt:lpstr>
      <vt:lpstr>GBK</vt:lpstr>
      <vt:lpstr>GBK</vt:lpstr>
      <vt:lpstr>编码（encode）和解码（decode）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禺 刘</dc:creator>
  <cp:lastModifiedBy>禺 刘</cp:lastModifiedBy>
  <cp:revision>46</cp:revision>
  <dcterms:created xsi:type="dcterms:W3CDTF">2024-12-04T03:09:23Z</dcterms:created>
  <dcterms:modified xsi:type="dcterms:W3CDTF">2025-04-14T09:19:20Z</dcterms:modified>
</cp:coreProperties>
</file>