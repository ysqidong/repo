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51"/>
  </p:notesMasterIdLst>
  <p:sldIdLst>
    <p:sldId id="256" r:id="rId2"/>
    <p:sldId id="257" r:id="rId3"/>
    <p:sldId id="303" r:id="rId4"/>
    <p:sldId id="263" r:id="rId5"/>
    <p:sldId id="258" r:id="rId6"/>
    <p:sldId id="264" r:id="rId7"/>
    <p:sldId id="265" r:id="rId8"/>
    <p:sldId id="266" r:id="rId9"/>
    <p:sldId id="267" r:id="rId10"/>
    <p:sldId id="304" r:id="rId11"/>
    <p:sldId id="268" r:id="rId12"/>
    <p:sldId id="269" r:id="rId13"/>
    <p:sldId id="271" r:id="rId14"/>
    <p:sldId id="270" r:id="rId15"/>
    <p:sldId id="262" r:id="rId16"/>
    <p:sldId id="259" r:id="rId17"/>
    <p:sldId id="260" r:id="rId18"/>
    <p:sldId id="261" r:id="rId19"/>
    <p:sldId id="272" r:id="rId20"/>
    <p:sldId id="273" r:id="rId21"/>
    <p:sldId id="275" r:id="rId22"/>
    <p:sldId id="302" r:id="rId23"/>
    <p:sldId id="274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9" r:id="rId37"/>
    <p:sldId id="291" r:id="rId38"/>
    <p:sldId id="292" r:id="rId39"/>
    <p:sldId id="290" r:id="rId40"/>
    <p:sldId id="293" r:id="rId41"/>
    <p:sldId id="295" r:id="rId42"/>
    <p:sldId id="294" r:id="rId43"/>
    <p:sldId id="296" r:id="rId44"/>
    <p:sldId id="297" r:id="rId45"/>
    <p:sldId id="298" r:id="rId46"/>
    <p:sldId id="299" r:id="rId47"/>
    <p:sldId id="300" r:id="rId48"/>
    <p:sldId id="288" r:id="rId49"/>
    <p:sldId id="301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90"/>
  </p:normalViewPr>
  <p:slideViewPr>
    <p:cSldViewPr snapToGrid="0">
      <p:cViewPr varScale="1">
        <p:scale>
          <a:sx n="84" d="100"/>
          <a:sy n="84" d="100"/>
        </p:scale>
        <p:origin x="1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46C48-E226-014A-93CD-F4AE8373B494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A9A5C-128C-CF4B-B5AD-5CAE78015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389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9A5C-128C-CF4B-B5AD-5CAE78015C53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888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4D21-FF45-58BC-0996-82B2426E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CE56DD-F034-779F-B0BF-9BA5DCA9D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D3DF6-4CC3-4E9F-3855-69F45FD3C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9DD2B6-B1AF-E162-0B03-E16A4D725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A9A5C-128C-CF4B-B5AD-5CAE78015C53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676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9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0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7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8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0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3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77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2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0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1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9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8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课程名称：</a:t>
            </a:r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操作系统与数据库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5358F-9F5A-7E18-9D13-9D162109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0F504-F14E-7597-B00E-FFF9EA47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掌握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操作系统的</a:t>
            </a:r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常规操作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和使用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习惯基于命令行的操作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使用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操作系统编程和运行程序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了解基础的数据库</a:t>
            </a:r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分类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概念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和</a:t>
            </a:r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173591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D17C-5794-BC2C-0D9A-699BC521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A9395-46D3-E2BD-7967-8F56E5FF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课程目标</a:t>
            </a:r>
          </a:p>
        </p:txBody>
      </p:sp>
      <p:pic>
        <p:nvPicPr>
          <p:cNvPr id="7" name="内容占位符 6" descr="文本&#10;&#10;AI 生成的内容可能不正确。">
            <a:extLst>
              <a:ext uri="{FF2B5EF4-FFF2-40B4-BE49-F238E27FC236}">
                <a16:creationId xmlns:a16="http://schemas.microsoft.com/office/drawing/2014/main" id="{96F07DE5-99D1-CA1D-9FA7-0277791D4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7290" y="950976"/>
            <a:ext cx="3737419" cy="5803252"/>
          </a:xfrm>
        </p:spPr>
      </p:pic>
    </p:spTree>
    <p:extLst>
      <p:ext uri="{BB962C8B-B14F-4D97-AF65-F5344CB8AC3E}">
        <p14:creationId xmlns:p14="http://schemas.microsoft.com/office/powerpoint/2010/main" val="396960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7E57-A7BC-1048-9E65-F1CC4131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DC513-0D3E-12A5-872B-4AFAF976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5763259" cy="1077849"/>
          </a:xfrm>
        </p:spPr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B456D07-F5E0-F0F8-9801-CEA70E4C47B6}"/>
              </a:ext>
            </a:extLst>
          </p:cNvPr>
          <p:cNvSpPr txBox="1">
            <a:spLocks/>
          </p:cNvSpPr>
          <p:nvPr/>
        </p:nvSpPr>
        <p:spPr>
          <a:xfrm>
            <a:off x="6311898" y="950975"/>
            <a:ext cx="57632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</p:txBody>
      </p:sp>
      <p:pic>
        <p:nvPicPr>
          <p:cNvPr id="1026" name="Picture 2" descr="服务器集群图片_服务器集群素材_服务器集群高清图片_摄图网图片下载_第8页">
            <a:extLst>
              <a:ext uri="{FF2B5EF4-FFF2-40B4-BE49-F238E27FC236}">
                <a16:creationId xmlns:a16="http://schemas.microsoft.com/office/drawing/2014/main" id="{3AC95DF2-AAA5-18D8-5A3B-6DA8F9F66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48" y="4829175"/>
            <a:ext cx="1616773" cy="10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264F706-4162-98F8-3BAE-4FA9E802F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526" y="4829175"/>
            <a:ext cx="1616025" cy="10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网络 的图像结果">
            <a:extLst>
              <a:ext uri="{FF2B5EF4-FFF2-40B4-BE49-F238E27FC236}">
                <a16:creationId xmlns:a16="http://schemas.microsoft.com/office/drawing/2014/main" id="{38368764-59AE-01A1-94F5-0864F933B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156" y="4829175"/>
            <a:ext cx="1485036" cy="10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7C412DF-621A-A363-E8E2-98EC89675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496215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高性能计算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嵌入式设备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机器学习训练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个人计算机（未来也许）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5EBACFE-7E60-4D43-E5DE-E8108044B4C8}"/>
              </a:ext>
            </a:extLst>
          </p:cNvPr>
          <p:cNvSpPr txBox="1">
            <a:spLocks/>
          </p:cNvSpPr>
          <p:nvPr/>
        </p:nvSpPr>
        <p:spPr>
          <a:xfrm>
            <a:off x="6096000" y="2028826"/>
            <a:ext cx="4962156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数据收集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自动化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数据处理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自动化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数据调用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接口化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数据共享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模块化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与机器学习流程串联</a:t>
            </a:r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119A1284-52D0-42E5-F5A0-A659B8F72735}"/>
              </a:ext>
            </a:extLst>
          </p:cNvPr>
          <p:cNvSpPr/>
          <p:nvPr/>
        </p:nvSpPr>
        <p:spPr>
          <a:xfrm>
            <a:off x="8278628" y="4498975"/>
            <a:ext cx="596900" cy="660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38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6FF77-7611-9240-E770-D654BA4B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86DE2-2256-9B82-1D03-09E1ECED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597B47-BE00-1235-85EC-77EDA2265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，一般指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（单独的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内核并不可直接使用，一般搭配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套件，故得此称呼），是一种免费使用和自由传播的类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操作系统，其内核由林纳斯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本纳第克特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托瓦兹（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Linus Benedict Torvalds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1991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日首次发布。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 descr="Linus Torvalds: 'fuck you, Nvidia' for not supporting Linux - The Verge">
            <a:extLst>
              <a:ext uri="{FF2B5EF4-FFF2-40B4-BE49-F238E27FC236}">
                <a16:creationId xmlns:a16="http://schemas.microsoft.com/office/drawing/2014/main" id="{895BD3F9-AE4E-B434-F82A-FB504721C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569" y="3984951"/>
            <a:ext cx="5000065" cy="281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VIDIA Controls AIB Launch and Driver Distribution | [H]ard|Forum">
            <a:extLst>
              <a:ext uri="{FF2B5EF4-FFF2-40B4-BE49-F238E27FC236}">
                <a16:creationId xmlns:a16="http://schemas.microsoft.com/office/drawing/2014/main" id="{F7C821AD-B5FD-56E1-ABFA-68103CE4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259" y="3491329"/>
            <a:ext cx="4140981" cy="330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33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51564-3E72-DEB7-F77E-E4433323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EDD07-F1C8-C7E1-2AE5-37169D4C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766D1-C1D0-1A63-D12D-1D6416479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，一般指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（单独的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内核并不可直接使用，一般搭配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套件，故得此称呼），是一种免费使用和自由传播的类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操作系统，其内核由林纳斯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本纳第克特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托瓦兹（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Linus Benedict Torvalds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1991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日首次发布。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851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1281A-851C-0D77-3D84-6027917E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F30C1-221B-0277-9BD4-711B32F2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D3354-5521-7583-7D9E-8A37A44C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，一般指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（单独的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内核并不可直接使用，一般搭配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套件，故得此称呼），是一种免费使用和自由传播的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类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操作系统，其内核由林纳斯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本纳第克特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托瓦兹（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Linus Benedict Torvalds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1991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日首次发布。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568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C7E6-0AC9-8D25-6432-70BEB7BE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A4B09-6E06-1387-2444-5F6A0A65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81924-AEB1-89C9-456F-92AE877EC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19716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，一般指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（单独的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内核并不可直接使用，一般搭配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套件，故得此称呼），是一种免费使用和自由传播的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类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内核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由林纳斯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本纳第克特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托瓦兹（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Linus Benedict Torvalds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1991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日首次发布。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426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750B-9675-B32B-5061-05DAE54D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44659-2D0C-BA84-5448-8838AAE9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GNU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37257-AE99-C532-CE1E-F621E1EF8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8" y="3552826"/>
            <a:ext cx="10995660" cy="2505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是一个由理查德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斯托曼（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Richard Stallman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1983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年发起的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自由软件项目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，旨在开发一个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完全由自由软件组成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的类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操作系统，其中包括了众多著名的工具和库，如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GCC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编译器、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GDB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调试器以及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核心库（</a:t>
            </a:r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glibc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）等，是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操作系统的重要组成部分，共同构成了广为人知的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050" name="Picture 2" descr="GNU">
            <a:extLst>
              <a:ext uri="{FF2B5EF4-FFF2-40B4-BE49-F238E27FC236}">
                <a16:creationId xmlns:a16="http://schemas.microsoft.com/office/drawing/2014/main" id="{4E09F719-E468-91E1-05C2-1990FA4EC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18" y="958712"/>
            <a:ext cx="2400300" cy="234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816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76DF-2585-0872-F177-CBD16173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9A193-1F1D-9C64-FDE4-6F452100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GNU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7B007-283D-05E0-B7E4-2CBEF8B17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8" y="3552826"/>
            <a:ext cx="10995660" cy="2505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是一个由理查德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·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斯托曼（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Richard Stallman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1983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年发起的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自由软件项目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，旨在开发一个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完全由自由软件组成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的类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操作系统，其中包括了众多著名的工具和库，如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GCC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编译器、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GDB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调试器以及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核心库（</a:t>
            </a:r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glibc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）等，是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操作系统的重要组成部分，共同构成了广为人知的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GNU/Linux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050" name="Picture 2" descr="GNU">
            <a:extLst>
              <a:ext uri="{FF2B5EF4-FFF2-40B4-BE49-F238E27FC236}">
                <a16:creationId xmlns:a16="http://schemas.microsoft.com/office/drawing/2014/main" id="{93A990DF-5560-4F57-D43F-38AA98604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18" y="958712"/>
            <a:ext cx="2400300" cy="234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138BFB7-6D81-8B16-C954-D73C70589522}"/>
              </a:ext>
            </a:extLst>
          </p:cNvPr>
          <p:cNvSpPr/>
          <p:nvPr/>
        </p:nvSpPr>
        <p:spPr>
          <a:xfrm>
            <a:off x="5524500" y="4571999"/>
            <a:ext cx="2057400" cy="476251"/>
          </a:xfrm>
          <a:custGeom>
            <a:avLst/>
            <a:gdLst>
              <a:gd name="csX0" fmla="*/ 0 w 2057400"/>
              <a:gd name="csY0" fmla="*/ 0 h 476251"/>
              <a:gd name="csX1" fmla="*/ 665226 w 2057400"/>
              <a:gd name="csY1" fmla="*/ 0 h 476251"/>
              <a:gd name="csX2" fmla="*/ 1289304 w 2057400"/>
              <a:gd name="csY2" fmla="*/ 0 h 476251"/>
              <a:gd name="csX3" fmla="*/ 2057400 w 2057400"/>
              <a:gd name="csY3" fmla="*/ 0 h 476251"/>
              <a:gd name="csX4" fmla="*/ 2057400 w 2057400"/>
              <a:gd name="csY4" fmla="*/ 476251 h 476251"/>
              <a:gd name="csX5" fmla="*/ 1412748 w 2057400"/>
              <a:gd name="csY5" fmla="*/ 476251 h 476251"/>
              <a:gd name="csX6" fmla="*/ 685800 w 2057400"/>
              <a:gd name="csY6" fmla="*/ 476251 h 476251"/>
              <a:gd name="csX7" fmla="*/ 0 w 2057400"/>
              <a:gd name="csY7" fmla="*/ 476251 h 476251"/>
              <a:gd name="csX8" fmla="*/ 0 w 2057400"/>
              <a:gd name="csY8" fmla="*/ 0 h 476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57400" h="476251" extrusionOk="0">
                <a:moveTo>
                  <a:pt x="0" y="0"/>
                </a:moveTo>
                <a:cubicBezTo>
                  <a:pt x="177553" y="-27995"/>
                  <a:pt x="375226" y="15734"/>
                  <a:pt x="665226" y="0"/>
                </a:cubicBezTo>
                <a:cubicBezTo>
                  <a:pt x="955226" y="-15734"/>
                  <a:pt x="1052466" y="14638"/>
                  <a:pt x="1289304" y="0"/>
                </a:cubicBezTo>
                <a:cubicBezTo>
                  <a:pt x="1526142" y="-14638"/>
                  <a:pt x="1874020" y="14506"/>
                  <a:pt x="2057400" y="0"/>
                </a:cubicBezTo>
                <a:cubicBezTo>
                  <a:pt x="2059422" y="157189"/>
                  <a:pt x="2071587" y="334099"/>
                  <a:pt x="2057400" y="476251"/>
                </a:cubicBezTo>
                <a:cubicBezTo>
                  <a:pt x="1866725" y="472137"/>
                  <a:pt x="1624217" y="494894"/>
                  <a:pt x="1412748" y="476251"/>
                </a:cubicBezTo>
                <a:cubicBezTo>
                  <a:pt x="1201279" y="457608"/>
                  <a:pt x="964219" y="497728"/>
                  <a:pt x="685800" y="476251"/>
                </a:cubicBezTo>
                <a:cubicBezTo>
                  <a:pt x="407381" y="454774"/>
                  <a:pt x="303790" y="496886"/>
                  <a:pt x="0" y="476251"/>
                </a:cubicBezTo>
                <a:cubicBezTo>
                  <a:pt x="18344" y="316028"/>
                  <a:pt x="-22977" y="191633"/>
                  <a:pt x="0" y="0"/>
                </a:cubicBezTo>
                <a:close/>
              </a:path>
            </a:pathLst>
          </a:custGeom>
          <a:noFill/>
          <a:ln w="762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22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BA0D-CC8E-51A0-126D-03E679C0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3801A-6195-E289-067E-59451CD6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GNU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A410113-3EAF-B1EA-4B7E-AC15F47B9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412" y="1482726"/>
            <a:ext cx="6014088" cy="1447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8000" b="1" dirty="0">
                <a:latin typeface="+mn-ea"/>
              </a:rPr>
              <a:t>GNU / Linux</a:t>
            </a:r>
            <a:endParaRPr lang="zh-CN" altLang="en-US" sz="8000" b="1" dirty="0">
              <a:latin typeface="+mn-ea"/>
            </a:endParaRP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9090277A-9CA8-418E-6707-DC9BC646B7C5}"/>
              </a:ext>
            </a:extLst>
          </p:cNvPr>
          <p:cNvSpPr/>
          <p:nvPr/>
        </p:nvSpPr>
        <p:spPr>
          <a:xfrm>
            <a:off x="4000500" y="2730500"/>
            <a:ext cx="927100" cy="9017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D1586966-3A9B-6868-3A7D-B3EB51750EE1}"/>
              </a:ext>
            </a:extLst>
          </p:cNvPr>
          <p:cNvSpPr/>
          <p:nvPr/>
        </p:nvSpPr>
        <p:spPr>
          <a:xfrm>
            <a:off x="7048500" y="2730500"/>
            <a:ext cx="927100" cy="9017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3A325A7B-5FFD-6EFC-CF7E-2A1A68AAD9FB}"/>
              </a:ext>
            </a:extLst>
          </p:cNvPr>
          <p:cNvSpPr txBox="1">
            <a:spLocks/>
          </p:cNvSpPr>
          <p:nvPr/>
        </p:nvSpPr>
        <p:spPr>
          <a:xfrm>
            <a:off x="3826986" y="3632200"/>
            <a:ext cx="1274128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10" name="内容占位符 4">
            <a:extLst>
              <a:ext uri="{FF2B5EF4-FFF2-40B4-BE49-F238E27FC236}">
                <a16:creationId xmlns:a16="http://schemas.microsoft.com/office/drawing/2014/main" id="{D732FB03-F374-DD61-2FF3-BCE27781CC0D}"/>
              </a:ext>
            </a:extLst>
          </p:cNvPr>
          <p:cNvSpPr txBox="1">
            <a:spLocks/>
          </p:cNvSpPr>
          <p:nvPr/>
        </p:nvSpPr>
        <p:spPr>
          <a:xfrm>
            <a:off x="6874986" y="3632200"/>
            <a:ext cx="1274128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内核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F048E5A1-BE63-DE72-5473-3933C34F831E}"/>
              </a:ext>
            </a:extLst>
          </p:cNvPr>
          <p:cNvSpPr/>
          <p:nvPr/>
        </p:nvSpPr>
        <p:spPr>
          <a:xfrm rot="5400000">
            <a:off x="5584825" y="3219450"/>
            <a:ext cx="812800" cy="3041650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E9808557-CCA9-45F8-A634-336B16E74BF5}"/>
              </a:ext>
            </a:extLst>
          </p:cNvPr>
          <p:cNvSpPr txBox="1">
            <a:spLocks/>
          </p:cNvSpPr>
          <p:nvPr/>
        </p:nvSpPr>
        <p:spPr>
          <a:xfrm>
            <a:off x="4735748" y="5162550"/>
            <a:ext cx="2621439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70546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ED99-3A89-1E81-3866-124E5B973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70D9A-0B0C-1161-D0BA-070881D7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Unix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，以及各种爱恨情仇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FE6CE6F-1DBC-751C-3378-DDEE525A3F64}"/>
              </a:ext>
            </a:extLst>
          </p:cNvPr>
          <p:cNvSpPr txBox="1">
            <a:spLocks/>
          </p:cNvSpPr>
          <p:nvPr/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kumimoji="1" lang="en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Uniplexed</a:t>
            </a:r>
            <a:r>
              <a:rPr kumimoji="1" lang="en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Information and Computing Service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分时复用信息计算系统），上世纪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70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年代由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AT&amp;T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实验室开发。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开发后，为了培养用户基础，将源码授权给学校。产生了伯克利软件套件（</a:t>
            </a:r>
            <a:r>
              <a:rPr kumimoji="1" lang="en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Berkeley Software Distribution 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BSD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371D31-1759-70EC-5CFB-CDD57905A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3872794"/>
            <a:ext cx="2070100" cy="218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320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A84B-2BCC-6DE1-FD3A-AC42E994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033B1-239E-A6D0-F1BA-62925370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Unix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，以及各种爱恨情仇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38F5011-8696-A87A-4057-F8E33BBBF470}"/>
              </a:ext>
            </a:extLst>
          </p:cNvPr>
          <p:cNvSpPr txBox="1">
            <a:spLocks/>
          </p:cNvSpPr>
          <p:nvPr/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80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年代，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AT&amp;T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发现能赚钱，私有化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，起诉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BSD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BSD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删除所有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AT&amp;T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代码。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1991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年，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Linus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发觉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难用，发明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没有父子关系，但是为了易于使用，操作高度兼容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类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Unix</a:t>
            </a:r>
          </a:p>
          <a:p>
            <a:pPr lvl="2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888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867B-22B5-109E-1A84-5C651401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C762A-C4C2-3541-70B8-71019FCE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What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Unix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，以及各种爱恨情仇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A0B7C2-EF50-D0C9-E5C2-EC657EE8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8" y="2324102"/>
            <a:ext cx="10995660" cy="3817906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NU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is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ot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nix</a:t>
            </a: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inux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ot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ni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x</a:t>
            </a:r>
          </a:p>
          <a:p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NG is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ot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IF</a:t>
            </a: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INE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ot an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mulator</a:t>
            </a: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46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FDF5-D9B4-6EB6-F957-E8963D89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696DD-5A06-6676-3E7A-1D796FF1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74B70-9AFE-06F7-558A-1E630022A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C48743-70CB-8982-246E-7940DDD35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366" y="950976"/>
            <a:ext cx="7355133" cy="46305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DC04EE-A17E-042C-61A5-C896DEEBCFFD}"/>
              </a:ext>
            </a:extLst>
          </p:cNvPr>
          <p:cNvSpPr txBox="1"/>
          <p:nvPr/>
        </p:nvSpPr>
        <p:spPr>
          <a:xfrm>
            <a:off x="5681124" y="5706969"/>
            <a:ext cx="3467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Windows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操作系统的崩溃画面</a:t>
            </a:r>
          </a:p>
        </p:txBody>
      </p:sp>
    </p:spTree>
    <p:extLst>
      <p:ext uri="{BB962C8B-B14F-4D97-AF65-F5344CB8AC3E}">
        <p14:creationId xmlns:p14="http://schemas.microsoft.com/office/powerpoint/2010/main" val="2730089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5065-84D2-F05D-7109-BC607E4E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83655-23EC-A4CF-DC3A-22744D83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25AE6A-A85D-9015-D550-4D3588EB5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不是所有的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操作系统都稳定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但，很多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系统能够比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Windows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稳定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1078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8BEB-F0A3-FCC5-AEA0-6DB7609A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54A81-3EA3-2CD3-A1D7-F4D95DBE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01AB8-68F4-75FB-DF98-64396403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表格&#10;&#10;描述已自动生成">
            <a:extLst>
              <a:ext uri="{FF2B5EF4-FFF2-40B4-BE49-F238E27FC236}">
                <a16:creationId xmlns:a16="http://schemas.microsoft.com/office/drawing/2014/main" id="{747B6876-C2E6-4E65-A8BE-B15D2080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" t="3889" r="2206" b="9977"/>
          <a:stretch/>
        </p:blipFill>
        <p:spPr>
          <a:xfrm>
            <a:off x="4914290" y="950975"/>
            <a:ext cx="5282656" cy="41622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F990F5-A216-D65D-18FC-915F3D9F8B77}"/>
              </a:ext>
            </a:extLst>
          </p:cNvPr>
          <p:cNvSpPr/>
          <p:nvPr/>
        </p:nvSpPr>
        <p:spPr>
          <a:xfrm>
            <a:off x="4914287" y="1322248"/>
            <a:ext cx="1652768" cy="93604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2CA878-7080-72E3-1138-878936F9F806}"/>
              </a:ext>
            </a:extLst>
          </p:cNvPr>
          <p:cNvSpPr txBox="1"/>
          <p:nvPr/>
        </p:nvSpPr>
        <p:spPr>
          <a:xfrm>
            <a:off x="5952454" y="5135642"/>
            <a:ext cx="3206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Windows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系统的资源管理器</a:t>
            </a:r>
          </a:p>
        </p:txBody>
      </p:sp>
    </p:spTree>
    <p:extLst>
      <p:ext uri="{BB962C8B-B14F-4D97-AF65-F5344CB8AC3E}">
        <p14:creationId xmlns:p14="http://schemas.microsoft.com/office/powerpoint/2010/main" val="657835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6F5BD-036D-15E1-CF8C-FBC8860F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71DB1-DD99-BCD4-2ECF-90B33717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E5E2B-7DDF-4043-4DD2-F64A3EDA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2893D3D9-FC48-7921-4221-D2B7BDA4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54"/>
          <a:stretch/>
        </p:blipFill>
        <p:spPr>
          <a:xfrm>
            <a:off x="393588" y="3443736"/>
            <a:ext cx="11404824" cy="215848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F54A3EF-301A-8E13-0AB5-42E7320E3E3C}"/>
              </a:ext>
            </a:extLst>
          </p:cNvPr>
          <p:cNvSpPr/>
          <p:nvPr/>
        </p:nvSpPr>
        <p:spPr>
          <a:xfrm>
            <a:off x="9385299" y="3643745"/>
            <a:ext cx="2258059" cy="12746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64CD9F-77D0-769B-1767-E8A93F2BD417}"/>
              </a:ext>
            </a:extLst>
          </p:cNvPr>
          <p:cNvSpPr txBox="1"/>
          <p:nvPr/>
        </p:nvSpPr>
        <p:spPr>
          <a:xfrm>
            <a:off x="4229143" y="5822890"/>
            <a:ext cx="3733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系统的资源开销（</a:t>
            </a:r>
            <a:r>
              <a:rPr kumimoji="1" lang="en-US" altLang="zh-CN" sz="20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htop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28633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6E1A-8DE7-9681-6D75-A273D750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F610D-E6DA-37DD-7EF2-623CD3AC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55BF5A-174C-EB15-802B-4861F476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通用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045585-C581-F915-F49B-40D6FFE6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912" y="1489900"/>
            <a:ext cx="9043624" cy="43452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C1200A-AB24-31B0-DEDB-B96653324495}"/>
              </a:ext>
            </a:extLst>
          </p:cNvPr>
          <p:cNvSpPr txBox="1"/>
          <p:nvPr/>
        </p:nvSpPr>
        <p:spPr>
          <a:xfrm>
            <a:off x="6022943" y="5857845"/>
            <a:ext cx="2797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学校高算集群说明文档</a:t>
            </a:r>
          </a:p>
        </p:txBody>
      </p:sp>
    </p:spTree>
    <p:extLst>
      <p:ext uri="{BB962C8B-B14F-4D97-AF65-F5344CB8AC3E}">
        <p14:creationId xmlns:p14="http://schemas.microsoft.com/office/powerpoint/2010/main" val="2999850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C806-4E3C-238A-A9A5-D97890E0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7CFE0-51B7-4CC2-3F06-35CA06D4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E5086B-B59E-780A-5682-21029C04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通用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BBECEE-AECB-C22C-C47A-66924B02977F}"/>
              </a:ext>
            </a:extLst>
          </p:cNvPr>
          <p:cNvSpPr txBox="1"/>
          <p:nvPr/>
        </p:nvSpPr>
        <p:spPr>
          <a:xfrm>
            <a:off x="5600825" y="5511755"/>
            <a:ext cx="3871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深度学习工具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en-US" altLang="zh-CN" sz="20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AIStudio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界面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9E0191-D222-9FAE-7C72-493137D0E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5" b="29264"/>
          <a:stretch/>
        </p:blipFill>
        <p:spPr>
          <a:xfrm>
            <a:off x="3650412" y="1784052"/>
            <a:ext cx="7772400" cy="30451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8E92CE-A9D3-D38B-97F2-65F3416D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1" y="4305656"/>
            <a:ext cx="11544298" cy="10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26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29B7-2FFE-3672-2958-6EA9A3A0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1382D-E1ED-B1AF-BBC6-BF7E90A9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08265-A78B-2F5B-04BE-2250D29D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通用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7815D7-9854-56E8-F90C-94C05360FD34}"/>
              </a:ext>
            </a:extLst>
          </p:cNvPr>
          <p:cNvSpPr txBox="1"/>
          <p:nvPr/>
        </p:nvSpPr>
        <p:spPr>
          <a:xfrm>
            <a:off x="4973725" y="2588465"/>
            <a:ext cx="50981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火星是宇宙中第二个</a:t>
            </a:r>
            <a:r>
              <a:rPr kumimoji="1" lang="en-US" altLang="zh-CN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设备数超过</a:t>
            </a:r>
            <a:r>
              <a:rPr kumimoji="1" lang="en-US" altLang="zh-CN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Windows</a:t>
            </a:r>
            <a:r>
              <a:rPr kumimoji="1" lang="zh-CN" altLang="en-US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的行星</a:t>
            </a:r>
          </a:p>
        </p:txBody>
      </p:sp>
    </p:spTree>
    <p:extLst>
      <p:ext uri="{BB962C8B-B14F-4D97-AF65-F5344CB8AC3E}">
        <p14:creationId xmlns:p14="http://schemas.microsoft.com/office/powerpoint/2010/main" val="4141414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756DE-B494-B737-8A67-D56AAC21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22E25-9026-756D-84D0-5BB0EC2E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BE895-F30F-E584-193A-D03D022B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稳定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开销低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通用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日历&#10;&#10;AI 生成的内容可能不正确。">
            <a:extLst>
              <a:ext uri="{FF2B5EF4-FFF2-40B4-BE49-F238E27FC236}">
                <a16:creationId xmlns:a16="http://schemas.microsoft.com/office/drawing/2014/main" id="{48D75C00-7D1F-BA38-3C71-E39614173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406" y="800100"/>
            <a:ext cx="5402196" cy="580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67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4421-9D11-1D4D-23DA-5026259E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6181F-7F95-8E97-710E-8FD2D43C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内核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9B0B16C-EC27-FC9D-230D-B7B41A9C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88BB410-8FD9-1CCB-5214-F8B8C3B55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289" y="1691359"/>
            <a:ext cx="5602257" cy="39607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E713A30-AFC5-2AEC-B099-1D9E3C01AB15}"/>
              </a:ext>
            </a:extLst>
          </p:cNvPr>
          <p:cNvSpPr txBox="1"/>
          <p:nvPr/>
        </p:nvSpPr>
        <p:spPr>
          <a:xfrm>
            <a:off x="4832834" y="5525934"/>
            <a:ext cx="24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操作系统构成</a:t>
            </a:r>
          </a:p>
        </p:txBody>
      </p:sp>
    </p:spTree>
    <p:extLst>
      <p:ext uri="{BB962C8B-B14F-4D97-AF65-F5344CB8AC3E}">
        <p14:creationId xmlns:p14="http://schemas.microsoft.com/office/powerpoint/2010/main" val="4147755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50DB-4B81-9B46-A004-58060874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C1D54-C6FE-B11E-0412-A60326D6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C1E57AF-36C0-3DFF-1800-A5AB0EEC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FD5511-B843-6D05-BA8A-002C7895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72" y="1797025"/>
            <a:ext cx="5602257" cy="39607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96EF5BE-BE8C-58EA-BC84-56DA3079D6FD}"/>
              </a:ext>
            </a:extLst>
          </p:cNvPr>
          <p:cNvSpPr txBox="1"/>
          <p:nvPr/>
        </p:nvSpPr>
        <p:spPr>
          <a:xfrm>
            <a:off x="1805566" y="5557680"/>
            <a:ext cx="24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操作系统构成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17BF6B-EF0F-204E-CD81-D95EE57EF660}"/>
              </a:ext>
            </a:extLst>
          </p:cNvPr>
          <p:cNvSpPr txBox="1"/>
          <p:nvPr/>
        </p:nvSpPr>
        <p:spPr>
          <a:xfrm>
            <a:off x="6255026" y="2028825"/>
            <a:ext cx="60324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命令行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解释器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通过用户输入控制系统内核工作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DCDE00-CBD7-2FAD-C5D4-E61482B912CB}"/>
              </a:ext>
            </a:extLst>
          </p:cNvPr>
          <p:cNvSpPr/>
          <p:nvPr/>
        </p:nvSpPr>
        <p:spPr>
          <a:xfrm>
            <a:off x="3311623" y="2342851"/>
            <a:ext cx="545482" cy="3005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7A7BBFF-84A8-AA3A-64D4-2F0DA662F792}"/>
              </a:ext>
            </a:extLst>
          </p:cNvPr>
          <p:cNvCxnSpPr>
            <a:cxnSpLocks/>
          </p:cNvCxnSpPr>
          <p:nvPr/>
        </p:nvCxnSpPr>
        <p:spPr>
          <a:xfrm flipV="1">
            <a:off x="3865418" y="2252749"/>
            <a:ext cx="2460567" cy="831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960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C697-C787-C145-3D7D-4141DAEB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4D816-850C-2A61-CB62-0E840EFE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命令行</a:t>
            </a:r>
          </a:p>
        </p:txBody>
      </p:sp>
      <p:pic>
        <p:nvPicPr>
          <p:cNvPr id="7" name="内容占位符 6" descr="文本&#10;&#10;中度可信度描述已自动生成">
            <a:extLst>
              <a:ext uri="{FF2B5EF4-FFF2-40B4-BE49-F238E27FC236}">
                <a16:creationId xmlns:a16="http://schemas.microsoft.com/office/drawing/2014/main" id="{9B3BF796-C93C-32BB-8849-7C329F624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487" y="2737668"/>
            <a:ext cx="10995025" cy="2091508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9A35576-8A87-9772-1201-20DF95037140}"/>
              </a:ext>
            </a:extLst>
          </p:cNvPr>
          <p:cNvSpPr txBox="1"/>
          <p:nvPr/>
        </p:nvSpPr>
        <p:spPr>
          <a:xfrm>
            <a:off x="4756530" y="5337964"/>
            <a:ext cx="2678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系统内的命令行</a:t>
            </a:r>
          </a:p>
        </p:txBody>
      </p:sp>
    </p:spTree>
    <p:extLst>
      <p:ext uri="{BB962C8B-B14F-4D97-AF65-F5344CB8AC3E}">
        <p14:creationId xmlns:p14="http://schemas.microsoft.com/office/powerpoint/2010/main" val="2447908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B7BD-B9D2-C4A9-85AE-3BB5B6B5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99B4B-4C29-D4A7-7BAF-87214B0E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图形界面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F8C5D6-74DF-85A5-4DD9-6FB673A8EC1C}"/>
              </a:ext>
            </a:extLst>
          </p:cNvPr>
          <p:cNvSpPr txBox="1"/>
          <p:nvPr/>
        </p:nvSpPr>
        <p:spPr>
          <a:xfrm>
            <a:off x="4571545" y="5749729"/>
            <a:ext cx="2949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系统内的图形界面</a:t>
            </a:r>
          </a:p>
        </p:txBody>
      </p:sp>
      <p:pic>
        <p:nvPicPr>
          <p:cNvPr id="1026" name="Picture 2" descr="最漂亮的国产深度系统Deepin V20即将上线，你准备好了吗？">
            <a:extLst>
              <a:ext uri="{FF2B5EF4-FFF2-40B4-BE49-F238E27FC236}">
                <a16:creationId xmlns:a16="http://schemas.microsoft.com/office/drawing/2014/main" id="{666CFFAE-2101-25D7-B40F-16C9B4D72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932" y="1489900"/>
            <a:ext cx="8577072" cy="41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381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5D16-4228-8BD6-EDAA-FFB8DBE8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93169-C1D7-5DC4-B4DD-BF445B22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3C50EA1-6DDF-0CAF-9C0A-5EBEDB58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的主要发行版系列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Debian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✓</a:t>
            </a: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Red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Hat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✓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Arch</a:t>
            </a:r>
          </a:p>
          <a:p>
            <a:pPr lvl="2"/>
            <a:r>
              <a:rPr kumimoji="1"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Suse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</p:txBody>
      </p:sp>
      <p:pic>
        <p:nvPicPr>
          <p:cNvPr id="6" name="Picture 2" descr="Install DEBIAN LINUX OS in VirtualBox?">
            <a:extLst>
              <a:ext uri="{FF2B5EF4-FFF2-40B4-BE49-F238E27FC236}">
                <a16:creationId xmlns:a16="http://schemas.microsoft.com/office/drawing/2014/main" id="{9B60B54C-E0BE-81F8-3892-733779A89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15" y="1070726"/>
            <a:ext cx="3960000" cy="24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d Hat Announces Intent to Reach Net-Zero Operational Greenhouse Gas ...">
            <a:extLst>
              <a:ext uri="{FF2B5EF4-FFF2-40B4-BE49-F238E27FC236}">
                <a16:creationId xmlns:a16="http://schemas.microsoft.com/office/drawing/2014/main" id="{6BACD0D4-6E73-6A50-F627-AD487CA8C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599" y="3809587"/>
            <a:ext cx="3084031" cy="198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31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1B60-D6C3-BBB3-1ABD-A066D5C6E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40F77-FBF5-FA15-BC7C-022878EE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9FE85C7-208E-4D93-FEE2-F4006605E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Debian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D043B95-8150-0C4B-A36C-071A040B4A69}"/>
              </a:ext>
            </a:extLst>
          </p:cNvPr>
          <p:cNvGrpSpPr/>
          <p:nvPr/>
        </p:nvGrpSpPr>
        <p:grpSpPr>
          <a:xfrm>
            <a:off x="896783" y="3065877"/>
            <a:ext cx="10398434" cy="2992023"/>
            <a:chOff x="2758766" y="6982439"/>
            <a:chExt cx="19353958" cy="5568867"/>
          </a:xfrm>
        </p:grpSpPr>
        <p:sp>
          <p:nvSpPr>
            <p:cNvPr id="54" name="Debian">
              <a:extLst>
                <a:ext uri="{FF2B5EF4-FFF2-40B4-BE49-F238E27FC236}">
                  <a16:creationId xmlns:a16="http://schemas.microsoft.com/office/drawing/2014/main" id="{A127E375-4351-5819-8838-7886E0F61698}"/>
                </a:ext>
              </a:extLst>
            </p:cNvPr>
            <p:cNvSpPr/>
            <p:nvPr/>
          </p:nvSpPr>
          <p:spPr>
            <a:xfrm>
              <a:off x="3689827" y="9032521"/>
              <a:ext cx="2651749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Debian</a:t>
              </a:r>
            </a:p>
          </p:txBody>
        </p:sp>
        <p:sp>
          <p:nvSpPr>
            <p:cNvPr id="55" name="Ubuntu">
              <a:extLst>
                <a:ext uri="{FF2B5EF4-FFF2-40B4-BE49-F238E27FC236}">
                  <a16:creationId xmlns:a16="http://schemas.microsoft.com/office/drawing/2014/main" id="{95C40B1F-1947-1AB9-A706-9DE60AB25D5F}"/>
                </a:ext>
              </a:extLst>
            </p:cNvPr>
            <p:cNvSpPr/>
            <p:nvPr/>
          </p:nvSpPr>
          <p:spPr>
            <a:xfrm>
              <a:off x="8721710" y="7268005"/>
              <a:ext cx="2651748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Ubuntu</a:t>
              </a:r>
            </a:p>
          </p:txBody>
        </p:sp>
        <p:sp>
          <p:nvSpPr>
            <p:cNvPr id="56" name="Kali Linux">
              <a:extLst>
                <a:ext uri="{FF2B5EF4-FFF2-40B4-BE49-F238E27FC236}">
                  <a16:creationId xmlns:a16="http://schemas.microsoft.com/office/drawing/2014/main" id="{082149B3-5307-F494-6553-F0D5BEC43AE3}"/>
                </a:ext>
              </a:extLst>
            </p:cNvPr>
            <p:cNvSpPr/>
            <p:nvPr/>
          </p:nvSpPr>
          <p:spPr>
            <a:xfrm>
              <a:off x="8721710" y="10737057"/>
              <a:ext cx="2651748" cy="1422770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Kali Linux</a:t>
              </a:r>
            </a:p>
          </p:txBody>
        </p:sp>
        <p:sp>
          <p:nvSpPr>
            <p:cNvPr id="57" name="Linux Mint">
              <a:extLst>
                <a:ext uri="{FF2B5EF4-FFF2-40B4-BE49-F238E27FC236}">
                  <a16:creationId xmlns:a16="http://schemas.microsoft.com/office/drawing/2014/main" id="{56B98D81-B86C-F7A5-DE35-105522FC1189}"/>
                </a:ext>
              </a:extLst>
            </p:cNvPr>
            <p:cNvSpPr/>
            <p:nvPr/>
          </p:nvSpPr>
          <p:spPr>
            <a:xfrm>
              <a:off x="14162333" y="7268005"/>
              <a:ext cx="2651749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Linux Mint</a:t>
              </a:r>
            </a:p>
          </p:txBody>
        </p:sp>
        <p:sp>
          <p:nvSpPr>
            <p:cNvPr id="58" name="Deepin">
              <a:extLst>
                <a:ext uri="{FF2B5EF4-FFF2-40B4-BE49-F238E27FC236}">
                  <a16:creationId xmlns:a16="http://schemas.microsoft.com/office/drawing/2014/main" id="{1ECCEE9D-211D-A42C-1E87-BBBA390E2924}"/>
                </a:ext>
              </a:extLst>
            </p:cNvPr>
            <p:cNvSpPr/>
            <p:nvPr/>
          </p:nvSpPr>
          <p:spPr>
            <a:xfrm>
              <a:off x="15677077" y="9198271"/>
              <a:ext cx="2651748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Deepin</a:t>
              </a:r>
            </a:p>
          </p:txBody>
        </p:sp>
        <p:sp>
          <p:nvSpPr>
            <p:cNvPr id="59" name="Raspberry Pi OS">
              <a:extLst>
                <a:ext uri="{FF2B5EF4-FFF2-40B4-BE49-F238E27FC236}">
                  <a16:creationId xmlns:a16="http://schemas.microsoft.com/office/drawing/2014/main" id="{C68DB66D-7444-F9D8-AC9B-1BA0C389F448}"/>
                </a:ext>
              </a:extLst>
            </p:cNvPr>
            <p:cNvSpPr/>
            <p:nvPr/>
          </p:nvSpPr>
          <p:spPr>
            <a:xfrm>
              <a:off x="17679472" y="11128537"/>
              <a:ext cx="4433252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Raspberry Pi OS</a:t>
              </a:r>
            </a:p>
          </p:txBody>
        </p:sp>
        <p:pic>
          <p:nvPicPr>
            <p:cNvPr id="60" name="直线 直线" descr="直线 直线">
              <a:extLst>
                <a:ext uri="{FF2B5EF4-FFF2-40B4-BE49-F238E27FC236}">
                  <a16:creationId xmlns:a16="http://schemas.microsoft.com/office/drawing/2014/main" id="{43966392-7F65-73BA-6345-F6B5F550756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393337">
              <a:off x="6032411" y="8675354"/>
              <a:ext cx="2964187" cy="399760"/>
            </a:xfrm>
            <a:prstGeom prst="rect">
              <a:avLst/>
            </a:prstGeom>
          </p:spPr>
        </p:pic>
        <p:pic>
          <p:nvPicPr>
            <p:cNvPr id="61" name="直线 直线" descr="直线 直线">
              <a:extLst>
                <a:ext uri="{FF2B5EF4-FFF2-40B4-BE49-F238E27FC236}">
                  <a16:creationId xmlns:a16="http://schemas.microsoft.com/office/drawing/2014/main" id="{D2513C70-F6E4-472B-8CFD-D6B65E94527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339506">
              <a:off x="6140289" y="10409618"/>
              <a:ext cx="2754109" cy="399760"/>
            </a:xfrm>
            <a:prstGeom prst="rect">
              <a:avLst/>
            </a:prstGeom>
          </p:spPr>
        </p:pic>
        <p:pic>
          <p:nvPicPr>
            <p:cNvPr id="62" name="直线 直线" descr="直线 直线">
              <a:extLst>
                <a:ext uri="{FF2B5EF4-FFF2-40B4-BE49-F238E27FC236}">
                  <a16:creationId xmlns:a16="http://schemas.microsoft.com/office/drawing/2014/main" id="{FC549F76-A114-2E2D-D78A-6565E84F16BF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95254" y="7785702"/>
              <a:ext cx="2784202" cy="399761"/>
            </a:xfrm>
            <a:prstGeom prst="rect">
              <a:avLst/>
            </a:prstGeom>
          </p:spPr>
        </p:pic>
        <p:pic>
          <p:nvPicPr>
            <p:cNvPr id="63" name="直线 直线" descr="直线 直线">
              <a:extLst>
                <a:ext uri="{FF2B5EF4-FFF2-40B4-BE49-F238E27FC236}">
                  <a16:creationId xmlns:a16="http://schemas.microsoft.com/office/drawing/2014/main" id="{D432CEF3-7671-CEEE-E649-B532D6FDD66C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26687">
              <a:off x="6353321" y="9628313"/>
              <a:ext cx="9350959" cy="399760"/>
            </a:xfrm>
            <a:prstGeom prst="rect">
              <a:avLst/>
            </a:prstGeom>
          </p:spPr>
        </p:pic>
        <p:pic>
          <p:nvPicPr>
            <p:cNvPr id="64" name="直线 直线" descr="直线 直线">
              <a:extLst>
                <a:ext uri="{FF2B5EF4-FFF2-40B4-BE49-F238E27FC236}">
                  <a16:creationId xmlns:a16="http://schemas.microsoft.com/office/drawing/2014/main" id="{1340A0C3-D8DA-43C7-C78F-2AD40983AF82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657391">
              <a:off x="6362941" y="10588613"/>
              <a:ext cx="11297686" cy="399760"/>
            </a:xfrm>
            <a:prstGeom prst="rect">
              <a:avLst/>
            </a:prstGeom>
          </p:spPr>
        </p:pic>
        <p:pic>
          <p:nvPicPr>
            <p:cNvPr id="65" name="椭圆 椭圆" descr="椭圆 椭圆">
              <a:extLst>
                <a:ext uri="{FF2B5EF4-FFF2-40B4-BE49-F238E27FC236}">
                  <a16:creationId xmlns:a16="http://schemas.microsoft.com/office/drawing/2014/main" id="{A468CDE0-0077-279A-DDE1-DD56716FE268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2499" y="6982439"/>
              <a:ext cx="5310171" cy="1993901"/>
            </a:xfrm>
            <a:prstGeom prst="rect">
              <a:avLst/>
            </a:prstGeom>
          </p:spPr>
        </p:pic>
        <p:pic>
          <p:nvPicPr>
            <p:cNvPr id="66" name="椭圆 椭圆" descr="椭圆 椭圆">
              <a:extLst>
                <a:ext uri="{FF2B5EF4-FFF2-40B4-BE49-F238E27FC236}">
                  <a16:creationId xmlns:a16="http://schemas.microsoft.com/office/drawing/2014/main" id="{10064B4A-8558-EF0A-441D-BD7C9AE2B31B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58766" y="8640912"/>
              <a:ext cx="4513870" cy="22059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558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B03A-189D-7D7E-DD39-6F27566A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69947-00B8-B4C5-101F-189AD85A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15E1FC8-C84D-D3E5-2B0C-CBCEBB6C3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Red Hat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E72EE12-8B2F-0734-13B7-0C8AE0ADC34B}"/>
              </a:ext>
            </a:extLst>
          </p:cNvPr>
          <p:cNvGrpSpPr/>
          <p:nvPr/>
        </p:nvGrpSpPr>
        <p:grpSpPr>
          <a:xfrm>
            <a:off x="1438368" y="3504438"/>
            <a:ext cx="8690993" cy="1077849"/>
            <a:chOff x="2360617" y="8746954"/>
            <a:chExt cx="16077374" cy="1993901"/>
          </a:xfrm>
        </p:grpSpPr>
        <p:sp>
          <p:nvSpPr>
            <p:cNvPr id="10" name="Fedora">
              <a:extLst>
                <a:ext uri="{FF2B5EF4-FFF2-40B4-BE49-F238E27FC236}">
                  <a16:creationId xmlns:a16="http://schemas.microsoft.com/office/drawing/2014/main" id="{36B9D329-2EAE-78F0-5266-276BD0CF9941}"/>
                </a:ext>
              </a:extLst>
            </p:cNvPr>
            <p:cNvSpPr/>
            <p:nvPr/>
          </p:nvSpPr>
          <p:spPr>
            <a:xfrm>
              <a:off x="3689827" y="9032521"/>
              <a:ext cx="2651749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Fedora</a:t>
              </a:r>
            </a:p>
          </p:txBody>
        </p:sp>
        <p:sp>
          <p:nvSpPr>
            <p:cNvPr id="11" name="Redhat">
              <a:extLst>
                <a:ext uri="{FF2B5EF4-FFF2-40B4-BE49-F238E27FC236}">
                  <a16:creationId xmlns:a16="http://schemas.microsoft.com/office/drawing/2014/main" id="{7A8B7BAD-FC9C-4995-4DAE-ACA7219FC43F}"/>
                </a:ext>
              </a:extLst>
            </p:cNvPr>
            <p:cNvSpPr/>
            <p:nvPr/>
          </p:nvSpPr>
          <p:spPr>
            <a:xfrm>
              <a:off x="10024602" y="9032521"/>
              <a:ext cx="2651748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Redhat</a:t>
              </a:r>
            </a:p>
          </p:txBody>
        </p:sp>
        <p:pic>
          <p:nvPicPr>
            <p:cNvPr id="12" name="直线 直线" descr="直线 直线">
              <a:extLst>
                <a:ext uri="{FF2B5EF4-FFF2-40B4-BE49-F238E27FC236}">
                  <a16:creationId xmlns:a16="http://schemas.microsoft.com/office/drawing/2014/main" id="{368E523E-BFA6-6648-9B11-4EF565F9C5C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3225">
              <a:off x="6356235" y="9469662"/>
              <a:ext cx="3690965" cy="399760"/>
            </a:xfrm>
            <a:prstGeom prst="rect">
              <a:avLst/>
            </a:prstGeom>
          </p:spPr>
        </p:pic>
        <p:pic>
          <p:nvPicPr>
            <p:cNvPr id="13" name="直线 直线" descr="直线 直线">
              <a:extLst>
                <a:ext uri="{FF2B5EF4-FFF2-40B4-BE49-F238E27FC236}">
                  <a16:creationId xmlns:a16="http://schemas.microsoft.com/office/drawing/2014/main" id="{AD6EFFF9-B228-83DD-5F8C-7EDBA82FA3D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91008" y="9483026"/>
              <a:ext cx="3119494" cy="399760"/>
            </a:xfrm>
            <a:prstGeom prst="rect">
              <a:avLst/>
            </a:prstGeom>
          </p:spPr>
        </p:pic>
        <p:sp>
          <p:nvSpPr>
            <p:cNvPr id="14" name="CentOS">
              <a:extLst>
                <a:ext uri="{FF2B5EF4-FFF2-40B4-BE49-F238E27FC236}">
                  <a16:creationId xmlns:a16="http://schemas.microsoft.com/office/drawing/2014/main" id="{206CA24E-DF87-724E-A23B-E84A0FBFB9E3}"/>
                </a:ext>
              </a:extLst>
            </p:cNvPr>
            <p:cNvSpPr/>
            <p:nvPr/>
          </p:nvSpPr>
          <p:spPr>
            <a:xfrm>
              <a:off x="15786242" y="9032521"/>
              <a:ext cx="2651749" cy="1422769"/>
            </a:xfrm>
            <a:prstGeom prst="rect">
              <a:avLst/>
            </a:prstGeom>
            <a:solidFill>
              <a:srgbClr val="D5D5D5"/>
            </a:solidFill>
            <a:ln w="12700">
              <a:miter lim="400000"/>
            </a:ln>
            <a:effectLst>
              <a:outerShdw blurRad="381000" dist="119618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2000"/>
                <a:t>CentOS</a:t>
              </a:r>
            </a:p>
          </p:txBody>
        </p:sp>
        <p:pic>
          <p:nvPicPr>
            <p:cNvPr id="15" name="椭圆 椭圆" descr="椭圆 椭圆">
              <a:extLst>
                <a:ext uri="{FF2B5EF4-FFF2-40B4-BE49-F238E27FC236}">
                  <a16:creationId xmlns:a16="http://schemas.microsoft.com/office/drawing/2014/main" id="{771ED8DA-6430-6C4A-4F16-620B3F30D08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0617" y="8746954"/>
              <a:ext cx="5310171" cy="1993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2118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91B2E-31B6-4A60-839E-808CFD10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5BC4DE-AB4F-E07E-0516-561BB2EC8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5E6A4C0-BE3E-DBDD-A3DC-3755F2F83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LTS: Long Term Support</a:t>
            </a:r>
          </a:p>
        </p:txBody>
      </p:sp>
      <p:pic>
        <p:nvPicPr>
          <p:cNvPr id="4" name="图片 3" descr="表格&#10;&#10;描述已自动生成">
            <a:extLst>
              <a:ext uri="{FF2B5EF4-FFF2-40B4-BE49-F238E27FC236}">
                <a16:creationId xmlns:a16="http://schemas.microsoft.com/office/drawing/2014/main" id="{DF15E7A4-82E6-A16A-56E8-9EAD9F61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829411"/>
            <a:ext cx="10995659" cy="36314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F3D9D69-7EAC-EE8E-31F7-B38D2C595551}"/>
              </a:ext>
            </a:extLst>
          </p:cNvPr>
          <p:cNvSpPr/>
          <p:nvPr/>
        </p:nvSpPr>
        <p:spPr>
          <a:xfrm>
            <a:off x="4203086" y="3429000"/>
            <a:ext cx="3188313" cy="3364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8174D5-F7D9-1716-4985-CD27A7AAFB94}"/>
              </a:ext>
            </a:extLst>
          </p:cNvPr>
          <p:cNvSpPr/>
          <p:nvPr/>
        </p:nvSpPr>
        <p:spPr>
          <a:xfrm>
            <a:off x="4203085" y="4229585"/>
            <a:ext cx="3188313" cy="3364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622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C33E-6E78-D188-0CE9-6AD827DF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56DFE-B3BB-80C2-85C2-DBEE682F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D2603CB-C30A-FAEC-9410-62F7A645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LTS: Long Term Support</a:t>
            </a:r>
          </a:p>
        </p:txBody>
      </p:sp>
      <p:pic>
        <p:nvPicPr>
          <p:cNvPr id="8" name="图片 7" descr="图表, 条形图&#10;&#10;描述已自动生成">
            <a:extLst>
              <a:ext uri="{FF2B5EF4-FFF2-40B4-BE49-F238E27FC236}">
                <a16:creationId xmlns:a16="http://schemas.microsoft.com/office/drawing/2014/main" id="{CC22DC45-CCCB-A824-071E-869A3D2D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49" y="2685555"/>
            <a:ext cx="8674101" cy="337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5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6BF3-2CA6-8ADC-F84E-58E4B4B1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93E17-D806-3A1D-9E97-C0C02629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的发行版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FCADF10-134B-D6FD-91DE-57E43727D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LTS: Long Term Support</a:t>
            </a: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使用建议：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倒数第二个主流发行版或者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LTS</a:t>
            </a: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例如：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Ubuntu22.04</a:t>
            </a:r>
          </a:p>
        </p:txBody>
      </p:sp>
    </p:spTree>
    <p:extLst>
      <p:ext uri="{BB962C8B-B14F-4D97-AF65-F5344CB8AC3E}">
        <p14:creationId xmlns:p14="http://schemas.microsoft.com/office/powerpoint/2010/main" val="3303154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C418-1726-A571-7EB2-9A2AA190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1BDC5E-1925-5476-DD38-8ABE37ED3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F047B9B-57DB-6616-59E3-2FA117CDE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开源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D2000C9-2E78-261B-7E2E-0A42EF13DB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920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ED90-80C0-FC31-DA3C-6A83C5F6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FF560-17BA-3DA6-D411-265D76E4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开源的定义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4678FA0-6419-25EE-29E0-D090DAF4A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开源软件（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Open Source Software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OSS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）是指源代码可以被公众</a:t>
            </a:r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使用、修改和分发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的软件。与之相对的是闭源软件（专有软件），闭源软件的源代码由开发者或公司保密，用户只能使用编译后的二进制文件。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开源的起点是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项目，现阶段成为主流。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7441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7E1C-D569-A1E6-BB11-04319C02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3C0CE11-14C2-8912-AA67-58DCD8350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1275"/>
            <a:ext cx="7772400" cy="41413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69E2DBB-A979-78AA-E64E-B845F5EB39C4}"/>
              </a:ext>
            </a:extLst>
          </p:cNvPr>
          <p:cNvSpPr txBox="1"/>
          <p:nvPr/>
        </p:nvSpPr>
        <p:spPr>
          <a:xfrm>
            <a:off x="4488027" y="5396615"/>
            <a:ext cx="3215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Github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上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的开源项目</a:t>
            </a:r>
          </a:p>
        </p:txBody>
      </p:sp>
    </p:spTree>
    <p:extLst>
      <p:ext uri="{BB962C8B-B14F-4D97-AF65-F5344CB8AC3E}">
        <p14:creationId xmlns:p14="http://schemas.microsoft.com/office/powerpoint/2010/main" val="3624145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7E5D-2D69-D5F9-1FF6-80D7924B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9E0D9-EC7B-AFB7-1A5F-82BEEAD0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7C134E1-2B0A-F60C-B44D-DD99E7DA7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 fontScale="85000" lnSpcReduction="20000"/>
          </a:bodyPr>
          <a:lstStyle/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开源协议是规定开源软件使用、修改和分发规则的法律协议，不同的开源协议有不同的条款和要求。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开源协议在法律中被视为合同，具有法律效力。同时受著作权法保护。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常见开源协议：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MIT</a:t>
            </a: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GPL</a:t>
            </a: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BSD</a:t>
            </a: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843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D6C5-354D-E3ED-6E3B-9E520EAE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文本, 信件&#10;&#10;AI 生成的内容可能不正确。">
            <a:extLst>
              <a:ext uri="{FF2B5EF4-FFF2-40B4-BE49-F238E27FC236}">
                <a16:creationId xmlns:a16="http://schemas.microsoft.com/office/drawing/2014/main" id="{84A7A51D-AAF7-9D74-F5BA-28E3F16C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53" y="909636"/>
            <a:ext cx="11012293" cy="48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95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7067-FD10-EAC2-3167-67D66615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F126FE5F-9B73-8EF9-B550-5E10DAAF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7" y="2044700"/>
            <a:ext cx="11753966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46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D69A6-18AA-0C4D-4FEE-A4B80482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5DCF9-4D78-ADD9-3198-EE6D9A83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9D5EB34-88DA-D4BA-C926-7366543BE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7F6066-96C7-18C5-DAFE-B97211415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072" y="1163842"/>
            <a:ext cx="7487604" cy="453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1BC1BDB-1CF2-5AFF-729D-26B604F0AE8D}"/>
              </a:ext>
            </a:extLst>
          </p:cNvPr>
          <p:cNvSpPr txBox="1"/>
          <p:nvPr/>
        </p:nvSpPr>
        <p:spPr>
          <a:xfrm>
            <a:off x="7488402" y="5706968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最宽松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CF7028-491C-9CCB-74FB-76DB87133A29}"/>
              </a:ext>
            </a:extLst>
          </p:cNvPr>
          <p:cNvSpPr txBox="1"/>
          <p:nvPr/>
        </p:nvSpPr>
        <p:spPr>
          <a:xfrm>
            <a:off x="5127465" y="5706968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最严苛</a:t>
            </a:r>
          </a:p>
        </p:txBody>
      </p:sp>
    </p:spTree>
    <p:extLst>
      <p:ext uri="{BB962C8B-B14F-4D97-AF65-F5344CB8AC3E}">
        <p14:creationId xmlns:p14="http://schemas.microsoft.com/office/powerpoint/2010/main" val="358302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CFDE-59FC-EBA5-8C81-265B171F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0A73A-7F0E-5D44-0B1D-83B4718B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开源协议的法律效力</a:t>
            </a:r>
          </a:p>
        </p:txBody>
      </p:sp>
      <p:pic>
        <p:nvPicPr>
          <p:cNvPr id="7" name="内容占位符 6" descr="文本, 信件&#10;&#10;AI 生成的内容可能不正确。">
            <a:extLst>
              <a:ext uri="{FF2B5EF4-FFF2-40B4-BE49-F238E27FC236}">
                <a16:creationId xmlns:a16="http://schemas.microsoft.com/office/drawing/2014/main" id="{CE20F996-B8D1-DD84-650F-A68F376C0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4025" y="1877949"/>
            <a:ext cx="6519775" cy="4029075"/>
          </a:xfrm>
        </p:spPr>
      </p:pic>
    </p:spTree>
    <p:extLst>
      <p:ext uri="{BB962C8B-B14F-4D97-AF65-F5344CB8AC3E}">
        <p14:creationId xmlns:p14="http://schemas.microsoft.com/office/powerpoint/2010/main" val="3161386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A693D-10DD-6434-748F-29783739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D2092-2595-D855-C122-33F19D77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开源协议的法律效力</a:t>
            </a:r>
          </a:p>
        </p:txBody>
      </p:sp>
      <p:pic>
        <p:nvPicPr>
          <p:cNvPr id="6" name="内容占位符 5" descr="报纸上的文字&#10;&#10;AI 生成的内容可能不正确。">
            <a:extLst>
              <a:ext uri="{FF2B5EF4-FFF2-40B4-BE49-F238E27FC236}">
                <a16:creationId xmlns:a16="http://schemas.microsoft.com/office/drawing/2014/main" id="{6994A5F9-CE3F-9CCC-BD19-113166589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206" y="1631951"/>
            <a:ext cx="10762524" cy="4525962"/>
          </a:xfrm>
        </p:spPr>
      </p:pic>
    </p:spTree>
    <p:extLst>
      <p:ext uri="{BB962C8B-B14F-4D97-AF65-F5344CB8AC3E}">
        <p14:creationId xmlns:p14="http://schemas.microsoft.com/office/powerpoint/2010/main" val="23465554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D65E-C2DE-89B5-A328-A4151703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59973-955F-4801-757D-53BE3BF1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开源协议的法律效力</a:t>
            </a: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CFD9E17A-09C6-E0DB-D4D9-2B7FF3015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736975"/>
            <a:ext cx="11643361" cy="25758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842B83A-6C0B-C8A9-E7FF-07AEC866BEB3}"/>
              </a:ext>
            </a:extLst>
          </p:cNvPr>
          <p:cNvSpPr txBox="1"/>
          <p:nvPr/>
        </p:nvSpPr>
        <p:spPr>
          <a:xfrm>
            <a:off x="274319" y="2028825"/>
            <a:ext cx="1646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省流版：</a:t>
            </a:r>
          </a:p>
        </p:txBody>
      </p:sp>
    </p:spTree>
    <p:extLst>
      <p:ext uri="{BB962C8B-B14F-4D97-AF65-F5344CB8AC3E}">
        <p14:creationId xmlns:p14="http://schemas.microsoft.com/office/powerpoint/2010/main" val="3489154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B99D-BA14-9897-5058-52BBE485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C0280-0CA2-DBF7-B1D1-90F280AC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有趣的开源协议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900D3-3E4F-2444-FF03-AB9037D5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The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Unlicense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无需许可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34527AF-3F8A-C1AC-24E3-AF3AAA03B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2845005"/>
            <a:ext cx="7772400" cy="3385995"/>
          </a:xfrm>
          <a:prstGeom prst="rect">
            <a:avLst/>
          </a:prstGeom>
        </p:spPr>
      </p:pic>
      <p:pic>
        <p:nvPicPr>
          <p:cNvPr id="4" name="椭圆 椭圆" descr="椭圆 椭圆">
            <a:extLst>
              <a:ext uri="{FF2B5EF4-FFF2-40B4-BE49-F238E27FC236}">
                <a16:creationId xmlns:a16="http://schemas.microsoft.com/office/drawing/2014/main" id="{60697039-0E3D-629E-890E-D9C03A7EEB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3" y="5777948"/>
            <a:ext cx="1031391" cy="4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4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64D5-8210-51F2-6DF3-B729FEDC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EADEB-253D-B487-07AC-D1532E2E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有趣的开源协议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4EAAF-F3D2-A518-84F5-AEC967B2A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028826"/>
            <a:ext cx="7409497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Anti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996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License</a:t>
            </a:r>
          </a:p>
          <a:p>
            <a:pPr lvl="1"/>
            <a:r>
              <a:rPr lang="zh-CN" altLang="en-US" sz="26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该协议条款明确规定任何使用此许可证的项目不得实施 </a:t>
            </a:r>
            <a:r>
              <a:rPr lang="en-US" altLang="zh-CN" sz="26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996 </a:t>
            </a:r>
            <a:r>
              <a:rPr lang="zh-CN" altLang="en-US" sz="26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或其他类似的工作制度。如果企业违反这一规定，他们将失去使用该项目源代码的权利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1D93B5D-E293-CDA4-B0DE-29315E783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338" y="2035176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1100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F7A2-60CC-041A-6DC4-8B963C46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4A021-22DD-DA4C-BF2B-A7636178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有趣的开源协议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19857B-D609-B529-D901-3233CFD7B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4613532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Postcardware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0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协议要求用户在使用软件时给原作者寄一张明信片。它是一种比较轻松、有趣的协议，没有严格的法律约束，更多是一种对原作者的感谢和纪念方式。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ADB753D-9758-E388-DAF2-95B0C125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173" y="2001633"/>
            <a:ext cx="6481188" cy="28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82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BCEC-EFFF-F3E0-ED8B-EC8A5455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3FFCA-A589-924C-960B-75FA3BA3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开源的优劣势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D7092-0484-655C-FF7A-D760560BF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028826"/>
            <a:ext cx="10995658" cy="4029074"/>
          </a:xfrm>
        </p:spPr>
        <p:txBody>
          <a:bodyPr>
            <a:normAutofit/>
          </a:bodyPr>
          <a:lstStyle/>
          <a:p>
            <a:r>
              <a:rPr kumimoji="1" lang="zh-CN" altLang="en-US" sz="2800" b="1" i="0" u="none" strike="noStrike" dirty="0">
                <a:solidFill>
                  <a:srgbClr val="060607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优势</a:t>
            </a:r>
            <a:r>
              <a:rPr kumimoji="1"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迭代速度快</a:t>
            </a:r>
            <a:endParaRPr lang="en-US" altLang="zh-CN" sz="24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1"/>
            <a:r>
              <a:rPr kumimoji="1" lang="zh-CN" altLang="en-US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代码公开透明 </a:t>
            </a:r>
            <a:r>
              <a:rPr kumimoji="1" lang="en-US" altLang="zh-CN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——</a:t>
            </a:r>
            <a:r>
              <a:rPr kumimoji="1" lang="zh-CN" altLang="en-US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 </a:t>
            </a:r>
            <a:r>
              <a:rPr kumimoji="1" lang="en-US" altLang="zh-CN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XZ-Utils</a:t>
            </a:r>
            <a:r>
              <a:rPr kumimoji="1" lang="zh-CN" altLang="en-US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投毒</a:t>
            </a:r>
            <a:endParaRPr kumimoji="1" lang="en-US" altLang="zh-CN" sz="2400" dirty="0">
              <a:solidFill>
                <a:srgbClr val="060607"/>
              </a:solidFill>
              <a:latin typeface="-apple-system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社区支持</a:t>
            </a:r>
            <a:endParaRPr kumimoji="1" lang="en-US" altLang="zh-CN" sz="2400" dirty="0">
              <a:solidFill>
                <a:srgbClr val="060607"/>
              </a:solidFill>
              <a:latin typeface="-apple-system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400" dirty="0">
                <a:solidFill>
                  <a:srgbClr val="060607"/>
                </a:solidFill>
                <a:latin typeface="-apple-system"/>
                <a:ea typeface="SimHei" panose="02010609060101010101" pitchFamily="49" charset="-122"/>
              </a:rPr>
              <a:t>便宜（不都是免费）</a:t>
            </a:r>
            <a:endParaRPr kumimoji="1" lang="en-US" altLang="zh-CN" sz="2400" dirty="0">
              <a:solidFill>
                <a:srgbClr val="060607"/>
              </a:solidFill>
              <a:latin typeface="-apple-system"/>
              <a:ea typeface="SimHei" panose="02010609060101010101" pitchFamily="49" charset="-122"/>
            </a:endParaRPr>
          </a:p>
          <a:p>
            <a:pPr lvl="1"/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3314" name="Picture 2" descr="RedHat Enterprise Linux - NSIX Blog">
            <a:extLst>
              <a:ext uri="{FF2B5EF4-FFF2-40B4-BE49-F238E27FC236}">
                <a16:creationId xmlns:a16="http://schemas.microsoft.com/office/drawing/2014/main" id="{71046C95-60C4-66D7-911A-0339D3260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8" y="3567973"/>
            <a:ext cx="2705102" cy="174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1811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C0E0-4EF0-B243-BA28-610F0C93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7745B-C376-5A2C-FACC-0CEAEDFA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开源的优劣势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93D61-5025-BA03-AE6F-119EF606D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028826"/>
            <a:ext cx="10995658" cy="4029074"/>
          </a:xfrm>
        </p:spPr>
        <p:txBody>
          <a:bodyPr>
            <a:normAutofit/>
          </a:bodyPr>
          <a:lstStyle/>
          <a:p>
            <a:r>
              <a:rPr kumimoji="1" lang="zh-CN" altLang="en-US" sz="2800" b="1" i="0" u="none" strike="noStrike" dirty="0">
                <a:solidFill>
                  <a:srgbClr val="060607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劣势</a:t>
            </a:r>
            <a:r>
              <a:rPr kumimoji="1"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质量参差不齐</a:t>
            </a:r>
            <a:endParaRPr kumimoji="1" lang="en-US" altLang="zh-CN" sz="2400" b="1" i="0" u="none" strike="noStrike" dirty="0">
              <a:solidFill>
                <a:srgbClr val="060607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安全风险 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——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 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XZ-Utils</a:t>
            </a:r>
          </a:p>
          <a:p>
            <a:pPr lvl="1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可能因为某个开发者撂挑子不干而崩溃</a:t>
            </a:r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  <a:p>
            <a:pPr lvl="1"/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11797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75DE-321B-7259-855C-94E1CDFA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25E6532-AB1A-46A3-8AD7-7FAFE8305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4" y="1659285"/>
            <a:ext cx="6125813" cy="408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BC2AFF1-E1D4-CCFD-9238-2C9017E272BF}"/>
              </a:ext>
            </a:extLst>
          </p:cNvPr>
          <p:cNvSpPr txBox="1"/>
          <p:nvPr/>
        </p:nvSpPr>
        <p:spPr>
          <a:xfrm>
            <a:off x="7660482" y="1716063"/>
            <a:ext cx="34932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“今天无论是</a:t>
            </a:r>
            <a:r>
              <a:rPr kumimoji="1" lang="en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ChatGPT</a:t>
            </a:r>
            <a:r>
              <a:rPr kumimoji="1" lang="zh-CN" altLang="e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还是文心一言等闭源模型，一定比开源模型更强大，推理成本更低。”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李彦宏，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2024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世界人工智能大会（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WAIC 2024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6075C98-CFF4-162B-AC3F-BDE76650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闭源</a:t>
            </a:r>
          </a:p>
        </p:txBody>
      </p:sp>
    </p:spTree>
    <p:extLst>
      <p:ext uri="{BB962C8B-B14F-4D97-AF65-F5344CB8AC3E}">
        <p14:creationId xmlns:p14="http://schemas.microsoft.com/office/powerpoint/2010/main" val="1302488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5913-E9A2-D595-F3CC-90C430E2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14D0E149-0160-B5AE-6CE1-12FC61E62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闭源</a:t>
            </a:r>
          </a:p>
        </p:txBody>
      </p:sp>
      <p:pic>
        <p:nvPicPr>
          <p:cNvPr id="3" name="图片 2" descr="图形用户界面, 文本&#10;&#10;AI 生成的内容可能不正确。">
            <a:extLst>
              <a:ext uri="{FF2B5EF4-FFF2-40B4-BE49-F238E27FC236}">
                <a16:creationId xmlns:a16="http://schemas.microsoft.com/office/drawing/2014/main" id="{30313B39-CEEB-E669-19DC-593F4A7D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1" y="1827380"/>
            <a:ext cx="11614150" cy="37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13701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</TotalTime>
  <Words>1357</Words>
  <Application>Microsoft Macintosh PowerPoint</Application>
  <PresentationFormat>宽屏</PresentationFormat>
  <Paragraphs>173</Paragraphs>
  <Slides>49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-apple-system</vt:lpstr>
      <vt:lpstr>等线</vt:lpstr>
      <vt:lpstr>SimHei</vt:lpstr>
      <vt:lpstr>Microsoft YaHei</vt:lpstr>
      <vt:lpstr>Amasis MT Pro Medium</vt:lpstr>
      <vt:lpstr>Arial</vt:lpstr>
      <vt:lpstr>Univers Light</vt:lpstr>
      <vt:lpstr>TribuneVTI</vt:lpstr>
      <vt:lpstr>课程名称： Linux操作系统与数据库</vt:lpstr>
      <vt:lpstr>课程目标</vt:lpstr>
      <vt:lpstr>课程目标</vt:lpstr>
      <vt:lpstr>Linux</vt:lpstr>
      <vt:lpstr>What is Linux</vt:lpstr>
      <vt:lpstr>What is Linux</vt:lpstr>
      <vt:lpstr>What is Linux</vt:lpstr>
      <vt:lpstr>What is Linux</vt:lpstr>
      <vt:lpstr>What is GNU</vt:lpstr>
      <vt:lpstr>What is GNU</vt:lpstr>
      <vt:lpstr>What is GNU</vt:lpstr>
      <vt:lpstr>What is Unix ，以及各种爱恨情仇</vt:lpstr>
      <vt:lpstr>What is Unix ，以及各种爱恨情仇</vt:lpstr>
      <vt:lpstr>What is Unix，以及各种爱恨情仇</vt:lpstr>
      <vt:lpstr>Why Linux</vt:lpstr>
      <vt:lpstr>Why Linux</vt:lpstr>
      <vt:lpstr>Why Linux</vt:lpstr>
      <vt:lpstr>Why Linux</vt:lpstr>
      <vt:lpstr>Why Linux</vt:lpstr>
      <vt:lpstr>Why Linux</vt:lpstr>
      <vt:lpstr>Why Linux</vt:lpstr>
      <vt:lpstr>Why Linux</vt:lpstr>
      <vt:lpstr>什么是Linux 内核</vt:lpstr>
      <vt:lpstr>Shell</vt:lpstr>
      <vt:lpstr>命令行</vt:lpstr>
      <vt:lpstr>图形界面</vt:lpstr>
      <vt:lpstr>Linux的发行版</vt:lpstr>
      <vt:lpstr>Linux的发行版</vt:lpstr>
      <vt:lpstr>Linux的发行版</vt:lpstr>
      <vt:lpstr>Linux的发行版</vt:lpstr>
      <vt:lpstr>Linux的发行版</vt:lpstr>
      <vt:lpstr>Linux的发行版</vt:lpstr>
      <vt:lpstr>开源</vt:lpstr>
      <vt:lpstr>开源的定义</vt:lpstr>
      <vt:lpstr>PowerPoint 演示文稿</vt:lpstr>
      <vt:lpstr>开源协议</vt:lpstr>
      <vt:lpstr>PowerPoint 演示文稿</vt:lpstr>
      <vt:lpstr>PowerPoint 演示文稿</vt:lpstr>
      <vt:lpstr>开源协议</vt:lpstr>
      <vt:lpstr>开源协议的法律效力</vt:lpstr>
      <vt:lpstr>开源协议的法律效力</vt:lpstr>
      <vt:lpstr>开源协议的法律效力</vt:lpstr>
      <vt:lpstr>有趣的开源协议</vt:lpstr>
      <vt:lpstr>有趣的开源协议</vt:lpstr>
      <vt:lpstr>有趣的开源协议</vt:lpstr>
      <vt:lpstr>开源的优劣势</vt:lpstr>
      <vt:lpstr>开源的优劣势</vt:lpstr>
      <vt:lpstr>开源 VS 闭源</vt:lpstr>
      <vt:lpstr>开源 VS 闭源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20</cp:revision>
  <dcterms:created xsi:type="dcterms:W3CDTF">2024-10-30T01:37:57Z</dcterms:created>
  <dcterms:modified xsi:type="dcterms:W3CDTF">2026-04-30T03:03:18Z</dcterms:modified>
</cp:coreProperties>
</file>