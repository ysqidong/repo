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379" r:id="rId3"/>
    <p:sldId id="380" r:id="rId4"/>
    <p:sldId id="381" r:id="rId5"/>
    <p:sldId id="382" r:id="rId6"/>
    <p:sldId id="383" r:id="rId7"/>
    <p:sldId id="384" r:id="rId8"/>
    <p:sldId id="385" r:id="rId9"/>
    <p:sldId id="280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8" r:id="rId26"/>
    <p:sldId id="401" r:id="rId27"/>
    <p:sldId id="405" r:id="rId28"/>
    <p:sldId id="402" r:id="rId29"/>
    <p:sldId id="403" r:id="rId30"/>
    <p:sldId id="404" r:id="rId31"/>
    <p:sldId id="40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84"/>
    <p:restoredTop sz="95424"/>
  </p:normalViewPr>
  <p:slideViewPr>
    <p:cSldViewPr snapToGrid="0">
      <p:cViewPr varScale="1">
        <p:scale>
          <a:sx n="101" d="100"/>
          <a:sy n="101" d="100"/>
        </p:scale>
        <p:origin x="21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A010A-3114-D84D-9C6B-499D723EA456}" type="datetimeFigureOut">
              <a:rPr kumimoji="1" lang="zh-CN" altLang="en-US" smtClean="0"/>
              <a:t>2026/6/1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FFA97-679F-8F4B-81CD-CAE110370F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710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4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8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2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0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6/1/26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0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42768F-95BB-478A-ADFA-24FD8097F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CA2F1-2F4D-77DD-E04F-BDBEFCBB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31" b="1381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2"/>
            <a:ext cx="12191999" cy="4360983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61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A60BDE-818F-53DF-E273-26133D059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952499"/>
            <a:ext cx="9603888" cy="2596605"/>
          </a:xfrm>
        </p:spPr>
        <p:txBody>
          <a:bodyPr>
            <a:noAutofit/>
          </a:bodyPr>
          <a:lstStyle/>
          <a:p>
            <a: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的网络</a:t>
            </a:r>
            <a:b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b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zh-CN" altLang="en-US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其实我们已经使用很久了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10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C22C-5254-A3ED-6705-029FD1C0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A544D-9E53-23B5-F5FD-7998E7A2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网络与现代计算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DC3C6DA-54CB-64DB-6CB9-2A7F61BCA2E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5DD5AF6-AB4D-5925-25DB-49199E8A52E0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E938D-159F-870F-4A60-CB3A5DDDD4D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网络是现代计算技术的核心，是计算和人工智能技术的纽带，依靠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设备连接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数据传输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资源共享和协作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实现人与算力的交互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5C5CB67-F98B-E532-3055-A44BB6DE4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58" y="3557071"/>
            <a:ext cx="3947679" cy="261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61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C8191-254E-9600-59A8-030C036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9573A-2159-84D8-985D-F1A792051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网络与现代计算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2E435FD-1310-BC3E-93AF-452FF121CAC7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07AEF0D-816F-4B13-6C97-225EF7DBF4E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97E3F8-26B9-FED5-D188-1208DC06580E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设备连接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Wi-Fi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、智能家居设备、手机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数据传输、共享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scp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sftp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、在线视频、电子邮件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云计算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我们使用的服务器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9280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90DD-AD5A-C121-9A1B-FF80790BB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426C6-4C74-3872-7E11-743A0864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在网络中作为服务器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949DA16-5A41-C879-3B50-DF4B0D6B7BCA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1B03BAC-82AF-B750-2C19-F63142497F19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8E25B2-BF68-59B0-E2FF-2EEEEC9F30D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Web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服务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网页、联网软件、部分游戏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文件服务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网盘、块存储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数据库服务（之后讲）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AF693062-96EE-5262-C5A0-B5F59B230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268" y="2028825"/>
            <a:ext cx="6510020" cy="37787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5E341A9-CB73-7A39-53E1-3D4FDC6A32EB}"/>
              </a:ext>
            </a:extLst>
          </p:cNvPr>
          <p:cNvSpPr txBox="1"/>
          <p:nvPr/>
        </p:nvSpPr>
        <p:spPr>
          <a:xfrm>
            <a:off x="6979918" y="5881399"/>
            <a:ext cx="353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https://tec-hpf.cedezhun.cn/</a:t>
            </a:r>
          </a:p>
        </p:txBody>
      </p:sp>
    </p:spTree>
    <p:extLst>
      <p:ext uri="{BB962C8B-B14F-4D97-AF65-F5344CB8AC3E}">
        <p14:creationId xmlns:p14="http://schemas.microsoft.com/office/powerpoint/2010/main" val="248936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47CDD-A834-5B4E-B64F-B3719CBA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379F9-C954-3D98-5BF4-AD32A9DE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网络的基础知识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D2ECBE0-703E-6608-DF3A-2B074059D629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AB736DA-5598-3CF7-1A4F-E09EF898430B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63663B-C3CE-F302-FDF2-F144357E69D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网络协议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与子网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域名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网络设备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8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343A-29B0-9153-C09F-7D8F76AE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51B0E-E6E8-BC5D-5C1E-BF00AA75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网络协议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CAFDD90-83F1-D95C-851F-93831A33DF1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1A6F935-9097-C117-A5CD-0130081B76B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8FF3-A422-7BB4-FD85-7AA3A6D9FAF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网络协议的作用：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规定了数据在网络中如何传输、路由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（跳转）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和接收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路由（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Route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）：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将数据包从源地址传输到目的地址的过程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中间需要经过多个节点，通常为路由器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Router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路由器可以连接不同的网络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（局域网 </a:t>
            </a:r>
            <a:r>
              <a:rPr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&lt;-&gt; 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互联网）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路由跳转目标由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路由表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维护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278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09AAE-0A0B-6B57-19CF-5F16EF2D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ACBAC-2AD0-FDBC-CACA-69EF6DC30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路由表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6EB35D5-9440-DB8D-2005-6C189CB926C3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E1D627-55A0-30CF-5B0A-972265037ECE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C92AC1-12DC-C42D-EC94-87D62B63099C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2EA80CC-D0E1-BC83-AE42-0EE9B2DA6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824616"/>
              </p:ext>
            </p:extLst>
          </p:nvPr>
        </p:nvGraphicFramePr>
        <p:xfrm>
          <a:off x="1647188" y="2451099"/>
          <a:ext cx="8338820" cy="3317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05">
                  <a:extLst>
                    <a:ext uri="{9D8B030D-6E8A-4147-A177-3AD203B41FA5}">
                      <a16:colId xmlns:a16="http://schemas.microsoft.com/office/drawing/2014/main" val="356285910"/>
                    </a:ext>
                  </a:extLst>
                </a:gridCol>
                <a:gridCol w="2084705">
                  <a:extLst>
                    <a:ext uri="{9D8B030D-6E8A-4147-A177-3AD203B41FA5}">
                      <a16:colId xmlns:a16="http://schemas.microsoft.com/office/drawing/2014/main" val="3173118694"/>
                    </a:ext>
                  </a:extLst>
                </a:gridCol>
                <a:gridCol w="2084705">
                  <a:extLst>
                    <a:ext uri="{9D8B030D-6E8A-4147-A177-3AD203B41FA5}">
                      <a16:colId xmlns:a16="http://schemas.microsoft.com/office/drawing/2014/main" val="4062170043"/>
                    </a:ext>
                  </a:extLst>
                </a:gridCol>
                <a:gridCol w="2084705">
                  <a:extLst>
                    <a:ext uri="{9D8B030D-6E8A-4147-A177-3AD203B41FA5}">
                      <a16:colId xmlns:a16="http://schemas.microsoft.com/office/drawing/2014/main" val="609968711"/>
                    </a:ext>
                  </a:extLst>
                </a:gridCol>
              </a:tblGrid>
              <a:tr h="829469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b="1" dirty="0">
                          <a:effectLst/>
                          <a:latin typeface="inherit"/>
                        </a:rPr>
                        <a:t>目的网络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b="1" dirty="0">
                          <a:solidFill>
                            <a:srgbClr val="FFFF00"/>
                          </a:solidFill>
                          <a:effectLst/>
                          <a:latin typeface="inherit"/>
                        </a:rPr>
                        <a:t>子网掩码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b="1">
                          <a:effectLst/>
                          <a:latin typeface="inherit"/>
                        </a:rPr>
                        <a:t>下一跳地址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b="1" dirty="0">
                          <a:effectLst/>
                          <a:latin typeface="inherit"/>
                        </a:rPr>
                        <a:t>接口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97112985"/>
                  </a:ext>
                </a:extLst>
              </a:tr>
              <a:tr h="829469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dirty="0">
                          <a:effectLst/>
                          <a:latin typeface="inherit"/>
                        </a:rPr>
                        <a:t>192.168.1.0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255.255.255.0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>
                          <a:effectLst/>
                          <a:latin typeface="inherit"/>
                        </a:rPr>
                        <a:t>直接交付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" dirty="0">
                          <a:effectLst/>
                          <a:latin typeface="inherit"/>
                        </a:rPr>
                        <a:t>eth0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8700747"/>
                  </a:ext>
                </a:extLst>
              </a:tr>
              <a:tr h="829469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10.0.0.0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255.0.0.0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192.168.1.1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">
                          <a:effectLst/>
                          <a:latin typeface="inherit"/>
                        </a:rPr>
                        <a:t>eth0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0666316"/>
                  </a:ext>
                </a:extLst>
              </a:tr>
              <a:tr h="829469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0.0.0.0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0.0.0.0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192.168.1.1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" dirty="0">
                          <a:effectLst/>
                          <a:latin typeface="inherit"/>
                        </a:rPr>
                        <a:t>eth0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36213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879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5787-E335-67EB-DC23-A97C7667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127C5-8034-1EA5-5D09-804F902C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TCP/IP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协议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7BE4624-2DD6-4A97-72BB-C8C32E547C2F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EF2DE70-92B8-AF6F-13DD-DD25F82172D3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6E2DA8-7D57-B421-1AE1-C09DE6444241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BAF1DFD-09EB-AA94-F9EF-63E758451D16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C3EBA3D-86A8-AEA3-2137-A21B03019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622" y="1469200"/>
            <a:ext cx="7992755" cy="495782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980EFF3-BBD1-CD8A-C3FC-EA0BCE90C092}"/>
              </a:ext>
            </a:extLst>
          </p:cNvPr>
          <p:cNvSpPr/>
          <p:nvPr/>
        </p:nvSpPr>
        <p:spPr>
          <a:xfrm>
            <a:off x="4343400" y="3924300"/>
            <a:ext cx="3619500" cy="32861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37C4FD-2F90-3839-54BB-11CC8C1BB9D8}"/>
              </a:ext>
            </a:extLst>
          </p:cNvPr>
          <p:cNvSpPr/>
          <p:nvPr/>
        </p:nvSpPr>
        <p:spPr>
          <a:xfrm>
            <a:off x="4343400" y="4493453"/>
            <a:ext cx="4292600" cy="4556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7300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4556-5E63-3687-230C-6364E8A2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0C991-D9F5-DB9A-CC2C-90F3059A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连接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4FADC8-EC87-4627-3E1A-029DE554A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9845039" cy="4448174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三次握手，四次挥手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可靠（确认、重传）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有序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无上限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慢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3074" name="Picture 2" descr="TCP三次握手和四次挥手 | 天赋创新的blog">
            <a:extLst>
              <a:ext uri="{FF2B5EF4-FFF2-40B4-BE49-F238E27FC236}">
                <a16:creationId xmlns:a16="http://schemas.microsoft.com/office/drawing/2014/main" id="{C9D993C9-0EEA-BC31-E330-5C7F51CC7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013" y="865542"/>
            <a:ext cx="7213285" cy="512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645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AA39A-991A-12EF-64DF-E72D01AF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14C9F-6619-BB09-38CD-BB27A627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IP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3F21DDB-224F-E5F9-4009-D94654DBFDB8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6405270-F76B-7D0B-6D17-9B9F95CA3927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A285F9-587C-89AE-83AD-00AFDDD362B4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10E820A-0A39-9AFA-A876-23213E532187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5AF8575-5F68-4BC6-F4DE-0EB5B6AB2DD1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协议：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为每个网络设备分配一个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根据数据包的目标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发送数据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IPv4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32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位（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个字节） </a:t>
            </a:r>
            <a:r>
              <a:rPr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—&gt; 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一共多少个？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4"/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192.168.10.9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IPv6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128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位（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16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字节），写为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8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个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位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16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进制数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4"/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2001:0db8:85a3:0000:0000:8a2e:0370:7334</a:t>
            </a:r>
          </a:p>
        </p:txBody>
      </p:sp>
    </p:spTree>
    <p:extLst>
      <p:ext uri="{BB962C8B-B14F-4D97-AF65-F5344CB8AC3E}">
        <p14:creationId xmlns:p14="http://schemas.microsoft.com/office/powerpoint/2010/main" val="3189761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8157-1AD4-4896-0355-FD256706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C6710-1C77-2BA0-7BD8-F866D5A9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内网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地址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701AB0D-D5DA-A4D4-17A0-370D5E419179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30B87B7-1ED1-576C-3D6A-C164B056E08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E6EF32-5FA9-E304-6B74-F4126F8956C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64B7AD3-83C0-3A30-35F0-AA6F8B79B9D3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38B1B3-2965-3E64-3219-A446C1ED5C8E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在局域网（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LAN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）中使用，不会在互联网上直接路由。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范围：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10.0.0.0 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到 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10.255.255.255</a:t>
            </a:r>
          </a:p>
          <a:p>
            <a:pPr lvl="1"/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172.16.0.0 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到 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172.31.255.255</a:t>
            </a:r>
          </a:p>
          <a:p>
            <a:pPr lvl="1"/>
            <a:r>
              <a:rPr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192.168.0.0 </a:t>
            </a:r>
            <a:r>
              <a:rPr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到 </a:t>
            </a:r>
            <a:r>
              <a:rPr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192.168.255.255</a:t>
            </a:r>
          </a:p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800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F288-6930-3679-0C83-A5CDC87A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43BAD-650D-6816-13EC-A6FC2CE9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公网地址不够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E2B4A2F-BF38-6ED2-EEF9-F10DD11EFFB6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B08C4DD-3132-BE7E-1C27-596524DCEB16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5E962-E031-5B6F-4F69-CD352F14F979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262D564-9F3E-BB54-C1AE-3CEA97B53174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26CCAF5-DACD-EB14-0BB2-E9354D3B2301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方法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IPv6</a:t>
            </a: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方法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NAT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技术（网络地址转换）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允许多个设备共享一个公网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地址，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NAT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设备（如路由器）在内部网络和外部网络之间转换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地址。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4438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B8E0-ACF9-2634-9DCC-4EB7774C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8B734-AB83-693E-A588-5FE051FE1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网络太大怎么办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2D333D9-37FD-E981-26D7-28C57A9F179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2F30361-42AC-800C-EC37-34164C78C6B5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5C651C-2F2A-B386-2BB3-37720C42345C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77B0D16-420D-7D28-CEFB-13527BB673DF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90C0A98-AD1B-BF34-093D-02D858E86C2A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87DC2EB-6DB2-870F-8850-70F32F31F52D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192.168.0.0 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到 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192.168.255.255</a:t>
            </a:r>
          </a:p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51D639-6322-4EB5-56EE-6AC0086C2A3F}"/>
              </a:ext>
            </a:extLst>
          </p:cNvPr>
          <p:cNvSpPr txBox="1"/>
          <p:nvPr/>
        </p:nvSpPr>
        <p:spPr>
          <a:xfrm>
            <a:off x="2285938" y="3746570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问题：这个网段有多少台设备？</a:t>
            </a:r>
          </a:p>
        </p:txBody>
      </p:sp>
    </p:spTree>
    <p:extLst>
      <p:ext uri="{BB962C8B-B14F-4D97-AF65-F5344CB8AC3E}">
        <p14:creationId xmlns:p14="http://schemas.microsoft.com/office/powerpoint/2010/main" val="118094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100C-0439-3AE1-DAF9-2CC3A2BF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082D3-A9C5-2BE3-5C3E-C13ED96E3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B9AD9B7-8418-0A4E-5F40-529E88654DE3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3062F4D-910C-73C2-1BBF-AFF11DE784F9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E50319-837A-12A1-AB3A-A66D387FCFE1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AC22ED1-16A4-AAE0-04E3-E633FB957B74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BD5DE6A-5A89-E369-656C-C4DB72FC8948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33C232-FA82-C0F1-83DF-453ACBA5CE26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功能：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区分子网，确定一个</a:t>
            </a:r>
            <a:r>
              <a:rPr lang="en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地址中的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网络部分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主机部分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网络部分相同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的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在同一个子网下，可互联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格式：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32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位（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字节），长度与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地址相同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5038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E8FAD-D09B-B077-4C06-FCD40247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5F774-D036-F02C-449A-6363BED9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46F1C56-6034-7161-DD2B-612B60D646A1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8FF4A17-ADCC-B50C-69EF-1DCB6A8CC80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9EF7E7-4F0E-CE43-CEB5-C1DFEDAEDBA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2ED50ED-CAC8-150D-7C19-E8E7DDE948F2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DC46D85-B1A3-04A3-9ED5-FAE7E9BB6E40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B0B947D-49E4-4EBE-F605-A129FB069D45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5645B0C-9038-EAFF-6E53-24B28B777AC0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网络地址计算：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地址与子网掩码（二进制）按位“与”运算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不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全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为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0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的部分为网络部分，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全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为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0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的为主机部分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网络部分相同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的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在同一个子网下，可互联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案例：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地址：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192.168.10.4</a:t>
            </a: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子网掩码：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255.255.255.0</a:t>
            </a: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1991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8777-198E-3F60-95E2-59C79509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C57C2-FF4D-9075-FEFD-3CD61A32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D4A284B-93AB-4BA1-7778-D01BECFBECB6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6F39998-977F-E961-9C54-412989218E19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A8F38A-4D0E-2C1E-2B8E-52867DD87A7B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AFBDF98-38A8-3F00-04CF-2C34FF543BEC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6A212B3-6269-D7D2-6F08-0BF0696EDBFB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D03A81A-A9E3-4C89-9670-5565A938B406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374CB73-DCBA-E665-C3F9-12AAB9576FF6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	11000000.10101000.00001010.00000100</a:t>
            </a: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子网掩码：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11111111.11111111.11111111.00000000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3833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DD6C-E986-FA67-D69C-C1377E7D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D8424-0C50-5429-BB60-5772BF2B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BC2A06C-2BAF-1283-3E25-26F1D1D2180F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817A0B5-16DE-3ED3-80DB-9F88B5DF06F5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9996B-F22A-707A-3E40-A6445573833A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2FF1C44-15A6-8144-C8E4-366480F5B541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830CFD0-EC7B-13D3-7C55-893A86A7B10F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2548806-543A-C6DF-554C-7F5597DAB7AD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990A54A-8775-1298-9DF2-B653E5162E70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	11000000.10101000.00001010.00000100</a:t>
            </a: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子网掩码：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11111111.11111111.11111111.00000000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6AE122-6961-9A8E-E241-72FBC7D8F163}"/>
              </a:ext>
            </a:extLst>
          </p:cNvPr>
          <p:cNvSpPr txBox="1"/>
          <p:nvPr/>
        </p:nvSpPr>
        <p:spPr>
          <a:xfrm>
            <a:off x="3863340" y="4328592"/>
            <a:ext cx="6637018" cy="523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11000000.10101000.00001010.00000000</a:t>
            </a:r>
            <a:endParaRPr lang="zh-CN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653DAC61-1851-55C0-4698-7B5305A7D5BC}"/>
              </a:ext>
            </a:extLst>
          </p:cNvPr>
          <p:cNvSpPr/>
          <p:nvPr/>
        </p:nvSpPr>
        <p:spPr>
          <a:xfrm>
            <a:off x="6096000" y="3336893"/>
            <a:ext cx="2197100" cy="7390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8807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02AEA-AA85-4AEC-FAC5-82C01AF55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EFF23-C8E8-1ECB-54DB-63DDD66E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1C93180-5FF7-AD30-44ED-B367891442B2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CFE2869-46DC-A923-CA1A-27C3D97FD1CA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EDA74F-367B-4369-17C7-C787D0D99043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3A8C619-A0B3-15E6-35A0-E9EC80E8C03B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75239FD-EE25-93AD-F32F-B94E34420CF3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E91FF59-5555-0B0A-94FE-9F82E31E237A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B4B9B9A-AB64-A438-2B43-D9E1AC2B6CF3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	11000000.10101000.00001010.00000100</a:t>
            </a: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子网掩码：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11111111.11111111.11111111.00000000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CC046D3-82C0-F6F5-240A-FFB4C35347D4}"/>
              </a:ext>
            </a:extLst>
          </p:cNvPr>
          <p:cNvSpPr txBox="1"/>
          <p:nvPr/>
        </p:nvSpPr>
        <p:spPr>
          <a:xfrm>
            <a:off x="3863340" y="4328592"/>
            <a:ext cx="6637018" cy="523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11000000.10101000.00001010.00000000</a:t>
            </a:r>
            <a:endParaRPr lang="zh-CN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0915A344-77DE-D079-D560-1793EB0FC711}"/>
              </a:ext>
            </a:extLst>
          </p:cNvPr>
          <p:cNvSpPr/>
          <p:nvPr/>
        </p:nvSpPr>
        <p:spPr>
          <a:xfrm>
            <a:off x="6096000" y="3336893"/>
            <a:ext cx="2197100" cy="7390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52F766-185C-324A-6782-E8468BF6E137}"/>
              </a:ext>
            </a:extLst>
          </p:cNvPr>
          <p:cNvSpPr txBox="1"/>
          <p:nvPr/>
        </p:nvSpPr>
        <p:spPr>
          <a:xfrm>
            <a:off x="5919469" y="5104499"/>
            <a:ext cx="2524760" cy="523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192.168.10.0</a:t>
            </a:r>
            <a:endParaRPr lang="zh-CN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7034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5C129-A452-C265-D258-1A0AC87E7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01AFD-9534-8B18-B7E6-D593EE04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7241B90-D2D9-6D05-0D4D-73AEB398B4F7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2D10C07-A302-29AB-DFEB-1E5DCED4D8A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F6957D-98D2-40F5-646E-D6BE075C6E6D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4619C8A-EA19-D7CD-BF20-C8F803F8C46B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FD8DF33-67F9-BC06-02CC-94234A21C65C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E794901-8651-781A-3D40-529F1C89B404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FCEDC1B-F489-0148-E5A1-EC9BC27D6BCB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	11000000.10101000.00001010.00000100</a:t>
            </a: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子网掩码：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11111111.11111111.00000000.00000000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4240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5874B-A1C5-A3D3-4828-2DE7E3EA5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4D4CB-6D1B-D153-6411-FC796193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4D17D68-895E-F5C9-564A-76B211DAD63E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A593639-7899-7006-5043-9DCFB394BD7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4B4560-44C1-C7DF-7042-C4E31E37C444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CC2C8AD-A7F6-3BA7-F21D-0F802B66E1A4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171C75D-588C-EF51-F054-5BC79B1E62ED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BF776B2-4D37-6B49-0419-260D1C1F7B6A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6D56150-390B-0E7C-1B7B-3029C37B6A34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	11000000.10101000.00001010.00000100</a:t>
            </a: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子网掩码：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11111111.11111111.00000000.00000000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A903F4-9F20-C692-DC7C-832B17E94BB3}"/>
              </a:ext>
            </a:extLst>
          </p:cNvPr>
          <p:cNvSpPr txBox="1"/>
          <p:nvPr/>
        </p:nvSpPr>
        <p:spPr>
          <a:xfrm>
            <a:off x="3863340" y="4328592"/>
            <a:ext cx="6637018" cy="523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11000000.10101000.00000000.00000000</a:t>
            </a:r>
            <a:endParaRPr lang="zh-CN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070E3AA4-6FB1-0C23-6AFD-60CB5163B6E7}"/>
              </a:ext>
            </a:extLst>
          </p:cNvPr>
          <p:cNvSpPr/>
          <p:nvPr/>
        </p:nvSpPr>
        <p:spPr>
          <a:xfrm>
            <a:off x="6096000" y="3336893"/>
            <a:ext cx="2197100" cy="7390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0735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121F6-CAC7-1C16-CF6F-5E9C70FFD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1D2F3-F839-533B-CA45-639A3A451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CE5ECC6-1A38-D154-ECFA-FA98240C2678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9C2F7FC-9944-86E3-7B88-B837C7DAC21B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DCFB6-1FE9-64C9-3D62-94E4F3BE63B1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B1DC8E3-A31C-C9B6-C540-152CBB16097A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9D7B7C7-4FC5-4527-170F-BB36ED016D79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236B078-025B-F56A-2376-B809E774AAAB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A62F1F7-9B48-C99F-165D-2EE850CC095D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	11000000.10101000.00001010.00000100</a:t>
            </a: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子网掩码：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	11111111.11111111.00000000.00000000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E9BAED-F52D-C9B5-482C-A4540B74AD5C}"/>
              </a:ext>
            </a:extLst>
          </p:cNvPr>
          <p:cNvSpPr txBox="1"/>
          <p:nvPr/>
        </p:nvSpPr>
        <p:spPr>
          <a:xfrm>
            <a:off x="3863340" y="4328592"/>
            <a:ext cx="6637018" cy="523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11000000.10101000.00000000.00000000</a:t>
            </a:r>
            <a:endParaRPr lang="zh-CN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671E5393-21BB-BADC-50BE-4D56CFE5BA0C}"/>
              </a:ext>
            </a:extLst>
          </p:cNvPr>
          <p:cNvSpPr/>
          <p:nvPr/>
        </p:nvSpPr>
        <p:spPr>
          <a:xfrm>
            <a:off x="6096000" y="3336893"/>
            <a:ext cx="2197100" cy="7390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C53349-DE27-029C-C3D8-7512FB295B05}"/>
              </a:ext>
            </a:extLst>
          </p:cNvPr>
          <p:cNvSpPr txBox="1"/>
          <p:nvPr/>
        </p:nvSpPr>
        <p:spPr>
          <a:xfrm>
            <a:off x="5919469" y="5104499"/>
            <a:ext cx="2373631" cy="523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192.168.0.0</a:t>
            </a:r>
            <a:endParaRPr lang="zh-CN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7608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36CED-C8A9-4F9D-E4F4-02949498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8E182-7384-371A-13F5-8B912DEB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2686320-60C3-10B8-57EE-8F71DEC47A64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C0E5A8B-37F4-1AEA-C1A5-5C0B629D5F30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85F18-7A58-8056-54A0-95C19940CD7B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70CA043-8F7D-D5E6-8459-050C301E859C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A5318B4-8773-C35B-5752-A9940B5DDDD1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AE61572-5EE1-DA2A-5F86-259D7DA99FF1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9192F16-CCB8-DA2A-9DEE-3A198AC8C918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类子网掩码：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255.0.0.0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B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类子网掩码：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255.255.0.0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C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类子网掩码：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255.255.255.0</a:t>
            </a:r>
          </a:p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4459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24C4-C5DD-A363-E1D7-F02307D8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A855A-066E-792C-4483-7221BC626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子网掩码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5356E53-E317-D487-0DDD-C5CEDB2755D5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7C004B2-AF63-CED2-5319-02C398B0FB83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89878-6256-2896-13ED-A25C1F0BFCA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3D09A03-7221-512A-EFD9-FD39A6532A2B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C66D894-A768-259B-6957-604413F1D454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201B73B-FEBB-8E0C-221C-60DCD6412357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4FF6C5B-8908-A471-4047-67F7CA31E0B1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子网表示：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网络地址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子网掩码二进制非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0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位数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192.168.10.0/24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192.168.0.0/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？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0478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CE02-1A03-EBCF-AEFD-91ABE93DD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1F4D5-79B7-46C5-105A-D30CA8FF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不在同一个子网怎么办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4520D6A-380C-CF49-E3A5-0A7103AFF0A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E8B850B-2E77-974D-F69C-601442B35B9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93A00-4C1E-945E-81F6-C0127FC843EB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6006DF9-6278-403E-4631-7C39879C16F5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CED5FC4-E266-ED3D-FB39-5FBACCF440E5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6CBDA20-5F3F-51D7-96BD-B44E8D78423B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C68D252-3BE3-AD4F-1373-2F49010B1894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路由表：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B6379FA-9901-742A-6253-6FD82F3B3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759471"/>
              </p:ext>
            </p:extLst>
          </p:nvPr>
        </p:nvGraphicFramePr>
        <p:xfrm>
          <a:off x="2133598" y="2729675"/>
          <a:ext cx="8338820" cy="3317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05">
                  <a:extLst>
                    <a:ext uri="{9D8B030D-6E8A-4147-A177-3AD203B41FA5}">
                      <a16:colId xmlns:a16="http://schemas.microsoft.com/office/drawing/2014/main" val="356285910"/>
                    </a:ext>
                  </a:extLst>
                </a:gridCol>
                <a:gridCol w="2084705">
                  <a:extLst>
                    <a:ext uri="{9D8B030D-6E8A-4147-A177-3AD203B41FA5}">
                      <a16:colId xmlns:a16="http://schemas.microsoft.com/office/drawing/2014/main" val="3173118694"/>
                    </a:ext>
                  </a:extLst>
                </a:gridCol>
                <a:gridCol w="2084705">
                  <a:extLst>
                    <a:ext uri="{9D8B030D-6E8A-4147-A177-3AD203B41FA5}">
                      <a16:colId xmlns:a16="http://schemas.microsoft.com/office/drawing/2014/main" val="4062170043"/>
                    </a:ext>
                  </a:extLst>
                </a:gridCol>
                <a:gridCol w="2084705">
                  <a:extLst>
                    <a:ext uri="{9D8B030D-6E8A-4147-A177-3AD203B41FA5}">
                      <a16:colId xmlns:a16="http://schemas.microsoft.com/office/drawing/2014/main" val="609968711"/>
                    </a:ext>
                  </a:extLst>
                </a:gridCol>
              </a:tblGrid>
              <a:tr h="829469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b="1" dirty="0">
                          <a:effectLst/>
                          <a:latin typeface="inherit"/>
                        </a:rPr>
                        <a:t>目的网络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b="1" dirty="0">
                          <a:solidFill>
                            <a:srgbClr val="FFFF00"/>
                          </a:solidFill>
                          <a:effectLst/>
                          <a:latin typeface="inherit"/>
                        </a:rPr>
                        <a:t>子网掩码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b="1">
                          <a:effectLst/>
                          <a:latin typeface="inherit"/>
                        </a:rPr>
                        <a:t>下一跳地址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b="1" dirty="0">
                          <a:effectLst/>
                          <a:latin typeface="inherit"/>
                        </a:rPr>
                        <a:t>接口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97112985"/>
                  </a:ext>
                </a:extLst>
              </a:tr>
              <a:tr h="829469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 dirty="0">
                          <a:effectLst/>
                          <a:latin typeface="inherit"/>
                        </a:rPr>
                        <a:t>192.168.1.0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255.255.255.0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>
                          <a:effectLst/>
                          <a:latin typeface="inherit"/>
                        </a:rPr>
                        <a:t>直接交付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" dirty="0">
                          <a:effectLst/>
                          <a:latin typeface="inherit"/>
                        </a:rPr>
                        <a:t>eth0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8700747"/>
                  </a:ext>
                </a:extLst>
              </a:tr>
              <a:tr h="829469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10.0.0.0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255.0.0.0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192.168.1.1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">
                          <a:effectLst/>
                          <a:latin typeface="inherit"/>
                        </a:rPr>
                        <a:t>eth0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0666316"/>
                  </a:ext>
                </a:extLst>
              </a:tr>
              <a:tr h="829469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0.0.0.0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0.0.0.0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CN">
                          <a:effectLst/>
                          <a:latin typeface="inherit"/>
                        </a:rPr>
                        <a:t>192.168.1.1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" dirty="0">
                          <a:effectLst/>
                          <a:latin typeface="inherit"/>
                        </a:rPr>
                        <a:t>eth0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36213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989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D775-06AB-81C7-C8C7-D17183FF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79FD6-66F1-CC41-CFBB-563DE7A26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ifconfig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F74EF84-E06D-AF3F-4DCC-60D942A0DB6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981E904-08BD-8FD7-FC01-3B7C0132BCBE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30351A-BF34-BD64-073C-33B965CF9E3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5820CE4-C5F5-AE73-367A-B24E3304942F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F03F85D-3741-48E8-D42F-38A70BAC5724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BB05D54-E743-463E-7A00-3DEF4DA349A4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B2F3894-5969-87C6-76A3-35DB25004D12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查看自己的服务器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记得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sudo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http.server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3963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730F8-E100-DD83-EFD3-B60FCF4E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BA6E8-E0DE-54AC-CCF8-E3C9597B3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记不住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怎么办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352FC41-8D8D-AA9C-21B1-B155A1374264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A7385EC-4903-5F2D-96BC-584003410A4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B81D8-D218-F98B-F4B0-B3E5B05D00CD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B9473DE-79CC-B5C9-0F97-7436B47BB6B1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9CE4C18-5DB0-6850-CA31-14B9C01585A0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DF7BCFB-50F0-9E50-760C-D2EABCC06C29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0B63392-981C-8A27-BFA1-D87334A29846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DNS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域名系统，将人类可读的域名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lang="en-US" altLang="zh-CN" sz="24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www.baidu.com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转化为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IP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lang="en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103.235.46.102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2" name="图片 11" descr="表格&#10;&#10;AI 生成的内容可能不正确。">
            <a:extLst>
              <a:ext uri="{FF2B5EF4-FFF2-40B4-BE49-F238E27FC236}">
                <a16:creationId xmlns:a16="http://schemas.microsoft.com/office/drawing/2014/main" id="{36E46101-07CA-6366-8D21-9082DD80C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57" y="3348024"/>
            <a:ext cx="10647264" cy="328137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81D2FE6-9D9C-2A25-31C6-E15D8B467D53}"/>
              </a:ext>
            </a:extLst>
          </p:cNvPr>
          <p:cNvSpPr/>
          <p:nvPr/>
        </p:nvSpPr>
        <p:spPr>
          <a:xfrm>
            <a:off x="894080" y="3657600"/>
            <a:ext cx="7767320" cy="11049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3311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9A6D-3242-2B9D-C8BA-257CBD03E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5CC1F-16F8-3D2A-2045-985214CBD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一台服务器想要建立多个服务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0F68808-2D11-697F-1124-2F5E863827E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C493476-FB69-A7A4-B90B-A2779CE4ABEB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1928E7-81D9-8688-06D4-8FAA0F43340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AC816A4-5D28-FC36-C848-308194262EF3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D4C249B-E2E9-640C-AF1D-10D3CB9A63A1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75C39FAF-966E-1444-A334-F0D9917480FD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端口：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0-65535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0-1023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是常用端口，系统往往会占用，自己尽量少用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常用服务：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80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http 			20,21 -&gt; ftp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443 -&gt; https			3306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MySql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22 -&gt; ssh			6379 -&gt; Redis</a:t>
            </a: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D849CA-ABD4-04C0-59FC-75168F14A710}"/>
              </a:ext>
            </a:extLst>
          </p:cNvPr>
          <p:cNvSpPr/>
          <p:nvPr/>
        </p:nvSpPr>
        <p:spPr>
          <a:xfrm>
            <a:off x="1892300" y="5105400"/>
            <a:ext cx="2095500" cy="635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510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CE1C-8668-9666-1056-9CB370EB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13ADF-253F-A408-404B-EFFC0355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TCP/IP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协议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55DB592-E191-A566-B248-050F7C6564DF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96D2008-B671-A640-356D-821E34C327FE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46B39-44F7-F7A5-797E-86D4FD9A50B9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E4B1BF7-A2C4-2A0C-B8CC-83D0771C67DB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36341FD-7E1E-88C4-4FC5-707710C39916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0632966-5EAD-9DD1-BECD-9840E3C2A9C8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BFC3D79-EA37-F18F-F9CC-55FAC7530358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协议连接的书写规则：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应用层协议名称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://IP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地址（或域名）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: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端口号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9606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1D802-7629-E5C6-8B82-B5C1BA76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435BD-918A-D757-8A7C-6A13495A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TCP/IP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协议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5C3B701-146D-34DC-6389-9A8806AA52A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D573C28-DF4B-2608-83F1-E923C57C6552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05AA1-2846-31EF-67D6-FD4457373591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9CF2F9F-0C47-C7B5-57E6-E88E59452AD8}"/>
              </a:ext>
            </a:extLst>
          </p:cNvPr>
          <p:cNvSpPr txBox="1">
            <a:spLocks/>
          </p:cNvSpPr>
          <p:nvPr/>
        </p:nvSpPr>
        <p:spPr>
          <a:xfrm>
            <a:off x="1046479" y="2181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3D4C40B-B2C1-333F-4806-A5E4F80F4D9C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7E4F0FC-FDBB-3479-7E99-C272046C111C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98A6138-D2F6-8394-4D80-485BE5B65142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协议连接的书写规则：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应用层协议名称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://IP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地址（或域名）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: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端口号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ssh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//10.64.198.10:22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http://10.64.198.10:80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http://127.0.0.1:8888 	-&gt; 	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Jupyter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0727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E066-520D-6A3A-5254-8530DEF9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F77B6-DBF0-9F47-E2AE-3D7EAECC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TCP/IP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协议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CCAB61B-5428-A801-CA58-663F86287ECE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07DB692-B88F-9300-503E-13921BF925E3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4E40BD-7FAD-E1A2-CBED-F3CB9A2AE6B5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8E9E537-44DF-3225-068F-0C913870F2D0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BD64421-19B0-F9D4-1D11-8419E7B9B53E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EF8A577-6667-8341-8AAE-885134D28476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协议连接的书写规则：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应用层协议名称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://IP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地址（或域名）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: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端口号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ssh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//10.64.198.10:22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http://10.64.198.10:80</a:t>
            </a: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http://127.0.0.1:8888 	-&gt; 	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Jupyter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1E10BD-4F58-AD13-6652-880483D18E51}"/>
              </a:ext>
            </a:extLst>
          </p:cNvPr>
          <p:cNvSpPr/>
          <p:nvPr/>
        </p:nvSpPr>
        <p:spPr>
          <a:xfrm>
            <a:off x="3009900" y="4533900"/>
            <a:ext cx="1485900" cy="5461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6A1708-1992-B8AE-E8E8-3D249CC9D15B}"/>
              </a:ext>
            </a:extLst>
          </p:cNvPr>
          <p:cNvSpPr txBox="1"/>
          <p:nvPr/>
        </p:nvSpPr>
        <p:spPr>
          <a:xfrm>
            <a:off x="2506355" y="5309103"/>
            <a:ext cx="46297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本地回环地址、</a:t>
            </a:r>
            <a:r>
              <a:rPr kumimoji="1" lang="en-US" altLang="zh-CN" sz="3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localhost</a:t>
            </a:r>
          </a:p>
          <a:p>
            <a:r>
              <a:rPr kumimoji="1" lang="en-US" altLang="zh-CN" sz="3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127.0.0.0/8</a:t>
            </a:r>
            <a:endParaRPr kumimoji="1" lang="zh-CN" altLang="en-US" sz="3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8379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794F-7AC8-6B47-8552-D5A3078C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BB8EB-315A-7E23-5AE3-1961CAB0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本地回环网址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EDD800F-A68C-6146-61BA-B983111A527A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EB66342-4597-7C99-0F02-B72E1CD80C26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0F535-1297-9981-E8D9-339A99B6874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F3A14D5-62BC-2905-1FC5-1028155C2C47}"/>
              </a:ext>
            </a:extLst>
          </p:cNvPr>
          <p:cNvSpPr txBox="1">
            <a:spLocks/>
          </p:cNvSpPr>
          <p:nvPr/>
        </p:nvSpPr>
        <p:spPr>
          <a:xfrm>
            <a:off x="817879" y="1651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25B4C56-3BEC-7107-D57E-B0ADB0121F3D}"/>
              </a:ext>
            </a:extLst>
          </p:cNvPr>
          <p:cNvSpPr txBox="1">
            <a:spLocks/>
          </p:cNvSpPr>
          <p:nvPr/>
        </p:nvSpPr>
        <p:spPr>
          <a:xfrm>
            <a:off x="970279" y="18042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BC8BC17-1D07-0AEB-943A-EFA3AC9FD331}"/>
              </a:ext>
            </a:extLst>
          </p:cNvPr>
          <p:cNvSpPr txBox="1">
            <a:spLocks/>
          </p:cNvSpPr>
          <p:nvPr/>
        </p:nvSpPr>
        <p:spPr>
          <a:xfrm>
            <a:off x="1122679" y="19566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16DA48-BA9D-89F8-CB38-72929B4AC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086" y="999501"/>
            <a:ext cx="5918200" cy="525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860716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2"/>
      </a:lt2>
      <a:accent1>
        <a:srgbClr val="D73864"/>
      </a:accent1>
      <a:accent2>
        <a:srgbClr val="C62794"/>
      </a:accent2>
      <a:accent3>
        <a:srgbClr val="C738D7"/>
      </a:accent3>
      <a:accent4>
        <a:srgbClr val="7327C6"/>
      </a:accent4>
      <a:accent5>
        <a:srgbClr val="4238D7"/>
      </a:accent5>
      <a:accent6>
        <a:srgbClr val="275FC6"/>
      </a:accent6>
      <a:hlink>
        <a:srgbClr val="7158C7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9818</TotalTime>
  <Words>897</Words>
  <Application>Microsoft Macintosh PowerPoint</Application>
  <PresentationFormat>宽屏</PresentationFormat>
  <Paragraphs>190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等线</vt:lpstr>
      <vt:lpstr>SimHei</vt:lpstr>
      <vt:lpstr>Microsoft YaHei</vt:lpstr>
      <vt:lpstr>inherit</vt:lpstr>
      <vt:lpstr>Amasis MT Pro Medium</vt:lpstr>
      <vt:lpstr>Arial</vt:lpstr>
      <vt:lpstr>Univers Light</vt:lpstr>
      <vt:lpstr>TribuneVTI</vt:lpstr>
      <vt:lpstr>Linux的网络  其实我们已经使用很久了</vt:lpstr>
      <vt:lpstr>网络与现代计算</vt:lpstr>
      <vt:lpstr>网络与现代计算</vt:lpstr>
      <vt:lpstr>Linux在网络中作为服务器</vt:lpstr>
      <vt:lpstr>网络的基础知识</vt:lpstr>
      <vt:lpstr>网络协议</vt:lpstr>
      <vt:lpstr>路由表</vt:lpstr>
      <vt:lpstr>TCP/IP协议</vt:lpstr>
      <vt:lpstr>TCP连接</vt:lpstr>
      <vt:lpstr>IP</vt:lpstr>
      <vt:lpstr>内网IP地址</vt:lpstr>
      <vt:lpstr>公网地址不够</vt:lpstr>
      <vt:lpstr>网络太大怎么办</vt:lpstr>
      <vt:lpstr>子网掩码</vt:lpstr>
      <vt:lpstr>子网掩码</vt:lpstr>
      <vt:lpstr>子网掩码</vt:lpstr>
      <vt:lpstr>子网掩码</vt:lpstr>
      <vt:lpstr>子网掩码</vt:lpstr>
      <vt:lpstr>子网掩码</vt:lpstr>
      <vt:lpstr>子网掩码</vt:lpstr>
      <vt:lpstr>子网掩码</vt:lpstr>
      <vt:lpstr>子网掩码</vt:lpstr>
      <vt:lpstr>子网掩码</vt:lpstr>
      <vt:lpstr>不在同一个子网怎么办</vt:lpstr>
      <vt:lpstr>ifconfig</vt:lpstr>
      <vt:lpstr>记不住IP怎么办</vt:lpstr>
      <vt:lpstr>一台服务器想要建立多个服务</vt:lpstr>
      <vt:lpstr>TCP/IP协议</vt:lpstr>
      <vt:lpstr>TCP/IP协议</vt:lpstr>
      <vt:lpstr>TCP/IP协议</vt:lpstr>
      <vt:lpstr>本地回环网址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禺 刘</dc:creator>
  <cp:lastModifiedBy>禺 刘</cp:lastModifiedBy>
  <cp:revision>58</cp:revision>
  <dcterms:created xsi:type="dcterms:W3CDTF">2024-12-04T03:09:23Z</dcterms:created>
  <dcterms:modified xsi:type="dcterms:W3CDTF">2026-06-01T00:53:15Z</dcterms:modified>
</cp:coreProperties>
</file>