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9" r:id="rId1"/>
  </p:sldMasterIdLst>
  <p:sldIdLst>
    <p:sldId id="256" r:id="rId2"/>
    <p:sldId id="257" r:id="rId3"/>
    <p:sldId id="29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  <p:sldId id="272" r:id="rId17"/>
    <p:sldId id="273" r:id="rId18"/>
    <p:sldId id="270" r:id="rId19"/>
    <p:sldId id="269" r:id="rId20"/>
    <p:sldId id="274" r:id="rId21"/>
    <p:sldId id="276" r:id="rId22"/>
    <p:sldId id="275" r:id="rId23"/>
    <p:sldId id="277" r:id="rId24"/>
    <p:sldId id="279" r:id="rId25"/>
    <p:sldId id="281" r:id="rId26"/>
    <p:sldId id="280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2" r:id="rId36"/>
    <p:sldId id="290" r:id="rId37"/>
    <p:sldId id="278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36"/>
    <p:restoredTop sz="91400"/>
  </p:normalViewPr>
  <p:slideViewPr>
    <p:cSldViewPr snapToGrid="0">
      <p:cViewPr varScale="1">
        <p:scale>
          <a:sx n="92" d="100"/>
          <a:sy n="92" d="100"/>
        </p:scale>
        <p:origin x="11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21-597E-4B4F-8572-5DA1CB18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0976"/>
            <a:ext cx="6509385" cy="355673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38D70-8FF5-47D7-A0DD-087A227BC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572000"/>
            <a:ext cx="6481953" cy="14859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B485-516D-48B7-AF1D-69AEEA3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4DDB-2831-4FF8-9DA7-0449659D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78F6-65BA-4964-80E2-DB6EA33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97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45AC-24E0-45A1-90C3-7BF96C3F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18E1-7CA3-4B5E-9683-554FDFC63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D32D-7150-4DF2-B992-A2B4F560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3F0C-FCA3-464C-B6ED-864DB51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1006-DAE1-4326-B1AE-FD527A6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409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B84-BE32-464A-A765-975C21B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952500"/>
            <a:ext cx="6678695" cy="396239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45C2-97CF-4887-904A-8ADC8052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952501"/>
            <a:ext cx="3500440" cy="3962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4559-DA32-4398-A8EE-EED2469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7BE1-F1AC-4732-B52E-1C7D63D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3C03-DDF0-48C6-B1BF-D28875F8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78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F411-42B3-4A17-BE7E-861BE7E7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0603-F4C0-40AC-A53E-40449D53D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C5634-2887-4182-A9BE-B382357D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8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E74-28E1-4684-B515-4265ED7B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75EA-A8F8-485D-A82F-CD85D4C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E4B0-F5E3-407F-A548-B616E774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180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161A-7627-4D64-AF08-10D702AF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950976"/>
            <a:ext cx="10802729" cy="8817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6884-07D8-4CC4-BE99-516F1433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18" y="1832772"/>
            <a:ext cx="5281507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C638-B5A8-4F8C-85AE-33BEAF54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600531"/>
            <a:ext cx="528150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1933-A703-4BDC-A697-728E899EE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927" y="1832772"/>
            <a:ext cx="5283202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25DBD-4D51-4A2D-B1E4-6D094CD1E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927" y="2600531"/>
            <a:ext cx="52832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636E2-E26E-42F7-9E05-3F756C7D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281B-0E5C-421E-AFFE-775F57C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83462-E410-4DC7-AE53-27AABECF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07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FA68-31B5-48C5-929A-842FDF0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2600-419E-46E9-946F-FBDEDBA1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5F9A9-98FF-4653-A570-9F351A1A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4457-95F1-4B15-A647-B14F91F7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836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9EABA-1008-4E49-9184-3A946ECD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BD0-269D-4127-B5F7-84B0D8A7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3447-C740-4495-93EC-7252B1B9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35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1155-71E7-4F0A-BB62-933743CF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500"/>
            <a:ext cx="4124084" cy="2362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6D44-5A1E-4176-8766-4B81E045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952500"/>
            <a:ext cx="5934074" cy="49085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EC6-11DD-4B5D-A2D2-4DCF73E5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FCDF-666E-4DB4-A1C0-79D40A00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69AC-15E6-4B19-A59D-DBDBE923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F0EE-74DE-4FEC-81E9-E40D5339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77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A4F-6508-4AD6-8367-A0288D88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4124084" cy="239791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6BFCD-2F93-4D99-89EA-F0359FB7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119" y="987425"/>
            <a:ext cx="602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1F7-1272-41C8-8C29-676316D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D491-0FE6-4B42-AAA6-B698E46F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F83F-4E9F-4607-A69B-DFC93256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24484-C6E4-4D8A-BDAB-09B1FBB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523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F1B-6F93-4E6E-8C8C-D01A9DE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D2968-FE85-492F-A77B-1771F4E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641" y="2028826"/>
            <a:ext cx="11094348" cy="4029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2DA2-B1FB-45C6-B10C-141AC2B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6D78-CE47-4CA7-B3B6-AFAE5175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C5C0-8780-4819-A8FC-32A0141D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30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8F9A8-05F2-4F79-B689-1FA2F319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72612" y="952499"/>
            <a:ext cx="2207417" cy="51054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615BC-61CD-4D59-8E85-B59072E2B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7924" y="952499"/>
            <a:ext cx="8914688" cy="51054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1C46-8CC0-4B79-AF2E-84C86C6A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6817-4D29-4888-B68C-A35F5A0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B21A-30A9-4173-9E3F-D985B8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316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E843-90BA-4A7D-8F9F-FFE4938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CA62-9B55-49B4-94B6-EAAF7D5A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A03-AAFA-4A69-A3DA-1DD0EF273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5/28/25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7F43-1ECB-4FC2-863E-26CEE24A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924" y="1737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F9D8-4B2E-4871-B2AE-EFC06BE2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</a:extLst>
          </p:cNvPr>
          <p:cNvCxnSpPr>
            <a:cxnSpLocks/>
          </p:cNvCxnSpPr>
          <p:nvPr/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F79732-4088-424C-A653-4534E4389443}"/>
              </a:ext>
            </a:extLst>
          </p:cNvPr>
          <p:cNvCxnSpPr>
            <a:cxnSpLocks/>
          </p:cNvCxnSpPr>
          <p:nvPr/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295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8" r:id="rId6"/>
    <p:sldLayoutId id="2147483743" r:id="rId7"/>
    <p:sldLayoutId id="2147483744" r:id="rId8"/>
    <p:sldLayoutId id="2147483745" r:id="rId9"/>
    <p:sldLayoutId id="2147483747" r:id="rId10"/>
    <p:sldLayoutId id="214748374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bilibili.com/video/BV1of5PzbEC9/?spm_id_from=333.1007.top_right_bar_window_default_collection.content.click&amp;vd_source=c17c68c4bf2f4d824f2adb11c30088d1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42768F-95BB-478A-ADFA-24FD8097F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DCA2F1-2F4D-77DD-E04F-BDBEFCBB80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931" b="13819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3F26D5C-77E9-4A8D-95F0-1635BAD12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2"/>
            <a:ext cx="12191999" cy="4360983"/>
          </a:xfrm>
          <a:prstGeom prst="rect">
            <a:avLst/>
          </a:prstGeom>
          <a:gradFill flip="none" rotWithShape="1">
            <a:gsLst>
              <a:gs pos="3000">
                <a:srgbClr val="000000">
                  <a:alpha val="0"/>
                </a:srgbClr>
              </a:gs>
              <a:gs pos="61000">
                <a:srgbClr val="000000">
                  <a:alpha val="4800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7A60BDE-818F-53DF-E273-26133D059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1" y="952500"/>
            <a:ext cx="9603888" cy="1535114"/>
          </a:xfrm>
        </p:spPr>
        <p:txBody>
          <a:bodyPr>
            <a:noAutofit/>
          </a:bodyPr>
          <a:lstStyle/>
          <a:p>
            <a:br>
              <a:rPr kumimoji="1" lang="en-US" altLang="zh-CN" sz="6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kumimoji="1" lang="zh-CN" altLang="en-US" sz="6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2DC5A-0728-490F-8655-6B4377827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BB1F6D-CF9C-422D-9324-C46415BB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副标题 5">
            <a:extLst>
              <a:ext uri="{FF2B5EF4-FFF2-40B4-BE49-F238E27FC236}">
                <a16:creationId xmlns:a16="http://schemas.microsoft.com/office/drawing/2014/main" id="{E3AD848D-9ED5-D38B-484A-2ED20656DA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105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女人在刷牙&#10;&#10;AI 生成的内容可能不正确。">
            <a:extLst>
              <a:ext uri="{FF2B5EF4-FFF2-40B4-BE49-F238E27FC236}">
                <a16:creationId xmlns:a16="http://schemas.microsoft.com/office/drawing/2014/main" id="{463BFD3F-A745-924E-A998-2E5B812491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97" t="-216" r="21292" b="77"/>
          <a:stretch>
            <a:fillRect/>
          </a:stretch>
        </p:blipFill>
        <p:spPr>
          <a:xfrm>
            <a:off x="3837709" y="1122218"/>
            <a:ext cx="4516582" cy="482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916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93386-6668-66E6-6308-F6FFA1FFF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5543F8-28C7-C823-720B-671A6570C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什么是数据库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371653-6E64-7D37-5BE9-1A2B978A1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数据库是长期储存在</a:t>
            </a:r>
            <a:r>
              <a:rPr kumimoji="1" lang="zh-CN" altLang="en-US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计算机内的、有组织的、可共享的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大量数据的集合。数据库中的数据按一定的数据模型组织、描述和储存，具有较小的冗余度、较高的数据独立性和易扩展性，并可为各种用户共享。它是计算机系统中最重要的组件之一，用于存储和管理数据。</a:t>
            </a:r>
          </a:p>
          <a:p>
            <a:endParaRPr kumimoji="1" lang="zh-CN" altLang="en-US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内容占位符 4">
            <a:extLst>
              <a:ext uri="{FF2B5EF4-FFF2-40B4-BE49-F238E27FC236}">
                <a16:creationId xmlns:a16="http://schemas.microsoft.com/office/drawing/2014/main" id="{4C7B4F08-201F-DC01-3EBE-6F57EA32D545}"/>
              </a:ext>
            </a:extLst>
          </p:cNvPr>
          <p:cNvSpPr txBox="1">
            <a:spLocks/>
          </p:cNvSpPr>
          <p:nvPr/>
        </p:nvSpPr>
        <p:spPr>
          <a:xfrm>
            <a:off x="7954482" y="4522724"/>
            <a:ext cx="3589816" cy="709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200" b="1" dirty="0">
                <a:latin typeface="SimHei" panose="02010609060101010101" pitchFamily="49" charset="-122"/>
                <a:ea typeface="SimHei" panose="02010609060101010101" pitchFamily="49" charset="-122"/>
              </a:rPr>
              <a:t>--</a:t>
            </a:r>
            <a:r>
              <a:rPr lang="zh-CN" altLang="en-US" sz="32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3200" b="1" dirty="0">
                <a:latin typeface="SimHei" panose="02010609060101010101" pitchFamily="49" charset="-122"/>
                <a:ea typeface="SimHei" panose="02010609060101010101" pitchFamily="49" charset="-122"/>
              </a:rPr>
              <a:t>From</a:t>
            </a:r>
            <a:r>
              <a:rPr lang="zh-CN" altLang="en-US" sz="3200" b="1" dirty="0">
                <a:latin typeface="SimHei" panose="02010609060101010101" pitchFamily="49" charset="-122"/>
                <a:ea typeface="SimHei" panose="02010609060101010101" pitchFamily="49" charset="-122"/>
              </a:rPr>
              <a:t> 文心一言</a:t>
            </a:r>
          </a:p>
          <a:p>
            <a:pPr marL="0" indent="0">
              <a:buNone/>
            </a:pPr>
            <a:endParaRPr lang="zh-CN" altLang="en-US" sz="3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3435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47955-A05B-C7FC-060C-11BF07C9D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EB401A-B9C8-FCB5-27FC-7022A9AB4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Excel?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9DD945-ACF5-2B5D-25EA-F29964CAD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数据库是长期储存在</a:t>
            </a:r>
            <a:r>
              <a:rPr kumimoji="1" lang="zh-CN" altLang="en-US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计算机内的、有组织的、可共享的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大量数据的集合。</a:t>
            </a:r>
            <a:endParaRPr kumimoji="1" lang="zh-CN" altLang="en-US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6" name="图片 5" descr="表格&#10;&#10;描述已自动生成">
            <a:extLst>
              <a:ext uri="{FF2B5EF4-FFF2-40B4-BE49-F238E27FC236}">
                <a16:creationId xmlns:a16="http://schemas.microsoft.com/office/drawing/2014/main" id="{BC088D7C-A56C-1814-CC66-E4174F08B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251" y="2859552"/>
            <a:ext cx="10499497" cy="319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131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266BC-2572-C7FB-EC91-D4678412C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3385F8-B726-92B6-3954-4330BEBD6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数据库的发展历史</a:t>
            </a:r>
          </a:p>
        </p:txBody>
      </p:sp>
      <p:pic>
        <p:nvPicPr>
          <p:cNvPr id="9" name="内容占位符 8" descr="图片包含 室内, 桌子, 小, 监控&#10;&#10;描述已自动生成">
            <a:extLst>
              <a:ext uri="{FF2B5EF4-FFF2-40B4-BE49-F238E27FC236}">
                <a16:creationId xmlns:a16="http://schemas.microsoft.com/office/drawing/2014/main" id="{9C49CC7E-07FE-7ADE-D3A6-E815AFA94C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95732" y="1874297"/>
            <a:ext cx="4911942" cy="3669263"/>
          </a:xfrm>
        </p:spPr>
      </p:pic>
      <p:pic>
        <p:nvPicPr>
          <p:cNvPr id="1026" name="Picture 2" descr="你用过U盘，却不知道从纸带到U盘的设计发展历史_怡美工业设计公司">
            <a:extLst>
              <a:ext uri="{FF2B5EF4-FFF2-40B4-BE49-F238E27FC236}">
                <a16:creationId xmlns:a16="http://schemas.microsoft.com/office/drawing/2014/main" id="{110CA2F3-D383-A437-D642-AEFF55DEB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2" y="1874297"/>
            <a:ext cx="5503895" cy="366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CC8FB93-F17A-E7F5-0D61-A2286BD398D9}"/>
              </a:ext>
            </a:extLst>
          </p:cNvPr>
          <p:cNvSpPr txBox="1"/>
          <p:nvPr/>
        </p:nvSpPr>
        <p:spPr>
          <a:xfrm>
            <a:off x="4516203" y="5706969"/>
            <a:ext cx="3724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打孔纸带用于记录计算机数据</a:t>
            </a:r>
          </a:p>
        </p:txBody>
      </p:sp>
    </p:spTree>
    <p:extLst>
      <p:ext uri="{BB962C8B-B14F-4D97-AF65-F5344CB8AC3E}">
        <p14:creationId xmlns:p14="http://schemas.microsoft.com/office/powerpoint/2010/main" val="2219729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962CA-B596-3D31-7BB2-6981AD38C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15628B-B544-6506-BCA8-9D74467F5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数据库的发展历史</a:t>
            </a:r>
          </a:p>
        </p:txBody>
      </p:sp>
      <p:pic>
        <p:nvPicPr>
          <p:cNvPr id="1026" name="Picture 2" descr="你用过U盘，却不知道从纸带到U盘的设计发展历史_怡美工业设计公司">
            <a:extLst>
              <a:ext uri="{FF2B5EF4-FFF2-40B4-BE49-F238E27FC236}">
                <a16:creationId xmlns:a16="http://schemas.microsoft.com/office/drawing/2014/main" id="{D06C749F-B7D6-5543-3B1B-4E49CC7C6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3" y="2240973"/>
            <a:ext cx="3564080" cy="2376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内容占位符 7" descr="图示&#10;&#10;低可信度描述已自动生成">
            <a:extLst>
              <a:ext uri="{FF2B5EF4-FFF2-40B4-BE49-F238E27FC236}">
                <a16:creationId xmlns:a16="http://schemas.microsoft.com/office/drawing/2014/main" id="{ADECDA1F-3E3D-1E7F-EF84-43452C490B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77877" y="2349864"/>
            <a:ext cx="5066421" cy="2479312"/>
          </a:xfrm>
        </p:spPr>
      </p:pic>
      <p:sp>
        <p:nvSpPr>
          <p:cNvPr id="5" name="下箭头 4">
            <a:extLst>
              <a:ext uri="{FF2B5EF4-FFF2-40B4-BE49-F238E27FC236}">
                <a16:creationId xmlns:a16="http://schemas.microsoft.com/office/drawing/2014/main" id="{0BC24C38-97FC-F578-B56A-16BA6EAEFDEE}"/>
              </a:ext>
            </a:extLst>
          </p:cNvPr>
          <p:cNvSpPr/>
          <p:nvPr/>
        </p:nvSpPr>
        <p:spPr>
          <a:xfrm rot="16200000">
            <a:off x="5016769" y="2710273"/>
            <a:ext cx="776431" cy="14374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07E77CD-FDE8-0F0C-6F1C-958183AA1A55}"/>
              </a:ext>
            </a:extLst>
          </p:cNvPr>
          <p:cNvSpPr txBox="1"/>
          <p:nvPr/>
        </p:nvSpPr>
        <p:spPr>
          <a:xfrm>
            <a:off x="4003799" y="5050203"/>
            <a:ext cx="28023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计算机外 </a:t>
            </a:r>
            <a:r>
              <a:rPr kumimoji="1" lang="en-US" altLang="zh-CN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-&gt; 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计算机内</a:t>
            </a:r>
          </a:p>
        </p:txBody>
      </p:sp>
    </p:spTree>
    <p:extLst>
      <p:ext uri="{BB962C8B-B14F-4D97-AF65-F5344CB8AC3E}">
        <p14:creationId xmlns:p14="http://schemas.microsoft.com/office/powerpoint/2010/main" val="1520212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4D4D7-B399-6881-4B1D-5BA182307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C7A7AB-4ADC-7F87-BC9E-8F7970DC0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数据库的发展历史</a:t>
            </a:r>
          </a:p>
        </p:txBody>
      </p:sp>
      <p:pic>
        <p:nvPicPr>
          <p:cNvPr id="8" name="内容占位符 7" descr="图示&#10;&#10;低可信度描述已自动生成">
            <a:extLst>
              <a:ext uri="{FF2B5EF4-FFF2-40B4-BE49-F238E27FC236}">
                <a16:creationId xmlns:a16="http://schemas.microsoft.com/office/drawing/2014/main" id="{5B3A4D0B-C1EF-E487-8368-D94A88441D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986" y="2403643"/>
            <a:ext cx="4190590" cy="2050714"/>
          </a:xfrm>
        </p:spPr>
      </p:pic>
      <p:sp>
        <p:nvSpPr>
          <p:cNvPr id="5" name="下箭头 4">
            <a:extLst>
              <a:ext uri="{FF2B5EF4-FFF2-40B4-BE49-F238E27FC236}">
                <a16:creationId xmlns:a16="http://schemas.microsoft.com/office/drawing/2014/main" id="{F6319A32-3601-DD93-B5C3-AAE9EB1E4390}"/>
              </a:ext>
            </a:extLst>
          </p:cNvPr>
          <p:cNvSpPr/>
          <p:nvPr/>
        </p:nvSpPr>
        <p:spPr>
          <a:xfrm rot="16200000">
            <a:off x="5016769" y="2710273"/>
            <a:ext cx="776431" cy="14374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06F9592-9DB6-FA62-56AF-11C0911E6A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97" b="18297"/>
          <a:stretch/>
        </p:blipFill>
        <p:spPr bwMode="auto">
          <a:xfrm>
            <a:off x="6599195" y="2028825"/>
            <a:ext cx="4416468" cy="2800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FA74C54-0717-FF0D-B286-18E2E11668DD}"/>
              </a:ext>
            </a:extLst>
          </p:cNvPr>
          <p:cNvSpPr txBox="1"/>
          <p:nvPr/>
        </p:nvSpPr>
        <p:spPr>
          <a:xfrm>
            <a:off x="3412291" y="5266259"/>
            <a:ext cx="54200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组织方案随意</a:t>
            </a:r>
            <a:r>
              <a:rPr kumimoji="1" lang="en-US" altLang="zh-CN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 -&gt; 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组织方案严格 </a:t>
            </a:r>
            <a:r>
              <a:rPr kumimoji="1" lang="en-US" altLang="zh-CN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+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 易于共享</a:t>
            </a:r>
          </a:p>
        </p:txBody>
      </p:sp>
    </p:spTree>
    <p:extLst>
      <p:ext uri="{BB962C8B-B14F-4D97-AF65-F5344CB8AC3E}">
        <p14:creationId xmlns:p14="http://schemas.microsoft.com/office/powerpoint/2010/main" val="3918561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426F2-82E0-5067-FED2-038EE6503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01710B-5F79-C74F-96FA-9710FC3DC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数据库的分类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9D55447-EFF3-2A10-68A2-0D2891172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/>
          </a:bodyPr>
          <a:lstStyle/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关系型数据库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非关系型数据库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3.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嵌入式数据库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4.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图数据库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5.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时序数据库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6.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……</a:t>
            </a:r>
            <a:endParaRPr kumimoji="1" lang="zh-CN" altLang="en-US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zh-CN" altLang="en-US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583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80915-6F91-73B1-4773-D27A33322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35218E-4ACC-6936-7F9A-D7C9FF7FF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数据库的分类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B8DD8D7-B850-90B7-90D5-E47087725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/>
          </a:bodyPr>
          <a:lstStyle/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关系型数据库 </a:t>
            </a:r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✓</a:t>
            </a:r>
          </a:p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非关系型数据库 </a:t>
            </a:r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✓</a:t>
            </a:r>
          </a:p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3.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嵌入式数据库 </a:t>
            </a:r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✓</a:t>
            </a:r>
          </a:p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4.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图数据库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5.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时序数据库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6.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……</a:t>
            </a:r>
            <a:endParaRPr kumimoji="1" lang="zh-CN" altLang="en-US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zh-CN" altLang="en-US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6987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83282-F5AA-08CA-A7EE-CC4D3E532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67655E-EC9F-54E4-6149-0304B0F78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常用的关系型数据库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F0DB9E75-E315-067B-B900-8D6CF021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/>
          </a:bodyPr>
          <a:lstStyle/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Oracle</a:t>
            </a:r>
          </a:p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MySQL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/ MariaDB</a:t>
            </a:r>
          </a:p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3.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6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Postgresql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4. SQL Server</a:t>
            </a:r>
          </a:p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5. ……</a:t>
            </a:r>
            <a:endParaRPr kumimoji="1" lang="zh-CN" altLang="en-US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zh-CN" altLang="en-US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8853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EAAD6-A455-2BC0-8A7A-E91069913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6F99C4-3E31-A7A8-38E0-37ADF09EA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常用的关系型数据库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B2ADC3-E51C-720E-3487-6EDF60BC9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/>
          </a:bodyPr>
          <a:lstStyle/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Oracle</a:t>
            </a:r>
          </a:p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My</a:t>
            </a:r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SQL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/ MariaDB</a:t>
            </a:r>
          </a:p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3.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en-US" altLang="zh-CN" sz="26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Postgre</a:t>
            </a:r>
            <a:r>
              <a:rPr kumimoji="1" lang="en-US" altLang="zh-CN" sz="2600" b="1" dirty="0" err="1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sql</a:t>
            </a:r>
            <a:endParaRPr kumimoji="1" lang="en-US" altLang="zh-CN" sz="26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4. </a:t>
            </a:r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SQL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Server</a:t>
            </a:r>
          </a:p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5. ……</a:t>
            </a:r>
            <a:endParaRPr kumimoji="1" lang="zh-CN" altLang="en-US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zh-CN" altLang="en-US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3443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C8B51-BEE7-2063-4C65-CE300EDE0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738964-385D-8C75-58B6-95487BF95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什么是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6BD64EC-E506-6927-7124-11074AFE1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 lnSpcReduction="10000"/>
          </a:bodyPr>
          <a:lstStyle/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SQL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（</a:t>
            </a:r>
            <a:r>
              <a:rPr kumimoji="1" lang="en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Structured Query Language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，结构化查询语言）是一种用于管理和操作关系型数据库的标准化编程语言。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增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-&gt; </a:t>
            </a:r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reate</a:t>
            </a:r>
          </a:p>
          <a:p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删 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-&gt; </a:t>
            </a:r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D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elete</a:t>
            </a:r>
          </a:p>
          <a:p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改 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-&gt; </a:t>
            </a:r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U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pdate</a:t>
            </a:r>
          </a:p>
          <a:p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查 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-&gt; </a:t>
            </a:r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R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ead</a:t>
            </a:r>
          </a:p>
          <a:p>
            <a:endParaRPr kumimoji="1" lang="zh-CN" altLang="en-US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4">
            <a:extLst>
              <a:ext uri="{FF2B5EF4-FFF2-40B4-BE49-F238E27FC236}">
                <a16:creationId xmlns:a16="http://schemas.microsoft.com/office/drawing/2014/main" id="{981964BD-E665-20EA-B634-28B69414B033}"/>
              </a:ext>
            </a:extLst>
          </p:cNvPr>
          <p:cNvSpPr txBox="1">
            <a:spLocks/>
          </p:cNvSpPr>
          <p:nvPr/>
        </p:nvSpPr>
        <p:spPr>
          <a:xfrm>
            <a:off x="4368319" y="4165536"/>
            <a:ext cx="7547456" cy="709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4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=&gt;</a:t>
            </a:r>
            <a:r>
              <a:rPr lang="zh-CN" altLang="en-US" sz="4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4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CRUD</a:t>
            </a:r>
            <a:r>
              <a:rPr lang="zh-CN" altLang="en-US" sz="4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（数据库的基础操作）</a:t>
            </a:r>
          </a:p>
          <a:p>
            <a:pPr marL="0" indent="0">
              <a:buNone/>
            </a:pPr>
            <a:endParaRPr lang="zh-CN" altLang="en-US" sz="40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1094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9D509-15F2-66BA-38AF-01692233A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69ED1C-9A66-6252-8F43-E6372FF8E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Excel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&lt;--&gt;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数据库</a:t>
            </a:r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C5C3BF0E-0402-E883-ACD4-750D156FB0B8}"/>
              </a:ext>
            </a:extLst>
          </p:cNvPr>
          <p:cNvCxnSpPr/>
          <p:nvPr/>
        </p:nvCxnSpPr>
        <p:spPr>
          <a:xfrm>
            <a:off x="6046468" y="1800226"/>
            <a:ext cx="0" cy="3871912"/>
          </a:xfrm>
          <a:prstGeom prst="line">
            <a:avLst/>
          </a:prstGeom>
          <a:ln w="7620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B2DEE06A-CBA0-8D17-562D-0FECC7133E22}"/>
              </a:ext>
            </a:extLst>
          </p:cNvPr>
          <p:cNvSpPr txBox="1"/>
          <p:nvPr/>
        </p:nvSpPr>
        <p:spPr>
          <a:xfrm>
            <a:off x="2590308" y="4973651"/>
            <a:ext cx="9733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工作表</a:t>
            </a:r>
          </a:p>
        </p:txBody>
      </p:sp>
      <p:sp>
        <p:nvSpPr>
          <p:cNvPr id="12" name="内容占位符 4">
            <a:extLst>
              <a:ext uri="{FF2B5EF4-FFF2-40B4-BE49-F238E27FC236}">
                <a16:creationId xmlns:a16="http://schemas.microsoft.com/office/drawing/2014/main" id="{A205A1B7-E01A-4290-DADE-31D071484BE7}"/>
              </a:ext>
            </a:extLst>
          </p:cNvPr>
          <p:cNvSpPr txBox="1">
            <a:spLocks/>
          </p:cNvSpPr>
          <p:nvPr/>
        </p:nvSpPr>
        <p:spPr>
          <a:xfrm>
            <a:off x="8378190" y="1800226"/>
            <a:ext cx="1466093" cy="771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4000" b="1" dirty="0">
                <a:latin typeface="SimHei" panose="02010609060101010101" pitchFamily="49" charset="-122"/>
                <a:ea typeface="SimHei" panose="02010609060101010101" pitchFamily="49" charset="-122"/>
              </a:rPr>
              <a:t>表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086FE01-D65A-AF77-4122-D229816A4E49}"/>
              </a:ext>
            </a:extLst>
          </p:cNvPr>
          <p:cNvSpPr txBox="1"/>
          <p:nvPr/>
        </p:nvSpPr>
        <p:spPr>
          <a:xfrm>
            <a:off x="6713223" y="2896374"/>
            <a:ext cx="47960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u="none" strike="noStrike" dirty="0">
                <a:solidFill>
                  <a:srgbClr val="05073B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表（</a:t>
            </a:r>
            <a:r>
              <a:rPr lang="en-US" altLang="zh-CN" sz="2800" b="0" i="0" u="none" strike="noStrike" dirty="0">
                <a:solidFill>
                  <a:srgbClr val="05073B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Table</a:t>
            </a:r>
            <a:r>
              <a:rPr lang="zh-CN" altLang="en-US" sz="2800" b="0" i="0" u="none" strike="noStrike" dirty="0">
                <a:solidFill>
                  <a:srgbClr val="05073B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），数据库存储和组织的基本结构</a:t>
            </a:r>
            <a:endParaRPr lang="zh-CN" altLang="en-US" sz="28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8" name="图片 17" descr="图形用户界面, 应用程序&#10;&#10;中度可信度描述已自动生成">
            <a:extLst>
              <a:ext uri="{FF2B5EF4-FFF2-40B4-BE49-F238E27FC236}">
                <a16:creationId xmlns:a16="http://schemas.microsoft.com/office/drawing/2014/main" id="{E257EAC3-29D9-4C8E-FA03-BD7E0643B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72" y="2498331"/>
            <a:ext cx="5760000" cy="193090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9DECD85-0FF6-06D4-8631-D82D17791331}"/>
              </a:ext>
            </a:extLst>
          </p:cNvPr>
          <p:cNvSpPr/>
          <p:nvPr/>
        </p:nvSpPr>
        <p:spPr>
          <a:xfrm>
            <a:off x="1343025" y="3000375"/>
            <a:ext cx="3157538" cy="157162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8372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3F10C-29B8-9C14-1910-F4C4B1455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B50026-648E-0420-BD65-3DFB30E8F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Excel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&lt;--&gt;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数据库</a:t>
            </a:r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56D73182-5FE6-4B46-5A9F-9115F0ED6550}"/>
              </a:ext>
            </a:extLst>
          </p:cNvPr>
          <p:cNvCxnSpPr/>
          <p:nvPr/>
        </p:nvCxnSpPr>
        <p:spPr>
          <a:xfrm>
            <a:off x="6046468" y="1800226"/>
            <a:ext cx="0" cy="3871912"/>
          </a:xfrm>
          <a:prstGeom prst="line">
            <a:avLst/>
          </a:prstGeom>
          <a:ln w="7620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230B290B-83E2-B15D-C285-D8C9451F93B2}"/>
              </a:ext>
            </a:extLst>
          </p:cNvPr>
          <p:cNvSpPr txBox="1"/>
          <p:nvPr/>
        </p:nvSpPr>
        <p:spPr>
          <a:xfrm>
            <a:off x="2590308" y="4973651"/>
            <a:ext cx="450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列</a:t>
            </a:r>
          </a:p>
        </p:txBody>
      </p:sp>
      <p:sp>
        <p:nvSpPr>
          <p:cNvPr id="12" name="内容占位符 4">
            <a:extLst>
              <a:ext uri="{FF2B5EF4-FFF2-40B4-BE49-F238E27FC236}">
                <a16:creationId xmlns:a16="http://schemas.microsoft.com/office/drawing/2014/main" id="{70E1793E-16C5-4F1B-4A5A-4B740A1C8DF4}"/>
              </a:ext>
            </a:extLst>
          </p:cNvPr>
          <p:cNvSpPr txBox="1">
            <a:spLocks/>
          </p:cNvSpPr>
          <p:nvPr/>
        </p:nvSpPr>
        <p:spPr>
          <a:xfrm>
            <a:off x="8378190" y="1800226"/>
            <a:ext cx="1466093" cy="771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4000" b="1" dirty="0">
                <a:latin typeface="SimHei" panose="02010609060101010101" pitchFamily="49" charset="-122"/>
                <a:ea typeface="SimHei" panose="02010609060101010101" pitchFamily="49" charset="-122"/>
              </a:rPr>
              <a:t>字段</a:t>
            </a:r>
          </a:p>
        </p:txBody>
      </p:sp>
      <p:pic>
        <p:nvPicPr>
          <p:cNvPr id="14" name="图片 13" descr="手机屏幕的截图&#10;&#10;描述已自动生成">
            <a:extLst>
              <a:ext uri="{FF2B5EF4-FFF2-40B4-BE49-F238E27FC236}">
                <a16:creationId xmlns:a16="http://schemas.microsoft.com/office/drawing/2014/main" id="{040AC3EA-5C66-B3C0-3B1A-E408A845B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028825"/>
            <a:ext cx="5608654" cy="2579751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0BDD1014-50E8-E162-0B32-1717AD64B5AA}"/>
              </a:ext>
            </a:extLst>
          </p:cNvPr>
          <p:cNvSpPr txBox="1"/>
          <p:nvPr/>
        </p:nvSpPr>
        <p:spPr>
          <a:xfrm>
            <a:off x="6713223" y="2896374"/>
            <a:ext cx="47960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u="none" strike="noStrike" dirty="0">
                <a:solidFill>
                  <a:srgbClr val="05073B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字段是数据库表中的一个列，用于存储相同类型的数据。</a:t>
            </a:r>
            <a:endParaRPr lang="zh-CN" altLang="en-US" sz="28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D81B49-1DFD-B579-B1EC-366B16025A2D}"/>
              </a:ext>
            </a:extLst>
          </p:cNvPr>
          <p:cNvSpPr/>
          <p:nvPr/>
        </p:nvSpPr>
        <p:spPr>
          <a:xfrm>
            <a:off x="1428756" y="1857375"/>
            <a:ext cx="1161509" cy="297180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3788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F6904-0FC8-FC9A-DA3B-A07893D0A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7F9665-05B3-D11D-9D61-870E07888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Excel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&lt;--&gt;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数据库</a:t>
            </a:r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B780C50C-500A-5984-173F-57BF09A0AD83}"/>
              </a:ext>
            </a:extLst>
          </p:cNvPr>
          <p:cNvCxnSpPr/>
          <p:nvPr/>
        </p:nvCxnSpPr>
        <p:spPr>
          <a:xfrm>
            <a:off x="6046468" y="1800226"/>
            <a:ext cx="0" cy="3871912"/>
          </a:xfrm>
          <a:prstGeom prst="line">
            <a:avLst/>
          </a:prstGeom>
          <a:ln w="7620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22A64220-8EEF-36B3-A9F7-DFE2F0BB2A8B}"/>
              </a:ext>
            </a:extLst>
          </p:cNvPr>
          <p:cNvSpPr txBox="1"/>
          <p:nvPr/>
        </p:nvSpPr>
        <p:spPr>
          <a:xfrm>
            <a:off x="2360082" y="4973651"/>
            <a:ext cx="1362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数字</a:t>
            </a:r>
            <a:r>
              <a:rPr kumimoji="1" lang="en-US" altLang="zh-CN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-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类型</a:t>
            </a:r>
          </a:p>
        </p:txBody>
      </p:sp>
      <p:sp>
        <p:nvSpPr>
          <p:cNvPr id="12" name="内容占位符 4">
            <a:extLst>
              <a:ext uri="{FF2B5EF4-FFF2-40B4-BE49-F238E27FC236}">
                <a16:creationId xmlns:a16="http://schemas.microsoft.com/office/drawing/2014/main" id="{E15F3548-D6E0-F2AF-F021-F3B3E921C990}"/>
              </a:ext>
            </a:extLst>
          </p:cNvPr>
          <p:cNvSpPr txBox="1">
            <a:spLocks/>
          </p:cNvSpPr>
          <p:nvPr/>
        </p:nvSpPr>
        <p:spPr>
          <a:xfrm>
            <a:off x="7599998" y="1489900"/>
            <a:ext cx="2390771" cy="771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4000" b="1" dirty="0">
                <a:latin typeface="SimHei" panose="02010609060101010101" pitchFamily="49" charset="-122"/>
                <a:ea typeface="SimHei" panose="02010609060101010101" pitchFamily="49" charset="-122"/>
              </a:rPr>
              <a:t>数据类型</a:t>
            </a:r>
          </a:p>
        </p:txBody>
      </p:sp>
      <p:pic>
        <p:nvPicPr>
          <p:cNvPr id="4" name="图片 3" descr="图形用户界面, 文本&#10;&#10;描述已自动生成">
            <a:extLst>
              <a:ext uri="{FF2B5EF4-FFF2-40B4-BE49-F238E27FC236}">
                <a16:creationId xmlns:a16="http://schemas.microsoft.com/office/drawing/2014/main" id="{CD9546D9-5A32-0508-547D-C9E1860A9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690" y="1800226"/>
            <a:ext cx="4121659" cy="300537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1929383-D018-BB82-982A-1E1E1C76A59F}"/>
              </a:ext>
            </a:extLst>
          </p:cNvPr>
          <p:cNvSpPr txBox="1"/>
          <p:nvPr/>
        </p:nvSpPr>
        <p:spPr>
          <a:xfrm>
            <a:off x="6415285" y="2261138"/>
            <a:ext cx="479602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n"/>
            </a:pPr>
            <a:r>
              <a:rPr lang="zh-CN" altLang="en-US" sz="2800" b="0" i="0" u="none" strike="noStrike" dirty="0">
                <a:solidFill>
                  <a:srgbClr val="05073B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数值类型：整型（</a:t>
            </a:r>
            <a:r>
              <a:rPr lang="en-US" altLang="zh-CN" sz="2800" b="0" i="0" u="none" strike="noStrike" dirty="0">
                <a:solidFill>
                  <a:srgbClr val="05073B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INT</a:t>
            </a:r>
            <a:r>
              <a:rPr lang="zh-CN" altLang="en-US" sz="2800" b="0" i="0" u="none" strike="noStrike" dirty="0">
                <a:solidFill>
                  <a:srgbClr val="05073B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）、浮点型（</a:t>
            </a:r>
            <a:r>
              <a:rPr lang="en-US" altLang="zh-CN" sz="2800" b="0" i="0" u="none" strike="noStrike" dirty="0">
                <a:solidFill>
                  <a:srgbClr val="05073B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FLOAT</a:t>
            </a:r>
            <a:r>
              <a:rPr lang="zh-CN" altLang="en-US" sz="2800" b="0" i="0" u="none" strike="noStrike" dirty="0">
                <a:solidFill>
                  <a:srgbClr val="05073B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）、定点型（</a:t>
            </a:r>
            <a:r>
              <a:rPr lang="en-US" altLang="zh-CN" sz="2800" b="0" i="0" u="none" strike="noStrike" dirty="0">
                <a:solidFill>
                  <a:srgbClr val="05073B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Decimal</a:t>
            </a:r>
            <a:r>
              <a:rPr lang="zh-CN" altLang="en-US" sz="2800" b="0" i="0" u="none" strike="noStrike" dirty="0">
                <a:solidFill>
                  <a:srgbClr val="05073B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r>
              <a:rPr lang="en-US" altLang="zh-CN" sz="2800" b="0" i="0" u="none" strike="noStrike" dirty="0">
                <a:solidFill>
                  <a:srgbClr val="05073B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……</a:t>
            </a:r>
          </a:p>
          <a:p>
            <a:pPr marL="457200" indent="-457200">
              <a:buFont typeface="Wingdings" pitchFamily="2" charset="2"/>
              <a:buChar char="n"/>
            </a:pPr>
            <a:r>
              <a:rPr lang="zh-CN" altLang="en-US" sz="2800" dirty="0">
                <a:solidFill>
                  <a:srgbClr val="05073B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字符串：定长字符串（</a:t>
            </a:r>
            <a:r>
              <a:rPr lang="en-US" altLang="zh-CN" sz="2800" dirty="0">
                <a:solidFill>
                  <a:srgbClr val="05073B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CHAR</a:t>
            </a:r>
            <a:r>
              <a:rPr lang="zh-CN" altLang="en-US" sz="2800" dirty="0">
                <a:solidFill>
                  <a:srgbClr val="05073B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）、变长字符串（</a:t>
            </a:r>
            <a:r>
              <a:rPr lang="en-US" altLang="zh-CN" sz="2800" dirty="0">
                <a:solidFill>
                  <a:srgbClr val="05073B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VARCHAR</a:t>
            </a:r>
            <a:r>
              <a:rPr lang="zh-CN" altLang="en-US" sz="2800" dirty="0">
                <a:solidFill>
                  <a:srgbClr val="05073B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）、文本（</a:t>
            </a:r>
            <a:r>
              <a:rPr lang="en-US" altLang="zh-CN" sz="2800" dirty="0">
                <a:solidFill>
                  <a:srgbClr val="05073B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TEXT</a:t>
            </a:r>
            <a:r>
              <a:rPr lang="zh-CN" altLang="en-US" sz="2800" dirty="0">
                <a:solidFill>
                  <a:srgbClr val="05073B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endParaRPr lang="en-US" altLang="zh-CN" sz="2800" dirty="0">
              <a:solidFill>
                <a:srgbClr val="05073B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457200" indent="-457200">
              <a:buFont typeface="Wingdings" pitchFamily="2" charset="2"/>
              <a:buChar char="n"/>
            </a:pPr>
            <a:r>
              <a:rPr lang="zh-CN" altLang="en-US" sz="2800" b="0" i="0" u="none" strike="noStrike" dirty="0">
                <a:solidFill>
                  <a:srgbClr val="05073B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布尔值：</a:t>
            </a:r>
            <a:r>
              <a:rPr lang="en-US" altLang="zh-CN" sz="2800" b="0" i="0" u="none" strike="noStrike" dirty="0">
                <a:solidFill>
                  <a:srgbClr val="05073B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true</a:t>
            </a:r>
            <a:r>
              <a:rPr lang="en-US" altLang="zh-CN" sz="2800" dirty="0">
                <a:solidFill>
                  <a:srgbClr val="05073B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/false</a:t>
            </a:r>
          </a:p>
          <a:p>
            <a:pPr marL="457200" indent="-457200">
              <a:buFont typeface="Wingdings" pitchFamily="2" charset="2"/>
              <a:buChar char="n"/>
            </a:pPr>
            <a:r>
              <a:rPr lang="zh-CN" altLang="en-US" sz="2800" b="0" i="0" u="none" strike="noStrike" dirty="0">
                <a:solidFill>
                  <a:srgbClr val="05073B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日期，时间类型</a:t>
            </a:r>
            <a:endParaRPr lang="en-US" altLang="zh-CN" sz="2800" b="0" i="0" u="none" strike="noStrike" dirty="0">
              <a:solidFill>
                <a:srgbClr val="05073B"/>
              </a:solidFill>
              <a:effectLst/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457200" indent="-457200">
              <a:buFont typeface="Wingdings" pitchFamily="2" charset="2"/>
              <a:buChar char="n"/>
            </a:pPr>
            <a:r>
              <a:rPr lang="zh-CN" altLang="en-US" sz="2800" dirty="0">
                <a:solidFill>
                  <a:srgbClr val="05073B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二进制</a:t>
            </a:r>
            <a:endParaRPr lang="en-US" altLang="zh-CN" sz="2800" b="0" i="0" u="none" strike="noStrike" dirty="0">
              <a:solidFill>
                <a:srgbClr val="05073B"/>
              </a:solidFill>
              <a:effectLst/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6545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EE426-4493-A8B0-2103-7A7E21B4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92D4F2-0261-A920-0293-FE0037EE8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Excel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&lt;--&gt;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数据库</a:t>
            </a:r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373C4975-1F3C-191F-0F28-16A08C163488}"/>
              </a:ext>
            </a:extLst>
          </p:cNvPr>
          <p:cNvCxnSpPr/>
          <p:nvPr/>
        </p:nvCxnSpPr>
        <p:spPr>
          <a:xfrm>
            <a:off x="6046468" y="1800226"/>
            <a:ext cx="0" cy="3871912"/>
          </a:xfrm>
          <a:prstGeom prst="line">
            <a:avLst/>
          </a:prstGeom>
          <a:ln w="7620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B631B327-71A1-B5F9-68B0-56803987E4A2}"/>
              </a:ext>
            </a:extLst>
          </p:cNvPr>
          <p:cNvSpPr txBox="1"/>
          <p:nvPr/>
        </p:nvSpPr>
        <p:spPr>
          <a:xfrm>
            <a:off x="2677206" y="4989539"/>
            <a:ext cx="707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序号</a:t>
            </a:r>
          </a:p>
        </p:txBody>
      </p:sp>
      <p:sp>
        <p:nvSpPr>
          <p:cNvPr id="12" name="内容占位符 4">
            <a:extLst>
              <a:ext uri="{FF2B5EF4-FFF2-40B4-BE49-F238E27FC236}">
                <a16:creationId xmlns:a16="http://schemas.microsoft.com/office/drawing/2014/main" id="{FBEF0A70-B46A-9C1B-9471-686343C97555}"/>
              </a:ext>
            </a:extLst>
          </p:cNvPr>
          <p:cNvSpPr txBox="1">
            <a:spLocks/>
          </p:cNvSpPr>
          <p:nvPr/>
        </p:nvSpPr>
        <p:spPr>
          <a:xfrm>
            <a:off x="6434335" y="1489900"/>
            <a:ext cx="4796026" cy="771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4000" b="1" dirty="0">
                <a:latin typeface="SimHei" panose="02010609060101010101" pitchFamily="49" charset="-122"/>
                <a:ea typeface="SimHei" panose="02010609060101010101" pitchFamily="49" charset="-122"/>
              </a:rPr>
              <a:t>主键（</a:t>
            </a:r>
            <a:r>
              <a:rPr lang="en-US" altLang="zh-CN" sz="4000" b="1" dirty="0">
                <a:latin typeface="SimHei" panose="02010609060101010101" pitchFamily="49" charset="-122"/>
                <a:ea typeface="SimHei" panose="02010609060101010101" pitchFamily="49" charset="-122"/>
              </a:rPr>
              <a:t>Primary</a:t>
            </a:r>
            <a:r>
              <a:rPr lang="zh-CN" altLang="en-US" sz="40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4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Key</a:t>
            </a:r>
            <a:r>
              <a:rPr lang="zh-CN" altLang="en-US" sz="4000" b="1" dirty="0"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0F46E5D-BFA5-97FE-BE79-C1D342A84FFD}"/>
              </a:ext>
            </a:extLst>
          </p:cNvPr>
          <p:cNvSpPr txBox="1"/>
          <p:nvPr/>
        </p:nvSpPr>
        <p:spPr>
          <a:xfrm>
            <a:off x="6415285" y="2261138"/>
            <a:ext cx="479602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n"/>
            </a:pPr>
            <a:r>
              <a:rPr lang="zh-CN" altLang="en-US" sz="2800" b="1" i="0" u="none" strike="noStrike" dirty="0">
                <a:solidFill>
                  <a:srgbClr val="05073B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唯一标识记录</a:t>
            </a:r>
            <a:r>
              <a:rPr lang="en-US" altLang="zh-CN" sz="2800" b="1" i="0" u="none" strike="noStrike" dirty="0">
                <a:solidFill>
                  <a:srgbClr val="05073B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——</a:t>
            </a:r>
            <a:r>
              <a:rPr lang="zh-CN" altLang="en-US" sz="2800" b="1" i="0" u="none" strike="noStrike" dirty="0">
                <a:solidFill>
                  <a:srgbClr val="05073B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确保数据独一无二</a:t>
            </a:r>
            <a:endParaRPr lang="en-US" altLang="zh-CN" sz="2800" b="1" i="0" u="none" strike="noStrike" dirty="0">
              <a:solidFill>
                <a:srgbClr val="05073B"/>
              </a:solidFill>
              <a:effectLst/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457200" indent="-457200"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5073B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非空</a:t>
            </a:r>
            <a:endParaRPr lang="en-US" altLang="zh-CN" sz="2800" b="1" dirty="0">
              <a:solidFill>
                <a:srgbClr val="05073B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457200" indent="-457200"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05073B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通常单表唯一</a:t>
            </a:r>
            <a:endParaRPr lang="en-US" altLang="zh-CN" sz="2800" b="1" dirty="0">
              <a:solidFill>
                <a:srgbClr val="05073B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457200" indent="-457200">
              <a:buFont typeface="Wingdings" pitchFamily="2" charset="2"/>
              <a:buChar char="n"/>
            </a:pPr>
            <a:r>
              <a:rPr lang="zh-CN" altLang="en-US" sz="2800" b="1" i="0" u="none" strike="noStrike" dirty="0">
                <a:solidFill>
                  <a:srgbClr val="05073B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自动</a:t>
            </a:r>
            <a:r>
              <a:rPr lang="zh-CN" altLang="en-US" sz="2800" b="1" i="0" u="none" strike="noStrike" dirty="0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索引</a:t>
            </a:r>
            <a:endParaRPr lang="en-US" altLang="zh-CN" sz="2800" b="1" i="0" u="none" strike="noStrike" dirty="0">
              <a:solidFill>
                <a:srgbClr val="FF0000"/>
              </a:solidFill>
              <a:effectLst/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457200" indent="-457200">
              <a:buFont typeface="Wingdings" pitchFamily="2" charset="2"/>
              <a:buChar char="n"/>
            </a:pPr>
            <a:endParaRPr lang="en-US" altLang="zh-CN" sz="2800" b="1" i="0" u="none" strike="noStrike" dirty="0">
              <a:solidFill>
                <a:srgbClr val="05073B"/>
              </a:solidFill>
              <a:effectLst/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图片 3" descr="表格, 日历&#10;&#10;描述已自动生成">
            <a:extLst>
              <a:ext uri="{FF2B5EF4-FFF2-40B4-BE49-F238E27FC236}">
                <a16:creationId xmlns:a16="http://schemas.microsoft.com/office/drawing/2014/main" id="{C4E7C9DA-810A-7EE1-4B74-7B57A081F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419" y="1628776"/>
            <a:ext cx="1092200" cy="32004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BB58E2F-2439-E698-7211-8E8B45155507}"/>
              </a:ext>
            </a:extLst>
          </p:cNvPr>
          <p:cNvSpPr/>
          <p:nvPr/>
        </p:nvSpPr>
        <p:spPr>
          <a:xfrm>
            <a:off x="2495418" y="1628776"/>
            <a:ext cx="535411" cy="334487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8920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7CB5C-4ABC-21C6-C351-FC1A63FB8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C485F8-C1F4-6A6D-BAFA-770C6AB9A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Excel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&lt;--&gt;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数据库</a:t>
            </a:r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08A30703-0B5F-8E9B-5590-13529837C979}"/>
              </a:ext>
            </a:extLst>
          </p:cNvPr>
          <p:cNvCxnSpPr/>
          <p:nvPr/>
        </p:nvCxnSpPr>
        <p:spPr>
          <a:xfrm>
            <a:off x="6046468" y="1800226"/>
            <a:ext cx="0" cy="3871912"/>
          </a:xfrm>
          <a:prstGeom prst="line">
            <a:avLst/>
          </a:prstGeom>
          <a:ln w="7620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4">
            <a:extLst>
              <a:ext uri="{FF2B5EF4-FFF2-40B4-BE49-F238E27FC236}">
                <a16:creationId xmlns:a16="http://schemas.microsoft.com/office/drawing/2014/main" id="{2A8811B9-2BCC-A1D3-D4C5-B3EE870F785C}"/>
              </a:ext>
            </a:extLst>
          </p:cNvPr>
          <p:cNvSpPr txBox="1">
            <a:spLocks/>
          </p:cNvSpPr>
          <p:nvPr/>
        </p:nvSpPr>
        <p:spPr>
          <a:xfrm>
            <a:off x="8017459" y="1489900"/>
            <a:ext cx="1324546" cy="771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4000" b="1" dirty="0">
                <a:latin typeface="SimHei" panose="02010609060101010101" pitchFamily="49" charset="-122"/>
                <a:ea typeface="SimHei" panose="02010609060101010101" pitchFamily="49" charset="-122"/>
              </a:rPr>
              <a:t>索引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A67C76-98C1-7B35-A3A6-C9A5584E4164}"/>
              </a:ext>
            </a:extLst>
          </p:cNvPr>
          <p:cNvSpPr txBox="1"/>
          <p:nvPr/>
        </p:nvSpPr>
        <p:spPr>
          <a:xfrm>
            <a:off x="6415285" y="2261138"/>
            <a:ext cx="479602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n"/>
            </a:pPr>
            <a:r>
              <a:rPr lang="zh-CN" altLang="en-US" sz="2800" b="0" i="0" u="none" strike="noStrike" dirty="0">
                <a:solidFill>
                  <a:srgbClr val="05073B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用于提高数据库表中数据检索速度的数据结构</a:t>
            </a:r>
            <a:endParaRPr lang="en-US" altLang="zh-CN" sz="2800" b="0" i="0" u="none" strike="noStrike" dirty="0">
              <a:solidFill>
                <a:srgbClr val="05073B"/>
              </a:solidFill>
              <a:effectLst/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457200" indent="-457200">
              <a:buFont typeface="Wingdings" pitchFamily="2" charset="2"/>
              <a:buChar char="n"/>
            </a:pPr>
            <a:r>
              <a:rPr lang="zh-CN" altLang="en-US" sz="2800" b="0" i="0" u="none" strike="noStrike" dirty="0">
                <a:solidFill>
                  <a:srgbClr val="05073B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类似于目录</a:t>
            </a:r>
            <a:endParaRPr lang="en-US" altLang="zh-CN" sz="2800" b="0" i="0" u="none" strike="noStrike" dirty="0">
              <a:solidFill>
                <a:srgbClr val="05073B"/>
              </a:solidFill>
              <a:effectLst/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457200" indent="-457200">
              <a:buFont typeface="Wingdings" pitchFamily="2" charset="2"/>
              <a:buChar char="n"/>
            </a:pPr>
            <a:r>
              <a:rPr lang="zh-CN" altLang="en-US" sz="2800" b="0" i="0" u="none" strike="noStrike" dirty="0">
                <a:solidFill>
                  <a:srgbClr val="05073B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大概百万数量级开始有效果</a:t>
            </a:r>
            <a:endParaRPr lang="en-US" altLang="zh-CN" sz="2800" b="0" i="0" u="none" strike="noStrike" dirty="0">
              <a:solidFill>
                <a:srgbClr val="05073B"/>
              </a:solidFill>
              <a:effectLst/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4">
            <a:extLst>
              <a:ext uri="{FF2B5EF4-FFF2-40B4-BE49-F238E27FC236}">
                <a16:creationId xmlns:a16="http://schemas.microsoft.com/office/drawing/2014/main" id="{E765678F-E948-E63E-520F-A348B4295837}"/>
              </a:ext>
            </a:extLst>
          </p:cNvPr>
          <p:cNvSpPr txBox="1">
            <a:spLocks/>
          </p:cNvSpPr>
          <p:nvPr/>
        </p:nvSpPr>
        <p:spPr>
          <a:xfrm>
            <a:off x="2117542" y="3043381"/>
            <a:ext cx="2360023" cy="771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4000" b="1" dirty="0">
                <a:latin typeface="SimHei" panose="02010609060101010101" pitchFamily="49" charset="-122"/>
                <a:ea typeface="SimHei" panose="02010609060101010101" pitchFamily="49" charset="-122"/>
              </a:rPr>
              <a:t>无此功能</a:t>
            </a:r>
          </a:p>
        </p:txBody>
      </p:sp>
    </p:spTree>
    <p:extLst>
      <p:ext uri="{BB962C8B-B14F-4D97-AF65-F5344CB8AC3E}">
        <p14:creationId xmlns:p14="http://schemas.microsoft.com/office/powerpoint/2010/main" val="946341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4777E-97FC-77B9-8BF8-6E0CB4CCE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6184D8-36D9-9E5F-6952-F40B3368F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Excel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与 数据库 的异同</a:t>
            </a:r>
            <a:b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527AE5B6-E761-30D9-082D-189FBA77E342}"/>
              </a:ext>
            </a:extLst>
          </p:cNvPr>
          <p:cNvCxnSpPr/>
          <p:nvPr/>
        </p:nvCxnSpPr>
        <p:spPr>
          <a:xfrm>
            <a:off x="6046468" y="1800226"/>
            <a:ext cx="0" cy="3871912"/>
          </a:xfrm>
          <a:prstGeom prst="line">
            <a:avLst/>
          </a:prstGeom>
          <a:ln w="7620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4">
            <a:extLst>
              <a:ext uri="{FF2B5EF4-FFF2-40B4-BE49-F238E27FC236}">
                <a16:creationId xmlns:a16="http://schemas.microsoft.com/office/drawing/2014/main" id="{B35E2225-EE79-DB70-997A-A1BC64831F58}"/>
              </a:ext>
            </a:extLst>
          </p:cNvPr>
          <p:cNvSpPr txBox="1">
            <a:spLocks/>
          </p:cNvSpPr>
          <p:nvPr/>
        </p:nvSpPr>
        <p:spPr>
          <a:xfrm>
            <a:off x="6947912" y="3079243"/>
            <a:ext cx="3813810" cy="771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4000" b="1" dirty="0">
                <a:latin typeface="SimHei" panose="02010609060101010101" pitchFamily="49" charset="-122"/>
                <a:ea typeface="SimHei" panose="02010609060101010101" pitchFamily="49" charset="-122"/>
              </a:rPr>
              <a:t>表名不可重复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FFBE4EC-4E04-C2F3-C0F1-D27BB94CF5FA}"/>
              </a:ext>
            </a:extLst>
          </p:cNvPr>
          <p:cNvSpPr txBox="1"/>
          <p:nvPr/>
        </p:nvSpPr>
        <p:spPr>
          <a:xfrm>
            <a:off x="2195969" y="5236924"/>
            <a:ext cx="22797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工作表名不可重复</a:t>
            </a:r>
          </a:p>
        </p:txBody>
      </p:sp>
      <p:pic>
        <p:nvPicPr>
          <p:cNvPr id="6" name="图片 5" descr="图形用户界面, 应用程序&#10;&#10;描述已自动生成">
            <a:extLst>
              <a:ext uri="{FF2B5EF4-FFF2-40B4-BE49-F238E27FC236}">
                <a16:creationId xmlns:a16="http://schemas.microsoft.com/office/drawing/2014/main" id="{95E38A24-C5BB-7155-EC1D-6741B02B8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503" y="1752370"/>
            <a:ext cx="3828722" cy="335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396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45DB3-04E6-D2AB-D5F5-FCAC62D97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97A98F-311E-53C1-8889-EF5C02D8A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Excel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与 数据库 的异同</a:t>
            </a:r>
            <a:b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8BB45644-DCD2-2B78-3BD9-60CDAB4BB6C5}"/>
              </a:ext>
            </a:extLst>
          </p:cNvPr>
          <p:cNvCxnSpPr/>
          <p:nvPr/>
        </p:nvCxnSpPr>
        <p:spPr>
          <a:xfrm>
            <a:off x="6046468" y="1800226"/>
            <a:ext cx="0" cy="3871912"/>
          </a:xfrm>
          <a:prstGeom prst="line">
            <a:avLst/>
          </a:prstGeom>
          <a:ln w="7620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4">
            <a:extLst>
              <a:ext uri="{FF2B5EF4-FFF2-40B4-BE49-F238E27FC236}">
                <a16:creationId xmlns:a16="http://schemas.microsoft.com/office/drawing/2014/main" id="{86E47FE6-6002-92B7-2C45-301FBD5DD0B2}"/>
              </a:ext>
            </a:extLst>
          </p:cNvPr>
          <p:cNvSpPr txBox="1">
            <a:spLocks/>
          </p:cNvSpPr>
          <p:nvPr/>
        </p:nvSpPr>
        <p:spPr>
          <a:xfrm>
            <a:off x="6947912" y="3079243"/>
            <a:ext cx="3813810" cy="771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4000" b="1" dirty="0">
                <a:latin typeface="SimHei" panose="02010609060101010101" pitchFamily="49" charset="-122"/>
                <a:ea typeface="SimHei" panose="02010609060101010101" pitchFamily="49" charset="-122"/>
              </a:rPr>
              <a:t>字段名不可重复</a:t>
            </a:r>
          </a:p>
        </p:txBody>
      </p:sp>
      <p:pic>
        <p:nvPicPr>
          <p:cNvPr id="4" name="图片 3" descr="手机屏幕的截图&#10;&#10;中度可信度描述已自动生成">
            <a:extLst>
              <a:ext uri="{FF2B5EF4-FFF2-40B4-BE49-F238E27FC236}">
                <a16:creationId xmlns:a16="http://schemas.microsoft.com/office/drawing/2014/main" id="{ACA78B9E-6411-7689-5B6B-0754CE800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34" y="2028825"/>
            <a:ext cx="5760000" cy="263753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084217E-7A71-6F95-E4BA-76DABBBC5439}"/>
              </a:ext>
            </a:extLst>
          </p:cNvPr>
          <p:cNvSpPr txBox="1"/>
          <p:nvPr/>
        </p:nvSpPr>
        <p:spPr>
          <a:xfrm>
            <a:off x="2590308" y="4973651"/>
            <a:ext cx="14911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表头可重复</a:t>
            </a:r>
          </a:p>
        </p:txBody>
      </p:sp>
    </p:spTree>
    <p:extLst>
      <p:ext uri="{BB962C8B-B14F-4D97-AF65-F5344CB8AC3E}">
        <p14:creationId xmlns:p14="http://schemas.microsoft.com/office/powerpoint/2010/main" val="180771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2C02B-AD13-70E1-AA79-BAE789DB3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7CBB17-B44A-0CA7-A2D8-7BB07154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关系型数据库的应用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81B321C9-777A-6318-7F7B-6829231B9EDB}"/>
              </a:ext>
            </a:extLst>
          </p:cNvPr>
          <p:cNvSpPr txBox="1">
            <a:spLocks/>
          </p:cNvSpPr>
          <p:nvPr/>
        </p:nvSpPr>
        <p:spPr>
          <a:xfrm>
            <a:off x="701041" y="21812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Web</a:t>
            </a:r>
          </a:p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AI</a:t>
            </a:r>
          </a:p>
          <a:p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数据分析</a:t>
            </a:r>
          </a:p>
        </p:txBody>
      </p:sp>
    </p:spTree>
    <p:extLst>
      <p:ext uri="{BB962C8B-B14F-4D97-AF65-F5344CB8AC3E}">
        <p14:creationId xmlns:p14="http://schemas.microsoft.com/office/powerpoint/2010/main" val="3824472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33A12-68FE-8294-07B1-362080FA9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6860BE-76CA-1DCC-85D1-4701B3509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事务与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ACID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BB0FC1-D23B-2895-95A9-6FC16BEED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38" y="1504186"/>
            <a:ext cx="10995660" cy="4739451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Atomicity——</a:t>
            </a:r>
            <a:r>
              <a:rPr kumimoji="1" lang="zh-CN" altLang="en-US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原子性</a:t>
            </a:r>
            <a:endParaRPr kumimoji="1" lang="en-US" altLang="zh-CN" sz="26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事务是不可分割的最小执行单位，事务要么执行完毕，要么完全不执行。如果发生错误就回滚所有操作。</a:t>
            </a:r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Consistency——</a:t>
            </a:r>
            <a:r>
              <a:rPr kumimoji="1" lang="zh-CN" altLang="en-US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一致性</a:t>
            </a:r>
            <a:endParaRPr kumimoji="1" lang="en-US" altLang="zh-CN" sz="26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在事务开始之前和之后，数据库的完整性约束没有被破坏。事务必须保证数据库从一个一致的状态转换到另一个一致的状态。</a:t>
            </a:r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Isolation——</a:t>
            </a:r>
            <a:r>
              <a:rPr kumimoji="1" lang="zh-CN" altLang="en-US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隔离性</a:t>
            </a:r>
            <a:endParaRPr kumimoji="1" lang="en-US" altLang="zh-CN" sz="26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多个事务并发执行时，一个事务的执行不应影响其他事务。（锁）</a:t>
            </a:r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Durability——</a:t>
            </a:r>
            <a:r>
              <a:rPr kumimoji="1" lang="zh-CN" altLang="en-US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持久性</a:t>
            </a:r>
            <a:endParaRPr kumimoji="1" lang="en-US" altLang="zh-CN" sz="26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一旦事务提交，对数据库的修改将永久保存，即使发生系统崩溃或电源故障等情况，数据库也能够恢复到事务提交的状态。</a:t>
            </a:r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5753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68B0F-74A0-0EFD-D8AB-79EBA4433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E9C7BF-2CCD-37C8-F87C-17874F7B6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NoSql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Not Only SQL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非关系型数据库</a:t>
            </a:r>
            <a:b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FB1C5C-5DAB-D710-6667-296FA501A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/>
          </a:bodyPr>
          <a:lstStyle/>
          <a:p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所有不是关系型数据库的数据库，都可以称为非关系型数据库。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6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NoSql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不支持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ACID</a:t>
            </a:r>
          </a:p>
          <a:p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支持键值对、文档、图等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键值对：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Redis</a:t>
            </a:r>
          </a:p>
          <a:p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文档：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MongoDB</a:t>
            </a:r>
          </a:p>
          <a:p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图：</a:t>
            </a:r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Neo4J</a:t>
            </a:r>
            <a:endParaRPr kumimoji="1" lang="zh-CN" altLang="en-US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1939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F54BC-45BF-A8A6-46DB-1C865CF37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BBB644-D9FC-075A-4F47-9D10A9D6A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嵌入式数据库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695A4F-BAEC-44D7-28AB-6BF4A07FF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2600" b="1" i="0" u="none" strike="noStrike" dirty="0"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集成在</a:t>
            </a:r>
            <a:r>
              <a:rPr lang="zh-CN" altLang="en-US" sz="2600" b="1" i="0" u="none" strike="noStrike" dirty="0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应用程序</a:t>
            </a:r>
            <a:r>
              <a:rPr lang="zh-CN" altLang="en-US" sz="2600" b="1" i="0" u="none" strike="noStrike" dirty="0"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中的数据库系统，或者</a:t>
            </a:r>
            <a:r>
              <a:rPr lang="zh-CN" altLang="en-US" sz="2600" b="1" i="0" u="none" strike="noStrike" dirty="0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直接运行</a:t>
            </a:r>
            <a:r>
              <a:rPr lang="zh-CN" altLang="en-US" sz="2600" b="1" i="0" u="none" strike="noStrike" dirty="0"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。</a:t>
            </a:r>
            <a:endParaRPr lang="en-US" altLang="zh-CN" sz="2600" b="1" i="0" u="none" strike="noStrike" dirty="0">
              <a:effectLst/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低资源占用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SQLite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（</a:t>
            </a:r>
            <a:r>
              <a:rPr kumimoji="1" lang="en-US" altLang="zh-CN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python</a:t>
            </a:r>
            <a:r>
              <a:rPr kumimoji="1" lang="zh-CN" altLang="en-US" sz="26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强绑定</a:t>
            </a:r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），</a:t>
            </a:r>
            <a:r>
              <a:rPr kumimoji="1" lang="en-US" altLang="zh-CN" sz="26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DuckDB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使用场景：</a:t>
            </a:r>
            <a:endParaRPr kumimoji="1"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通常无需单独安装，也不在服务器上，而是与应用程序集成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(</a:t>
            </a:r>
            <a:r>
              <a:rPr kumimoji="1" lang="en-US" altLang="zh-CN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Python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)</a:t>
            </a:r>
          </a:p>
          <a:p>
            <a:pPr lvl="1"/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物联网、嵌入式系统、边缘计算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无网环境</a:t>
            </a:r>
            <a:endParaRPr kumimoji="1"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1792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526A2-3246-7840-9FC7-6AC9B7E8C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D3657A-570A-62A2-BAEA-5CA9FB87C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数据库与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的小细节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521135-0FD0-4EAE-2225-C5DE7D2DA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/>
          </a:bodyPr>
          <a:lstStyle/>
          <a:p>
            <a:r>
              <a:rPr lang="en-US" altLang="zh-CN" sz="2600" b="1" i="0" u="none" strike="noStrike" dirty="0"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lang="zh-CN" altLang="en-US" sz="2600" b="1" i="0" u="none" strike="noStrike" dirty="0"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 引号</a:t>
            </a:r>
            <a:endParaRPr lang="en-US" altLang="zh-CN" sz="2600" b="1" i="0" u="none" strike="noStrike" dirty="0">
              <a:effectLst/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单引号与双引号</a:t>
            </a:r>
            <a:endParaRPr kumimoji="1" lang="en-US" altLang="zh-CN" sz="20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6" name="图片 5" descr="文本&#10;&#10;描述已自动生成">
            <a:extLst>
              <a:ext uri="{FF2B5EF4-FFF2-40B4-BE49-F238E27FC236}">
                <a16:creationId xmlns:a16="http://schemas.microsoft.com/office/drawing/2014/main" id="{8005950B-B8F2-CCAC-1ECE-6EDE30936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722" y="1797828"/>
            <a:ext cx="6819900" cy="1930400"/>
          </a:xfrm>
          <a:prstGeom prst="rect">
            <a:avLst/>
          </a:prstGeom>
        </p:spPr>
      </p:pic>
      <p:pic>
        <p:nvPicPr>
          <p:cNvPr id="8" name="图片 7" descr="图形用户界面, 文本, 应用程序&#10;&#10;描述已自动生成">
            <a:extLst>
              <a:ext uri="{FF2B5EF4-FFF2-40B4-BE49-F238E27FC236}">
                <a16:creationId xmlns:a16="http://schemas.microsoft.com/office/drawing/2014/main" id="{A755860A-9F96-1169-92C6-B1119F529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818" y="4344960"/>
            <a:ext cx="9848067" cy="162866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B7E4211-DA03-EDA8-F29F-CA7544E89922}"/>
              </a:ext>
            </a:extLst>
          </p:cNvPr>
          <p:cNvSpPr/>
          <p:nvPr/>
        </p:nvSpPr>
        <p:spPr>
          <a:xfrm>
            <a:off x="9844088" y="1797828"/>
            <a:ext cx="1057275" cy="38816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ADD4986-FA8E-2158-7C5A-FDB1A648EF0C}"/>
              </a:ext>
            </a:extLst>
          </p:cNvPr>
          <p:cNvSpPr/>
          <p:nvPr/>
        </p:nvSpPr>
        <p:spPr>
          <a:xfrm>
            <a:off x="8267700" y="4311621"/>
            <a:ext cx="1147763" cy="53184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3938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62B63-28A1-2A2F-D72F-3543A5515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100801-F293-B610-E690-E41E32020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数据库与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的小细节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4D1C2C-9AD8-0975-F53D-24116E4DD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/>
          </a:bodyPr>
          <a:lstStyle/>
          <a:p>
            <a:r>
              <a:rPr lang="en-US" altLang="zh-CN" sz="2600" b="1" i="0" u="none" strike="noStrike" dirty="0"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lang="zh-CN" altLang="en-US" sz="2600" b="1" i="0" u="none" strike="noStrike" dirty="0"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 引号</a:t>
            </a:r>
            <a:endParaRPr lang="en-US" altLang="zh-CN" sz="2600" b="1" i="0" u="none" strike="noStrike" dirty="0">
              <a:effectLst/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单引号与双引号</a:t>
            </a:r>
            <a:endParaRPr kumimoji="1" lang="en-US" altLang="zh-CN" sz="20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6" name="图片 5" descr="文本&#10;&#10;描述已自动生成">
            <a:extLst>
              <a:ext uri="{FF2B5EF4-FFF2-40B4-BE49-F238E27FC236}">
                <a16:creationId xmlns:a16="http://schemas.microsoft.com/office/drawing/2014/main" id="{902543B2-0B56-3FA6-EC96-481725759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722" y="1797828"/>
            <a:ext cx="6819900" cy="19304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FC9B79D-FF97-645E-ED5D-77148A7BF932}"/>
              </a:ext>
            </a:extLst>
          </p:cNvPr>
          <p:cNvSpPr/>
          <p:nvPr/>
        </p:nvSpPr>
        <p:spPr>
          <a:xfrm>
            <a:off x="5372101" y="1797827"/>
            <a:ext cx="1248248" cy="48739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 descr="文本&#10;&#10;描述已自动生成">
            <a:extLst>
              <a:ext uri="{FF2B5EF4-FFF2-40B4-BE49-F238E27FC236}">
                <a16:creationId xmlns:a16="http://schemas.microsoft.com/office/drawing/2014/main" id="{C74D59F6-DCAD-94FF-6F4B-6D1144EA2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722" y="4046567"/>
            <a:ext cx="6731000" cy="19558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08C0100-610D-658B-C04F-59A3B17608B3}"/>
              </a:ext>
            </a:extLst>
          </p:cNvPr>
          <p:cNvSpPr/>
          <p:nvPr/>
        </p:nvSpPr>
        <p:spPr>
          <a:xfrm>
            <a:off x="5372101" y="3991035"/>
            <a:ext cx="1248248" cy="46666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94819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2DEBB-2580-2AFC-BF8C-20EC480FD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461AF-2597-D12A-737E-F051F9337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数据库与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的小细节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034E62-8206-8F88-A2F8-B5BB141C3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/>
          </a:bodyPr>
          <a:lstStyle/>
          <a:p>
            <a:r>
              <a:rPr lang="en-US" altLang="zh-CN" sz="2600" b="1" i="0" u="none" strike="noStrike" dirty="0"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lang="zh-CN" altLang="en-US" sz="2600" b="1" i="0" u="none" strike="noStrike" dirty="0"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 引号</a:t>
            </a:r>
            <a:endParaRPr lang="en-US" altLang="zh-CN" sz="2600" b="1" i="0" u="none" strike="noStrike" dirty="0">
              <a:effectLst/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单引号与双引号</a:t>
            </a:r>
            <a:endParaRPr kumimoji="1" lang="en-US" altLang="zh-CN" sz="20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引号的转义</a:t>
            </a:r>
            <a:endParaRPr kumimoji="1" lang="en-US" altLang="zh-CN" sz="20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14B09D-6543-AAAB-82EC-316369220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808" y="2228850"/>
            <a:ext cx="6946490" cy="6858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79E7ECF-F382-77B9-C087-8182B906A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696" y="3394562"/>
            <a:ext cx="8106663" cy="91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682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21348-E187-B89F-825D-4BA6D968E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2DF821-C319-41AA-6626-121572C00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数据库与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的小细节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BA11B2-FB39-17D9-E46D-AE2F6D5A8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/>
          </a:bodyPr>
          <a:lstStyle/>
          <a:p>
            <a:r>
              <a:rPr lang="en-US" altLang="zh-CN" sz="2600" b="1" i="0" u="none" strike="noStrike" dirty="0"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lang="zh-CN" altLang="en-US" sz="2600" b="1" i="0" u="none" strike="noStrike" dirty="0"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 引号</a:t>
            </a:r>
            <a:endParaRPr lang="en-US" altLang="zh-CN" sz="2600" b="1" i="0" u="none" strike="noStrike" dirty="0">
              <a:effectLst/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SQL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方言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200" b="1" i="0" u="none" strike="noStrike" dirty="0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反引号</a:t>
            </a:r>
            <a:r>
              <a:rPr lang="zh-CN" altLang="en-US" sz="22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（</a:t>
            </a:r>
            <a:r>
              <a:rPr lang="en-US" altLang="zh-CN" sz="22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`</a:t>
            </a:r>
            <a:r>
              <a:rPr lang="zh-CN" altLang="en-US" sz="22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endParaRPr lang="en-US" altLang="zh-CN" sz="22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200" b="1" i="0" u="none" strike="noStrike" dirty="0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转义斜杠（</a:t>
            </a:r>
            <a:r>
              <a:rPr lang="en-US" altLang="zh-CN" sz="2200" b="1" i="0" u="none" strike="noStrike" dirty="0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\</a:t>
            </a:r>
            <a:r>
              <a:rPr lang="zh-CN" altLang="en-US" sz="2200" b="1" i="0" u="none" strike="noStrike" dirty="0">
                <a:solidFill>
                  <a:srgbClr val="FF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endParaRPr lang="en-US" altLang="zh-CN" sz="2200" b="1" i="0" u="none" strike="noStrike" dirty="0">
              <a:solidFill>
                <a:srgbClr val="FF0000"/>
              </a:solidFill>
              <a:effectLst/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8519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1E5F6-1DA1-A64D-5E79-5CBD1801F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108142-89EC-1DAD-E907-1460610A5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数据库与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的小细节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92D158-AEAC-A31D-CC0B-3E7F7858E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/>
          </a:bodyPr>
          <a:lstStyle/>
          <a:p>
            <a:r>
              <a:rPr lang="en-US" altLang="zh-CN" sz="2600" b="1" i="0" u="none" strike="noStrike" dirty="0"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lang="zh-CN" altLang="en-US" sz="2600" b="1" i="0" u="none" strike="noStrike" dirty="0"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 引号</a:t>
            </a:r>
            <a:endParaRPr lang="en-US" altLang="zh-CN" sz="2600" b="1" i="0" u="none" strike="noStrike" dirty="0">
              <a:effectLst/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SQL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方言</a:t>
            </a:r>
            <a:endParaRPr lang="en-US" altLang="zh-CN" sz="22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3.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函数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now()</a:t>
            </a:r>
            <a:r>
              <a:rPr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lang="en-US" altLang="zh-CN" sz="22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current_time</a:t>
            </a:r>
            <a:r>
              <a:rPr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lang="en-US" altLang="zh-CN" sz="22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current_date</a:t>
            </a:r>
            <a:r>
              <a:rPr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;</a:t>
            </a:r>
          </a:p>
          <a:p>
            <a:pPr lvl="2"/>
            <a:r>
              <a:rPr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max()</a:t>
            </a:r>
            <a:r>
              <a:rPr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min()</a:t>
            </a:r>
            <a:r>
              <a:rPr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sum()</a:t>
            </a:r>
            <a:r>
              <a:rPr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avg()……</a:t>
            </a:r>
          </a:p>
          <a:p>
            <a:pPr lvl="2"/>
            <a:r>
              <a:rPr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运算、三角函数、</a:t>
            </a:r>
            <a:r>
              <a:rPr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exp()……</a:t>
            </a:r>
          </a:p>
        </p:txBody>
      </p:sp>
    </p:spTree>
    <p:extLst>
      <p:ext uri="{BB962C8B-B14F-4D97-AF65-F5344CB8AC3E}">
        <p14:creationId xmlns:p14="http://schemas.microsoft.com/office/powerpoint/2010/main" val="1001840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63703-330E-84D3-8CAC-D318C9E6A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3C1A92-2AFB-E26D-364B-7A1B7888A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数据库与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的小细节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3C3A5D-C466-74E9-2CE2-DE5A353CC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/>
          </a:bodyPr>
          <a:lstStyle/>
          <a:p>
            <a:r>
              <a:rPr lang="en-US" altLang="zh-CN" sz="2600" b="1" i="0" u="none" strike="noStrike" dirty="0"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lang="zh-CN" altLang="en-US" sz="2600" b="1" i="0" u="none" strike="noStrike" dirty="0"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 引号</a:t>
            </a:r>
            <a:endParaRPr lang="en-US" altLang="zh-CN" sz="2600" b="1" i="0" u="none" strike="noStrike" dirty="0">
              <a:effectLst/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SQL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方言</a:t>
            </a:r>
            <a:endParaRPr lang="en-US" altLang="zh-CN" sz="22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3.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函数</a:t>
            </a:r>
            <a:endParaRPr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4.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约束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主键、唯一、非空</a:t>
            </a:r>
            <a:endParaRPr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3074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82F2F-65EB-A337-3520-15763ABC0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B9A18E-4BAE-6160-1429-29A781123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数据库与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的小细节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FF4371-1E38-0412-366A-443458601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/>
          </a:bodyPr>
          <a:lstStyle/>
          <a:p>
            <a:r>
              <a:rPr lang="en-US" altLang="zh-CN" sz="2600" b="1" i="0" u="none" strike="noStrike" dirty="0"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lang="zh-CN" altLang="en-US" sz="2600" b="1" i="0" u="none" strike="noStrike" dirty="0"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 引号</a:t>
            </a:r>
            <a:endParaRPr lang="en-US" altLang="zh-CN" sz="2600" b="1" i="0" u="none" strike="noStrike" dirty="0">
              <a:effectLst/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SQL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方言</a:t>
            </a:r>
            <a:endParaRPr lang="en-US" altLang="zh-CN" sz="22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3.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函数</a:t>
            </a:r>
            <a:endParaRPr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4.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约束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5.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大小写不敏感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1803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D16A3-A10C-A55D-B514-E5AE36AF0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215301-846A-2FB2-43DE-36E829C24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数据库与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的小细节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777F0C-6825-3D93-2324-3A4CD7E08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/>
          </a:bodyPr>
          <a:lstStyle/>
          <a:p>
            <a:r>
              <a:rPr lang="en-US" altLang="zh-CN" sz="2600" b="1" i="0" u="none" strike="noStrike" dirty="0"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lang="zh-CN" altLang="en-US" sz="2600" b="1" i="0" u="none" strike="noStrike" dirty="0"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 引号</a:t>
            </a:r>
            <a:endParaRPr lang="en-US" altLang="zh-CN" sz="2600" b="1" i="0" u="none" strike="noStrike" dirty="0">
              <a:effectLst/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SQL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方言</a:t>
            </a:r>
            <a:endParaRPr lang="en-US" altLang="zh-CN" sz="22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3.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函数</a:t>
            </a:r>
            <a:endParaRPr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4.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约束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5.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大小写不敏感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6.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数据库差异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5" name="图片 4" descr="表格&#10;&#10;描述已自动生成">
            <a:extLst>
              <a:ext uri="{FF2B5EF4-FFF2-40B4-BE49-F238E27FC236}">
                <a16:creationId xmlns:a16="http://schemas.microsoft.com/office/drawing/2014/main" id="{C02C37B5-091D-688D-8595-9D42AFEA4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22" y="1574800"/>
            <a:ext cx="703580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976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4BC4B-AE9C-A30F-185F-F0AF4B5CB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72E738-007A-2261-4B82-4C8A03A68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数据库与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的小细节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7B976C-1219-6390-1232-1495D262B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/>
          </a:bodyPr>
          <a:lstStyle/>
          <a:p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7. 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主键类型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自增整数</a:t>
            </a:r>
            <a:endParaRPr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en-US" altLang="zh-CN" sz="22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uuid</a:t>
            </a:r>
            <a:r>
              <a:rPr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——32</a:t>
            </a:r>
            <a:r>
              <a:rPr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个</a:t>
            </a:r>
            <a:r>
              <a:rPr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16</a:t>
            </a:r>
            <a:r>
              <a:rPr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进制数</a:t>
            </a:r>
            <a:endParaRPr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4"/>
            <a:r>
              <a:rPr lang="en-US" altLang="zh-CN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0CA45C3A-822C-400B-85F2-9D370D9ADDFE</a:t>
            </a:r>
          </a:p>
        </p:txBody>
      </p:sp>
    </p:spTree>
    <p:extLst>
      <p:ext uri="{BB962C8B-B14F-4D97-AF65-F5344CB8AC3E}">
        <p14:creationId xmlns:p14="http://schemas.microsoft.com/office/powerpoint/2010/main" val="2750507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072C4-78D9-105A-3690-EC892F097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8B3CC-7C2C-1B29-C192-D98AD08A4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数据库与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的小细节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0F1BE2-A082-51D7-8D0F-097797BE0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/>
          </a:bodyPr>
          <a:lstStyle/>
          <a:p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7. 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主键类型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8.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锁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乐观锁</a:t>
            </a:r>
            <a:endParaRPr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悲观锁</a:t>
            </a:r>
            <a:endParaRPr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4250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2432F-AD3A-777F-959F-3BBABB073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E716A4-7149-7159-C895-E22E95968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10995660" cy="4029074"/>
          </a:xfrm>
        </p:spPr>
        <p:txBody>
          <a:bodyPr>
            <a:normAutofit/>
          </a:bodyPr>
          <a:lstStyle/>
          <a:p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7. 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主键类型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8.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锁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9. 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事务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BEGIN</a:t>
            </a:r>
          </a:p>
          <a:p>
            <a:pPr lvl="2"/>
            <a:r>
              <a:rPr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COMMIT</a:t>
            </a:r>
          </a:p>
          <a:p>
            <a:pPr lvl="2"/>
            <a:r>
              <a:rPr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ROLLBACK</a:t>
            </a:r>
          </a:p>
          <a:p>
            <a:pPr lvl="2"/>
            <a:r>
              <a:rPr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SELECT …… FOR UPDATE</a:t>
            </a:r>
          </a:p>
          <a:p>
            <a:pPr lvl="2"/>
            <a:endParaRPr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EFD43E6-A180-DA25-B5C4-BB1722FC3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数据库与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的小细节</a:t>
            </a:r>
          </a:p>
        </p:txBody>
      </p:sp>
    </p:spTree>
    <p:extLst>
      <p:ext uri="{BB962C8B-B14F-4D97-AF65-F5344CB8AC3E}">
        <p14:creationId xmlns:p14="http://schemas.microsoft.com/office/powerpoint/2010/main" val="3074708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355EA-167F-763D-7485-FD42E4E00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F477D0-29E7-B674-A3C4-A56C55816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6"/>
            <a:ext cx="5699759" cy="4029074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7. 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主键类型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8.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 锁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9. 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事务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10.</a:t>
            </a:r>
            <a:r>
              <a:rPr lang="zh-CN" altLang="en-US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数据类型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  <a:hlinkClick r:id="rId2"/>
              </a:rPr>
              <a:t>https://</a:t>
            </a:r>
            <a:r>
              <a:rPr lang="en-US" altLang="zh-CN" sz="2200" b="1" dirty="0" err="1">
                <a:latin typeface="SimHei" panose="02010609060101010101" pitchFamily="49" charset="-122"/>
                <a:ea typeface="SimHei" panose="02010609060101010101" pitchFamily="49" charset="-122"/>
                <a:hlinkClick r:id="rId2"/>
              </a:rPr>
              <a:t>www.bilibili.com</a:t>
            </a:r>
            <a:r>
              <a:rPr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  <a:hlinkClick r:id="rId2"/>
              </a:rPr>
              <a:t>/video/BV1of5PzbEC9/?</a:t>
            </a:r>
            <a:r>
              <a:rPr lang="en-US" altLang="zh-CN" sz="2200" b="1" dirty="0" err="1">
                <a:latin typeface="SimHei" panose="02010609060101010101" pitchFamily="49" charset="-122"/>
                <a:ea typeface="SimHei" panose="02010609060101010101" pitchFamily="49" charset="-122"/>
                <a:hlinkClick r:id="rId2"/>
              </a:rPr>
              <a:t>spm_id_from</a:t>
            </a:r>
            <a:r>
              <a:rPr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  <a:hlinkClick r:id="rId2"/>
              </a:rPr>
              <a:t>=333.1007.top_right_bar_window_default_collection.content.click&amp;vd_source=c17c68c4bf2f4d824f2adb11c30088d1</a:t>
            </a:r>
            <a:endParaRPr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8581940-428D-A605-6DEE-9A4DE7E3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数据库与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的小细节</a:t>
            </a:r>
          </a:p>
        </p:txBody>
      </p:sp>
      <p:pic>
        <p:nvPicPr>
          <p:cNvPr id="4" name="图片 3" descr="女人在刷牙&#10;&#10;AI 生成的内容可能不正确。">
            <a:extLst>
              <a:ext uri="{FF2B5EF4-FFF2-40B4-BE49-F238E27FC236}">
                <a16:creationId xmlns:a16="http://schemas.microsoft.com/office/drawing/2014/main" id="{1579BE2E-145F-1E91-0A09-D2BF5BA9D5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597" t="-216" r="21292" b="77"/>
          <a:stretch>
            <a:fillRect/>
          </a:stretch>
        </p:blipFill>
        <p:spPr>
          <a:xfrm>
            <a:off x="6733309" y="1085642"/>
            <a:ext cx="4516582" cy="482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746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47035-3DE7-4521-87BA-8A7FF2A07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C46D59F-A644-FE8B-30ED-8F5529FCC6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3109" y="1548293"/>
            <a:ext cx="6106718" cy="4029075"/>
          </a:xfr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C10FE4B-B056-3805-1648-FE7B076EC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数据库与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的小细节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C3E4BD-5EDD-622A-6BB3-58546AC6FFDC}"/>
              </a:ext>
            </a:extLst>
          </p:cNvPr>
          <p:cNvSpPr txBox="1"/>
          <p:nvPr/>
        </p:nvSpPr>
        <p:spPr>
          <a:xfrm>
            <a:off x="5231982" y="5774575"/>
            <a:ext cx="1628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SQL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注入攻击</a:t>
            </a:r>
          </a:p>
        </p:txBody>
      </p:sp>
    </p:spTree>
    <p:extLst>
      <p:ext uri="{BB962C8B-B14F-4D97-AF65-F5344CB8AC3E}">
        <p14:creationId xmlns:p14="http://schemas.microsoft.com/office/powerpoint/2010/main" val="3666027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7884F-04E7-E7DD-0CAA-D8F8D7E2D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BFE227-3095-46B8-E770-905E1C3C4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关系型数据库的应用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E5835C97-7B01-B961-C5D8-03F55D117BEE}"/>
              </a:ext>
            </a:extLst>
          </p:cNvPr>
          <p:cNvSpPr txBox="1">
            <a:spLocks/>
          </p:cNvSpPr>
          <p:nvPr/>
        </p:nvSpPr>
        <p:spPr>
          <a:xfrm>
            <a:off x="701041" y="21812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Web</a:t>
            </a:r>
          </a:p>
          <a:p>
            <a:r>
              <a:rPr kumimoji="1" lang="en-US" altLang="zh-CN" sz="2600" b="1" dirty="0">
                <a:latin typeface="SimHei" panose="02010609060101010101" pitchFamily="49" charset="-122"/>
                <a:ea typeface="SimHei" panose="02010609060101010101" pitchFamily="49" charset="-122"/>
              </a:rPr>
              <a:t>AI</a:t>
            </a:r>
          </a:p>
          <a:p>
            <a:pPr lvl="1"/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无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python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环境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频繁的数据写入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3.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多数据来源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4.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嵌入式设备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数据分析</a:t>
            </a:r>
          </a:p>
        </p:txBody>
      </p:sp>
    </p:spTree>
    <p:extLst>
      <p:ext uri="{BB962C8B-B14F-4D97-AF65-F5344CB8AC3E}">
        <p14:creationId xmlns:p14="http://schemas.microsoft.com/office/powerpoint/2010/main" val="4245713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ribuneVTI">
  <a:themeElements>
    <a:clrScheme name="AnalogousFromDarkSeedLeftStep">
      <a:dk1>
        <a:srgbClr val="000000"/>
      </a:dk1>
      <a:lt1>
        <a:srgbClr val="FFFFFF"/>
      </a:lt1>
      <a:dk2>
        <a:srgbClr val="1B2130"/>
      </a:dk2>
      <a:lt2>
        <a:srgbClr val="F0F3F2"/>
      </a:lt2>
      <a:accent1>
        <a:srgbClr val="D73864"/>
      </a:accent1>
      <a:accent2>
        <a:srgbClr val="C62794"/>
      </a:accent2>
      <a:accent3>
        <a:srgbClr val="C738D7"/>
      </a:accent3>
      <a:accent4>
        <a:srgbClr val="7327C6"/>
      </a:accent4>
      <a:accent5>
        <a:srgbClr val="4238D7"/>
      </a:accent5>
      <a:accent6>
        <a:srgbClr val="275FC6"/>
      </a:accent6>
      <a:hlink>
        <a:srgbClr val="7158C7"/>
      </a:hlink>
      <a:folHlink>
        <a:srgbClr val="7F7F7F"/>
      </a:folHlink>
    </a:clrScheme>
    <a:fontScheme name="Amasis-Univers">
      <a:majorFont>
        <a:latin typeface="Amasis MT Pro Medium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76200">
          <a:solidFill>
            <a:srgbClr val="FF0000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ribuneVTI" id="{4D84C650-59FC-4F6B-ADA6-B11C508FF6CE}" vid="{0E07EAE6-ACBC-4250-8522-FC108A45043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603</TotalTime>
  <Words>1087</Words>
  <Application>Microsoft Macintosh PowerPoint</Application>
  <PresentationFormat>宽屏</PresentationFormat>
  <Paragraphs>186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4" baseType="lpstr">
      <vt:lpstr>SimHei</vt:lpstr>
      <vt:lpstr>Microsoft YaHei</vt:lpstr>
      <vt:lpstr>Amasis MT Pro Medium</vt:lpstr>
      <vt:lpstr>Arial</vt:lpstr>
      <vt:lpstr>Univers Light</vt:lpstr>
      <vt:lpstr>Wingdings</vt:lpstr>
      <vt:lpstr>TribuneVTI</vt:lpstr>
      <vt:lpstr> 数据库</vt:lpstr>
      <vt:lpstr>PowerPoint 演示文稿</vt:lpstr>
      <vt:lpstr>什么是数据库</vt:lpstr>
      <vt:lpstr>Excel?</vt:lpstr>
      <vt:lpstr>数据库的发展历史</vt:lpstr>
      <vt:lpstr>数据库的发展历史</vt:lpstr>
      <vt:lpstr>数据库的发展历史</vt:lpstr>
      <vt:lpstr>数据库的分类</vt:lpstr>
      <vt:lpstr>数据库的分类</vt:lpstr>
      <vt:lpstr>常用的关系型数据库</vt:lpstr>
      <vt:lpstr>常用的关系型数据库</vt:lpstr>
      <vt:lpstr>什么是SQL</vt:lpstr>
      <vt:lpstr>Excel &lt;--&gt; 数据库</vt:lpstr>
      <vt:lpstr>Excel &lt;--&gt; 数据库</vt:lpstr>
      <vt:lpstr>Excel &lt;--&gt; 数据库</vt:lpstr>
      <vt:lpstr>Excel &lt;--&gt; 数据库</vt:lpstr>
      <vt:lpstr>Excel &lt;--&gt; 数据库</vt:lpstr>
      <vt:lpstr>Excel 与 数据库 的异同 </vt:lpstr>
      <vt:lpstr>Excel 与 数据库 的异同 </vt:lpstr>
      <vt:lpstr>关系型数据库的应用</vt:lpstr>
      <vt:lpstr>事务与ACID</vt:lpstr>
      <vt:lpstr>NoSql（Not Only SQL）——非关系型数据库 </vt:lpstr>
      <vt:lpstr>嵌入式数据库</vt:lpstr>
      <vt:lpstr>数据库与sql的小细节</vt:lpstr>
      <vt:lpstr>数据库与sql的小细节</vt:lpstr>
      <vt:lpstr>数据库与sql的小细节</vt:lpstr>
      <vt:lpstr>数据库与sql的小细节</vt:lpstr>
      <vt:lpstr>数据库与sql的小细节</vt:lpstr>
      <vt:lpstr>数据库与sql的小细节</vt:lpstr>
      <vt:lpstr>数据库与sql的小细节</vt:lpstr>
      <vt:lpstr>数据库与sql的小细节</vt:lpstr>
      <vt:lpstr>数据库与sql的小细节</vt:lpstr>
      <vt:lpstr>数据库与sql的小细节</vt:lpstr>
      <vt:lpstr>数据库与sql的小细节</vt:lpstr>
      <vt:lpstr>数据库与sql的小细节</vt:lpstr>
      <vt:lpstr>数据库与sql的小细节</vt:lpstr>
      <vt:lpstr>关系型数据库的应用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禺 刘</dc:creator>
  <cp:lastModifiedBy>禺 刘</cp:lastModifiedBy>
  <cp:revision>24</cp:revision>
  <dcterms:created xsi:type="dcterms:W3CDTF">2024-10-30T01:37:57Z</dcterms:created>
  <dcterms:modified xsi:type="dcterms:W3CDTF">2025-05-28T06:58:20Z</dcterms:modified>
</cp:coreProperties>
</file>